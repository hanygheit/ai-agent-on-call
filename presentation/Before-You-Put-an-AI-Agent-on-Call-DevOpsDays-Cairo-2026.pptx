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9"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3447" autoAdjust="0"/>
  </p:normalViewPr>
  <p:slideViewPr>
    <p:cSldViewPr snapToGrid="0" snapToObjects="1">
      <p:cViewPr>
        <p:scale>
          <a:sx n="60" d="100"/>
          <a:sy n="60" d="100"/>
        </p:scale>
        <p:origin x="884" y="196"/>
      </p:cViewPr>
      <p:guideLst/>
    </p:cSldViewPr>
  </p:slideViewPr>
  <p:notesTextViewPr>
    <p:cViewPr>
      <p:scale>
        <a:sx n="1" d="1"/>
        <a:sy n="1" d="1"/>
      </p:scale>
      <p:origin x="0" y="-83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8457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 on screen while the MC introduces you. NOT TIMED.
Stopwatch starts when you click to slide 2. Walk to centre. Don't read the title.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 0:15 (15s). Ask, then wait. Take two or three shouted answers. Don't comment on them.
"Before any rules — one question. How long does it take an AI coding agent to delete a production database… and its backups?
Shout a number. [pause — take 2–3 answers]
Hold that number."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0:15 → 0:40 (25s). Click. Let the 9 sit for two full seconds in silence.
"Nine seconds. April 2026. A Cursor agent running Claude Opus 4.6 hit a credentials problem in staging, found an API token in an unrelated file, and deleted PocketOS's production database — and the backups stored with it. One API call.
Then it wrote: 'I guessed instead of verifying.'
Guardrails were advertised. Project rules were written. Neither stopped it."
FACT NOTE: Jer Crane's postmortem on X; The Register 27 Apr 2026. The token had been created for custom-domain management. Recovery took ~30 hours; the newest recoverable backup was ~3 months old. Say "the backups stored with it", not "every backup".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TIMING 0:30–0:58. Audience moment first.</a:t>
            </a:r>
            <a:br/>
            <a:br/>
            <a:r>
              <a:t>“Hands up if you shipped code this month that an agent wrote. The shift is already here: we type less and orchestrate more. That does not remove engineering judgment — it moves it. We direct, review, and finally authorize. And authorize is a very different verb when the agent holds production credentials.”</a:t>
            </a:r>
            <a:br/>
            <a:br/>
            <a:r>
              <a:t>SOURCES: Google Cloud Next 2026; Satya Nadella at LlamaCon 2025; Fortune interview with Boris Cherny, Jun 2026.</a:t>
            </a:r>
            <a:endParaRPr lang="en-US" dirty="0"/>
          </a:p>
        </p:txBody>
      </p:sp>
      <p:sp>
        <p:nvSpPr>
          <p:cNvPr id="4" name="Slide Number Placeholder 3"/>
          <p:cNvSpPr>
            <a:spLocks noGrp="1"/>
          </p:cNvSpPr>
          <p:nvPr>
            <p:ph type="sldNum" sz="quarter" idx="10"/>
          </p:nvPr>
        </p:nvSpPr>
        <p:spPr/>
        <p:txBody>
          <a:bodyPr/>
          <a:lstStyle/>
          <a:p>
            <a:r>
              <a:t>3</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 1:25 (25s). Walk the terminal top to bottom, then the band.
"Here's a real session on a sample repo. I gave it a ticket. It read our AGENTS.md, read our architecture decision, checked for callers, and wrote a plan — no code. It asked a good question and stopped for approval. That's not magic; the repo told it how we work. An agent is a model, tools, a loop — and permissions. Permission is blast radius."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 → 1:35 (30s). One sentence per card, finger on each.
"Nine seconds isn't a one-off. Replit's agent deleted a production database during a code freeze. Antigravity was asked to clear a cache and wiped a whole drive. The FT reported Amazon's Kiro chose to 'delete and recreate' an environment — Amazon says it was misconfigured access.
Four tools. Same root cause: the agent could do something nobody meant to allow."
FACT NOTE: Replit/SaaStr, The Register Jul 2025. Antigravity, Tom's Hardware Dec 2025. Kiro: FT via GeekWire/The Decoder Feb 2026 — AWS Cost Explorer, one region; Amazon disputes the AI framing, so always say "reported".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1:35 → 1:55 (20s). AUDIENCE MOMENT. Quick shout per card. Don't debate.
"You're on call. 03:07. Your agent is awake too. Read logs? [yes] Propose a rollback? [yes] Restart one pod? [mixed] Delete, DNS, secrets? [no]
If you said 'it depends' — good. The next twenty rules are what it depends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1:55 → 2:08 (13s). Fast — this is the table of contents.
"Five gates, from your laptop to production: lead, context, isolate, bound, prove. Every one is an engineering control — not a better prompt."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2:08 → 2:33 (25s). Gate I. CHECKPOINT: you should be at ≤ 2:10 here.
"Gate one: lead it. It's a skill, and skills need practice — METR found experienced developers were nineteen percent slower with AI while believing they were twenty percent faster.
Give it an outcome, not a command: goal, non-goals, a test. Plan first — approve the plan before any code. And keep diffs small enough to actually read."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2:33 → 2:53 (20s). Walk the terminal top to bottom, then the band.
"Here's rules two and three in a real session. Constraints in the prompt. It reads our AGENTS.md and the architecture decision, checks the callers, writes a plan — no code — asks a good question, and waits.
An agent is a model, tools, a loop — and permissions. Permissions are blast radius: everything it can break."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2:53 → 3:15 (22s). Gate II.
"Gate two: context. Monday morning, one new engineer and three agents join the repo. Do they learn from the repo — or from someone's chat history?
Write the team's AGENTS.md, with a Never list. Keep ADRs and runbooks where agents find them. Plans in markdown. The whole setup in Git.
DORA calls AI an amplifier — it amplifies whatever's already there."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3:15 → 3:32 (17s). PHOTO SLIDE. Point: AGENTS.md → .claude/ → CODEOWNERS. Pause 2s for phones.
"Photograph this one. AGENTS.md for every tool, CLAUDE.md on top. Shared settings and hooks in .claude. Plans and decisions in docs. And CODEOWNERS — because agent instructions are production config."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3:32 → 3:57 (25s). Gate III. Slow down on rule 12 — it's new to most of the room.
"Gate three: isolate. One task, one branch, one worktree. Main is protected; agents open PRs. The agent never grades its own homework.
And rule twelve: everything it reads is untrusted. In July 2025, a merged pull request slipped a wipe-the-machine prompt into Amazon's Q extension. Text is evidence — never an instruction."
FACT NOTE: Amazon Q Developer VS Code extension v1.84, July 2025. AWS says no customer resources were affected. The prompt told the agent to clean a system to a near-factory state and delete cloud resources.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3:57 → 4:12 (15s). SKIP IF LATE (saves 15s).
"What it looks like: three tickets, three agents, three worktrees — no collisions. Draft PR, CI runs the tests and the hook tests, a human merges. Short-lived branches. Main never belongs to the agent."
NOTE: 'claude -w' = Claude Code's worktree flag; with any tool, 'git worktree add' does the same.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4:12 → 4:37 (25s). Gate IV. CHECKPOINT: you should be at ≤ 4:15 here.
"Gate four: bound it. Read-only by default, tokens that expire in fifteen minutes — and never a token it found in a file. Propose, don't apply. Prompts ask; hooks decide.
And build the stop button before the go button: Knight Capital lost four hundred and forty million dollars in forty-five minutes — with plain automation."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4:37 → 5:02 (25s). DEMO SLIDE — no live terminal. Walk the lines, then the four boxes.
"A real run. On-call prompt: crash-looping in prod. Read-only commands pass. It finds the root cause — a blanked config value. It tries the rollback: the hook stops it and asks a human. Delete the namespace? Denied — even if asked. Every step logged.
Don't rely on the model's manners. Rely on the hook."
FACT NOTE: Real headless run, Claude Code 2.1, kubectl replaced by a harmless stub. The DENY line comes from the kit's test harness — in the live run the model declined to try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5:02 → 5:17 (15s). PHOTO SLIDE. Pause two seconds.
"Two files. Settings says: run the guard before every shell command. The guard answers allow, ask or deny — notice volumeDelete on the deny list. Commit both; every session inherits them.
Honest caveat: it's a seatbelt, not a sandbox. The real wall is still IAM."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5:17 → 5:42 (25s). Gate V.
"Gate five: prove it. Main is red; the agent says 'flaky test, retry'. Only if it cites the failing test, the log line and the last ten runs. No evidence, no action.
Audit the why; pin the model and prompt version. Earn trust in shadow mode. Autonomy moves in gears — with a human name on every page.
IBM said it in 1979: a computer can never be held accountable."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5:42 → 6:05 (23s). Walk the timeline left to right.
"Here's a good night. 03:07, the page fires; the agent gets read-only access. Forty seconds later: evidence, with the log line. A rollback, proposed as a PR. The hook asks; the on-call engineer approves — her name is on it.
Four minutes. One human decision. The agent did the toil. The human kept the risk."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6:05 → 6:27 (22s). SKIP IF LATE — then say only the Karpathy line and "live in gear two" (saves ~15s).
"Autonomy is a gearbox, not a switch. Karpathy: build Iron Man suits, not Iron Man robots. Gear one suggests. Gear two proposes and a human approves — that's where most teams should live for a long time. Write the unlock criteria before you need them, and downshift after a bad week."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6:27 → 6:52 (25s). PHOTO SLIDE. Pause; let phones come up. CHECKPOINT: you should be at ≤ 6:30 here.
"Jensen Huang says IT becomes the HR department of AI agents. So hire it like one. Who it reports to. Probation: a hundred shadow pages. Read-only access. An evidence rule. A Never list. Limits. And a termination clause any engineer can run.
It lives in the repo — review it, diff it, revoke it like code."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7:25 → 8:05 (40s). THE CLOSE. Slow. The MC handles Q&amp;A.</a:t>
            </a:r>
          </a:p>
          <a:p>
            <a:endParaRPr lang="en-US" dirty="0"/>
          </a:p>
          <a:p>
            <a:r>
              <a:rPr lang="en-US" dirty="0"/>
              <a:t>"At the start you gave me a number. Here's mine: nine seconds to lose production — nine minutes on Monday to protect it.</a:t>
            </a:r>
          </a:p>
          <a:p>
            <a:r>
              <a:rPr lang="en-US" dirty="0"/>
              <a:t>Three minutes: write the Never list in AGENTS.md.</a:t>
            </a:r>
          </a:p>
          <a:p>
            <a:r>
              <a:rPr lang="en-US" dirty="0"/>
              <a:t>Three minutes: copy the guard from the repo — that top QR code.</a:t>
            </a:r>
          </a:p>
          <a:p>
            <a:r>
              <a:rPr lang="en-US" dirty="0"/>
              <a:t>Three minutes: find one token your agent can reach — scope it, or kill it.</a:t>
            </a:r>
          </a:p>
          <a:p>
            <a:r>
              <a:rPr lang="en-US" dirty="0"/>
              <a:t>[pause]</a:t>
            </a:r>
          </a:p>
          <a:p>
            <a:r>
              <a:rPr lang="en-US" dirty="0"/>
              <a:t>Agents can act. Accountability stays human. Thank you."</a:t>
            </a:r>
          </a:p>
          <a:p>
            <a:r>
              <a:rPr lang="en-US"/>
              <a:t>[Hold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dirty="0"/>
              <a:t>TIMING 7:30–7:55. Slow down.</a:t>
            </a:r>
            <a:br>
              <a:rPr dirty="0"/>
            </a:br>
            <a:br>
              <a:rPr dirty="0"/>
            </a:br>
            <a:r>
              <a:rPr dirty="0"/>
              <a:t>“I started with nine seconds. So before you ask what your agent can do, ask what the worst thing it can do in nine seconds. Lead it. Bound it. Make it earn trust. The goal is not less AI — it is engineered autonomy. Thank you.”</a:t>
            </a:r>
            <a:endParaRPr lang="en-US" dirty="0"/>
          </a:p>
        </p:txBody>
      </p:sp>
      <p:sp>
        <p:nvSpPr>
          <p:cNvPr id="4" name="Slide Number Placeholder 3"/>
          <p:cNvSpPr>
            <a:spLocks noGrp="1"/>
          </p:cNvSpPr>
          <p:nvPr>
            <p:ph type="sldNum" sz="quarter" idx="10"/>
          </p:nvPr>
        </p:nvSpPr>
        <p:spPr/>
        <p:txBody>
          <a:bodyPr/>
          <a:lstStyle/>
          <a:p>
            <a:r>
              <a:t>18</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8B6EA7-105A-8FE8-673B-E59055EAAE6F}"/>
              </a:ext>
            </a:extLst>
          </p:cNvPr>
          <p:cNvSpPr txBox="1"/>
          <p:nvPr userDrawn="1">
            <p:extLst>
              <p:ext uri="{1162E1C5-73C7-4A58-AE30-91384D911F3F}">
                <p184:classification xmlns:p184="http://schemas.microsoft.com/office/powerpoint/2018/4/main" val="ftr"/>
              </p:ext>
            </p:extLst>
          </p:nvPr>
        </p:nvSpPr>
        <p:spPr>
          <a:xfrm>
            <a:off x="11690350" y="6642100"/>
            <a:ext cx="46355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General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ai-agent-on-call.lovable.app/"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png"/><Relationship Id="rId7"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38.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4.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6.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94960" y="-1051560"/>
            <a:ext cx="8412480" cy="4736592"/>
          </a:xfrm>
          <a:prstGeom prst="rect">
            <a:avLst/>
          </a:prstGeom>
        </p:spPr>
      </p:pic>
      <p:sp>
        <p:nvSpPr>
          <p:cNvPr id="3" name="Shape 0"/>
          <p:cNvSpPr/>
          <p:nvPr/>
        </p:nvSpPr>
        <p:spPr>
          <a:xfrm>
            <a:off x="548640" y="145389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1371600"/>
            <a:ext cx="9144000" cy="182880"/>
          </a:xfrm>
          <a:prstGeom prst="rect">
            <a:avLst/>
          </a:prstGeom>
          <a:noFill/>
          <a:ln/>
        </p:spPr>
        <p:txBody>
          <a:bodyPr wrap="square" lIns="0" tIns="0" rIns="0" bIns="0" rtlCol="0" anchor="t"/>
          <a:lstStyle/>
          <a:p>
            <a:pPr marL="0" indent="0">
              <a:buNone/>
            </a:pPr>
            <a:r>
              <a:rPr lang="en-US" sz="1050" b="1" kern="0" spc="300" dirty="0">
                <a:solidFill>
                  <a:srgbClr val="E7E2D8"/>
                </a:solidFill>
                <a:latin typeface="Courier New" pitchFamily="34" charset="0"/>
                <a:ea typeface="Courier New" pitchFamily="34" charset="-122"/>
                <a:cs typeface="Courier New" pitchFamily="34" charset="-120"/>
              </a:rPr>
              <a:t>DEVOPSDAYS CAIRO 2026  ·  IGNITE</a:t>
            </a:r>
            <a:endParaRPr lang="en-US" sz="1050" dirty="0"/>
          </a:p>
        </p:txBody>
      </p:sp>
      <p:sp>
        <p:nvSpPr>
          <p:cNvPr id="5" name="Text 2"/>
          <p:cNvSpPr txBox="1"/>
          <p:nvPr/>
        </p:nvSpPr>
        <p:spPr>
          <a:xfrm>
            <a:off x="548640" y="1783080"/>
            <a:ext cx="7772400" cy="17373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Before You Put</a:t>
            </a:r>
            <a:endParaRPr lang="en-US" sz="4800" dirty="0"/>
          </a:p>
          <a:p>
            <a:pPr marL="0" indent="0">
              <a:buNone/>
            </a:pPr>
            <a:r>
              <a:rPr lang="en-US" sz="4800" b="1" dirty="0">
                <a:solidFill>
                  <a:srgbClr val="FFFFFF"/>
                </a:solidFill>
                <a:latin typeface="Calibri" pitchFamily="34" charset="0"/>
                <a:ea typeface="Calibri" pitchFamily="34" charset="-122"/>
                <a:cs typeface="Calibri" pitchFamily="34" charset="-120"/>
              </a:rPr>
              <a:t>an AI Agent on Call</a:t>
            </a:r>
            <a:endParaRPr lang="en-US" sz="4800" dirty="0"/>
          </a:p>
        </p:txBody>
      </p:sp>
      <p:sp>
        <p:nvSpPr>
          <p:cNvPr id="6" name="Text 3"/>
          <p:cNvSpPr txBox="1"/>
          <p:nvPr/>
        </p:nvSpPr>
        <p:spPr>
          <a:xfrm>
            <a:off x="548640" y="3611880"/>
            <a:ext cx="7772400" cy="457200"/>
          </a:xfrm>
          <a:prstGeom prst="rect">
            <a:avLst/>
          </a:prstGeom>
          <a:noFill/>
          <a:ln/>
        </p:spPr>
        <p:txBody>
          <a:bodyPr wrap="square" lIns="0" tIns="0" rIns="0" bIns="0" rtlCol="0" anchor="t"/>
          <a:lstStyle/>
          <a:p>
            <a:pPr marL="0" indent="0">
              <a:buNone/>
            </a:pPr>
            <a:r>
              <a:rPr lang="en-US" sz="2400" dirty="0">
                <a:solidFill>
                  <a:srgbClr val="E7E2D8"/>
                </a:solidFill>
                <a:latin typeface="Calibri" pitchFamily="34" charset="0"/>
                <a:ea typeface="Calibri" pitchFamily="34" charset="-122"/>
                <a:cs typeface="Calibri" pitchFamily="34" charset="-120"/>
              </a:rPr>
              <a:t>20 Rules for Safe Production Autonomy</a:t>
            </a:r>
            <a:endParaRPr lang="en-US" sz="2400" dirty="0"/>
          </a:p>
        </p:txBody>
      </p:sp>
      <p:pic>
        <p:nvPicPr>
          <p:cNvPr id="8" name="Image 1" descr="preencoded.png"/>
          <p:cNvPicPr>
            <a:picLocks noChangeAspect="1"/>
          </p:cNvPicPr>
          <p:nvPr/>
        </p:nvPicPr>
        <p:blipFill>
          <a:blip r:embed="rId4"/>
          <a:stretch>
            <a:fillRect/>
          </a:stretch>
        </p:blipFill>
        <p:spPr>
          <a:xfrm>
            <a:off x="548640" y="5074920"/>
            <a:ext cx="566928" cy="566928"/>
          </a:xfrm>
          <a:prstGeom prst="rect">
            <a:avLst/>
          </a:prstGeom>
        </p:spPr>
      </p:pic>
      <p:sp>
        <p:nvSpPr>
          <p:cNvPr id="9" name="Text 5"/>
          <p:cNvSpPr txBox="1"/>
          <p:nvPr/>
        </p:nvSpPr>
        <p:spPr>
          <a:xfrm>
            <a:off x="1261872" y="5093208"/>
            <a:ext cx="4572000" cy="2743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Hany Saad</a:t>
            </a:r>
            <a:endParaRPr lang="en-US" sz="1600" dirty="0"/>
          </a:p>
        </p:txBody>
      </p:sp>
      <p:sp>
        <p:nvSpPr>
          <p:cNvPr id="10" name="Text 6"/>
          <p:cNvSpPr txBox="1"/>
          <p:nvPr/>
        </p:nvSpPr>
        <p:spPr>
          <a:xfrm>
            <a:off x="1261872" y="5376672"/>
            <a:ext cx="5486400" cy="256032"/>
          </a:xfrm>
          <a:prstGeom prst="rect">
            <a:avLst/>
          </a:prstGeom>
          <a:noFill/>
          <a:ln/>
        </p:spPr>
        <p:txBody>
          <a:bodyPr wrap="square" lIns="0" tIns="0" rIns="0" bIns="0" rtlCol="0" anchor="t"/>
          <a:lstStyle/>
          <a:p>
            <a:pPr marL="0" indent="0">
              <a:buNone/>
            </a:pPr>
            <a:r>
              <a:rPr lang="en-US" sz="1200" dirty="0">
                <a:solidFill>
                  <a:srgbClr val="8E9BAA"/>
                </a:solidFill>
                <a:latin typeface="Calibri" pitchFamily="34" charset="0"/>
                <a:ea typeface="Calibri" pitchFamily="34" charset="-122"/>
                <a:cs typeface="Calibri" pitchFamily="34" charset="-120"/>
              </a:rPr>
              <a:t>Senior Software Engineering Manager · </a:t>
            </a:r>
            <a:r>
              <a:rPr lang="en-US" sz="1200" dirty="0" err="1">
                <a:solidFill>
                  <a:srgbClr val="8E9BAA"/>
                </a:solidFill>
                <a:latin typeface="Calibri" pitchFamily="34" charset="0"/>
                <a:ea typeface="Calibri" pitchFamily="34" charset="-122"/>
                <a:cs typeface="Calibri" pitchFamily="34" charset="-120"/>
              </a:rPr>
              <a:t>ITWorx</a:t>
            </a:r>
            <a:r>
              <a:rPr lang="en-US" sz="1200" dirty="0">
                <a:solidFill>
                  <a:srgbClr val="8E9BAA"/>
                </a:solidFill>
                <a:latin typeface="Calibri" pitchFamily="34" charset="0"/>
                <a:ea typeface="Calibri" pitchFamily="34" charset="-122"/>
                <a:cs typeface="Calibri" pitchFamily="34" charset="-120"/>
              </a:rPr>
              <a:t>, ITI</a:t>
            </a:r>
            <a:endParaRPr lang="en-US" sz="1200" dirty="0"/>
          </a:p>
        </p:txBody>
      </p:sp>
      <p:sp>
        <p:nvSpPr>
          <p:cNvPr id="11" name="Shape 7"/>
          <p:cNvSpPr/>
          <p:nvPr/>
        </p:nvSpPr>
        <p:spPr>
          <a:xfrm>
            <a:off x="10104120" y="4480560"/>
            <a:ext cx="1417320" cy="1417320"/>
          </a:xfrm>
          <a:prstGeom prst="rect">
            <a:avLst/>
          </a:prstGeom>
          <a:solidFill>
            <a:srgbClr val="FFFFFF"/>
          </a:solidFill>
          <a:ln w="12700">
            <a:solidFill>
              <a:srgbClr val="FFFFFF"/>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68128" y="4544568"/>
            <a:ext cx="1289304" cy="1289304"/>
          </a:xfrm>
          <a:prstGeom prst="rect">
            <a:avLst/>
          </a:prstGeom>
        </p:spPr>
      </p:pic>
      <p:sp>
        <p:nvSpPr>
          <p:cNvPr id="13" name="Text 8"/>
          <p:cNvSpPr txBox="1"/>
          <p:nvPr/>
        </p:nvSpPr>
        <p:spPr>
          <a:xfrm>
            <a:off x="9784080" y="5961888"/>
            <a:ext cx="2057400" cy="182880"/>
          </a:xfrm>
          <a:prstGeom prst="rect">
            <a:avLst/>
          </a:prstGeom>
          <a:noFill/>
          <a:ln/>
        </p:spPr>
        <p:txBody>
          <a:bodyPr wrap="square" lIns="0" tIns="0" rIns="0" bIns="0" rtlCol="0" anchor="t"/>
          <a:lstStyle/>
          <a:p>
            <a:pPr marL="0" indent="0" algn="ctr">
              <a:buNone/>
            </a:pPr>
            <a:r>
              <a:rPr lang="en-US" sz="800" dirty="0">
                <a:solidFill>
                  <a:srgbClr val="8E9BAA"/>
                </a:solidFill>
                <a:latin typeface="Courier New" pitchFamily="34" charset="0"/>
                <a:ea typeface="Courier New" pitchFamily="34" charset="-122"/>
                <a:cs typeface="Courier New" pitchFamily="34" charset="-120"/>
              </a:rPr>
              <a:t>Connect on LinkedIn</a:t>
            </a:r>
            <a:endParaRPr lang="en-US" sz="800" dirty="0"/>
          </a:p>
        </p:txBody>
      </p:sp>
      <p:sp>
        <p:nvSpPr>
          <p:cNvPr id="15" name="Text 4">
            <a:extLst>
              <a:ext uri="{FF2B5EF4-FFF2-40B4-BE49-F238E27FC236}">
                <a16:creationId xmlns:a16="http://schemas.microsoft.com/office/drawing/2014/main" id="{47317F48-F983-69C8-0FE5-50F6EBDF8252}"/>
              </a:ext>
            </a:extLst>
          </p:cNvPr>
          <p:cNvSpPr txBox="1"/>
          <p:nvPr/>
        </p:nvSpPr>
        <p:spPr>
          <a:xfrm>
            <a:off x="548640" y="4313936"/>
            <a:ext cx="8869680" cy="457200"/>
          </a:xfrm>
          <a:prstGeom prst="rect">
            <a:avLst/>
          </a:prstGeom>
          <a:noFill/>
          <a:ln/>
        </p:spPr>
        <p:txBody>
          <a:bodyPr wrap="square" lIns="0" tIns="0" rIns="0" bIns="0" rtlCol="0" anchor="t"/>
          <a:lstStyle/>
          <a:p>
            <a:pPr marL="0" indent="0">
              <a:buNone/>
            </a:pPr>
            <a:r>
              <a:rPr lang="en-US" sz="1200" b="1" kern="0" spc="100" dirty="0">
                <a:solidFill>
                  <a:srgbClr val="E39A16"/>
                </a:solidFill>
                <a:latin typeface="Courier New" pitchFamily="34" charset="0"/>
                <a:ea typeface="Courier New" pitchFamily="34" charset="-122"/>
                <a:cs typeface="Courier New" pitchFamily="34" charset="-120"/>
              </a:rPr>
              <a:t>10 minutes  ·  20 practical rules  ·  from coding workflow to production autonomy</a:t>
            </a:r>
          </a:p>
          <a:p>
            <a:pPr algn="ctr"/>
            <a:r>
              <a:rPr lang="en-US" sz="1200" b="1" kern="0" spc="100" dirty="0">
                <a:solidFill>
                  <a:srgbClr val="E39A16"/>
                </a:solidFill>
                <a:latin typeface="Courier New" pitchFamily="34" charset="0"/>
                <a:cs typeface="Courier New" pitchFamily="34" charset="-120"/>
              </a:rPr>
              <a:t>Presentation web version: </a:t>
            </a:r>
            <a:r>
              <a:rPr lang="en-US" sz="1200" b="1" kern="0" spc="100" dirty="0">
                <a:solidFill>
                  <a:srgbClr val="E39A16"/>
                </a:solidFill>
                <a:latin typeface="Courier New" pitchFamily="34" charset="0"/>
                <a:cs typeface="Courier New" pitchFamily="34" charset="-120"/>
                <a:hlinkClick r:id="rId6"/>
              </a:rPr>
              <a:t>https://ai-agent-on-call.lovable.app</a:t>
            </a:r>
            <a:r>
              <a:rPr lang="en-US" sz="1200" b="1" kern="0" spc="100" dirty="0">
                <a:solidFill>
                  <a:srgbClr val="E39A16"/>
                </a:solidFill>
                <a:latin typeface="Courier New" pitchFamily="34" charset="0"/>
                <a:cs typeface="Courier New" pitchFamily="34" charset="-120"/>
              </a:rPr>
              <a:t>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8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94960" y="-1051560"/>
            <a:ext cx="8412480" cy="4736592"/>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E7E2D8"/>
                </a:solidFill>
                <a:latin typeface="Courier New" pitchFamily="34" charset="0"/>
                <a:ea typeface="Courier New" pitchFamily="34" charset="-122"/>
                <a:cs typeface="Courier New" pitchFamily="34" charset="-120"/>
              </a:rPr>
              <a:t>BEFORE THE RULES  ·  ONE QUESTION</a:t>
            </a:r>
            <a:endParaRPr lang="en-US" sz="1050" dirty="0"/>
          </a:p>
        </p:txBody>
      </p:sp>
      <p:sp>
        <p:nvSpPr>
          <p:cNvPr id="5" name="Text 2"/>
          <p:cNvSpPr txBox="1"/>
          <p:nvPr/>
        </p:nvSpPr>
        <p:spPr>
          <a:xfrm>
            <a:off x="548640" y="1554480"/>
            <a:ext cx="10241280" cy="1737360"/>
          </a:xfrm>
          <a:prstGeom prst="rect">
            <a:avLst/>
          </a:prstGeom>
          <a:noFill/>
          <a:ln/>
        </p:spPr>
        <p:txBody>
          <a:bodyPr wrap="square" lIns="0" tIns="0" rIns="0" bIns="0" rtlCol="0" anchor="b"/>
          <a:lstStyle/>
          <a:p>
            <a:pPr marL="0" indent="0">
              <a:buNone/>
            </a:pPr>
            <a:r>
              <a:rPr lang="en-US" sz="4400" b="1" dirty="0">
                <a:solidFill>
                  <a:srgbClr val="FFFFFF"/>
                </a:solidFill>
                <a:latin typeface="Cambria" pitchFamily="34" charset="0"/>
                <a:ea typeface="Cambria" pitchFamily="34" charset="-122"/>
                <a:cs typeface="Cambria" pitchFamily="34" charset="-120"/>
              </a:rPr>
              <a:t>How long does it take an AI coding agent to delete a production database —</a:t>
            </a:r>
            <a:endParaRPr lang="en-US" sz="4400" dirty="0"/>
          </a:p>
        </p:txBody>
      </p:sp>
      <p:sp>
        <p:nvSpPr>
          <p:cNvPr id="6" name="Text 3"/>
          <p:cNvSpPr txBox="1"/>
          <p:nvPr/>
        </p:nvSpPr>
        <p:spPr>
          <a:xfrm>
            <a:off x="548640" y="3383280"/>
            <a:ext cx="10058400" cy="822960"/>
          </a:xfrm>
          <a:prstGeom prst="rect">
            <a:avLst/>
          </a:prstGeom>
          <a:noFill/>
          <a:ln/>
        </p:spPr>
        <p:txBody>
          <a:bodyPr wrap="square" lIns="0" tIns="0" rIns="0" bIns="0" rtlCol="0" anchor="t"/>
          <a:lstStyle/>
          <a:p>
            <a:pPr marL="0" indent="0">
              <a:buNone/>
            </a:pPr>
            <a:r>
              <a:rPr lang="en-US" sz="4400" b="1" i="1" dirty="0">
                <a:solidFill>
                  <a:srgbClr val="E39A16"/>
                </a:solidFill>
                <a:latin typeface="Cambria" pitchFamily="34" charset="0"/>
                <a:ea typeface="Cambria" pitchFamily="34" charset="-122"/>
                <a:cs typeface="Cambria" pitchFamily="34" charset="-120"/>
              </a:rPr>
              <a:t>and its backups?</a:t>
            </a:r>
            <a:endParaRPr lang="en-US" sz="4400" dirty="0"/>
          </a:p>
        </p:txBody>
      </p:sp>
      <p:sp>
        <p:nvSpPr>
          <p:cNvPr id="7" name="Text 4"/>
          <p:cNvSpPr txBox="1"/>
          <p:nvPr/>
        </p:nvSpPr>
        <p:spPr>
          <a:xfrm>
            <a:off x="548640" y="4892040"/>
            <a:ext cx="5486400" cy="365760"/>
          </a:xfrm>
          <a:prstGeom prst="rect">
            <a:avLst/>
          </a:prstGeom>
          <a:noFill/>
          <a:ln/>
        </p:spPr>
        <p:txBody>
          <a:bodyPr wrap="square" lIns="0" tIns="0" rIns="0" bIns="0" rtlCol="0" anchor="t"/>
          <a:lstStyle/>
          <a:p>
            <a:pPr marL="0" indent="0">
              <a:buNone/>
            </a:pPr>
            <a:r>
              <a:rPr lang="en-US" sz="1600" b="1" kern="0" spc="300" dirty="0">
                <a:solidFill>
                  <a:srgbClr val="E7E2D8"/>
                </a:solidFill>
                <a:latin typeface="Courier New" pitchFamily="34" charset="0"/>
                <a:ea typeface="Courier New" pitchFamily="34" charset="-122"/>
                <a:cs typeface="Courier New" pitchFamily="34" charset="-120"/>
              </a:rPr>
              <a:t>Shout a number.</a:t>
            </a:r>
            <a:endParaRPr lang="en-US" sz="1600" dirty="0"/>
          </a:p>
        </p:txBody>
      </p:sp>
      <p:sp>
        <p:nvSpPr>
          <p:cNvPr id="8" name="Text 5"/>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4A5B70"/>
                </a:solidFill>
                <a:latin typeface="Courier New" pitchFamily="34" charset="0"/>
                <a:ea typeface="Courier New" pitchFamily="34" charset="-122"/>
                <a:cs typeface="Courier New" pitchFamily="34" charset="-120"/>
              </a:rPr>
              <a:t>BEFORE YOU PUT AN AI AGENT ON CALL</a:t>
            </a:r>
            <a:endParaRPr lang="en-US" sz="750" dirty="0"/>
          </a:p>
        </p:txBody>
      </p:sp>
      <p:sp>
        <p:nvSpPr>
          <p:cNvPr id="9" name="Text 6"/>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4A5B70"/>
                </a:solidFill>
                <a:latin typeface="Courier New" pitchFamily="34" charset="0"/>
                <a:ea typeface="Courier New" pitchFamily="34" charset="-122"/>
                <a:cs typeface="Courier New" pitchFamily="34" charset="-120"/>
              </a:rPr>
              <a:t>THE QUESTION</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8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94960" y="-1051560"/>
            <a:ext cx="8412480" cy="4736592"/>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E7E2D8"/>
                </a:solidFill>
                <a:latin typeface="Courier New" pitchFamily="34" charset="0"/>
                <a:ea typeface="Courier New" pitchFamily="34" charset="-122"/>
                <a:cs typeface="Courier New" pitchFamily="34" charset="-120"/>
              </a:rPr>
              <a:t>APRIL 2026  ·  A REAL INCIDENT</a:t>
            </a:r>
            <a:endParaRPr lang="en-US" sz="1050" dirty="0"/>
          </a:p>
        </p:txBody>
      </p:sp>
      <p:sp>
        <p:nvSpPr>
          <p:cNvPr id="5" name="Text 2"/>
          <p:cNvSpPr txBox="1"/>
          <p:nvPr/>
        </p:nvSpPr>
        <p:spPr>
          <a:xfrm>
            <a:off x="411480" y="822960"/>
            <a:ext cx="2286000" cy="3108960"/>
          </a:xfrm>
          <a:prstGeom prst="rect">
            <a:avLst/>
          </a:prstGeom>
          <a:noFill/>
          <a:ln/>
        </p:spPr>
        <p:txBody>
          <a:bodyPr wrap="square" lIns="0" tIns="0" rIns="0" bIns="0" rtlCol="0" anchor="ctr"/>
          <a:lstStyle/>
          <a:p>
            <a:pPr marL="0" indent="0">
              <a:buNone/>
            </a:pPr>
            <a:r>
              <a:rPr lang="en-US" sz="26000" b="1" dirty="0">
                <a:solidFill>
                  <a:srgbClr val="E39A16"/>
                </a:solidFill>
                <a:latin typeface="Cambria" pitchFamily="34" charset="0"/>
                <a:ea typeface="Cambria" pitchFamily="34" charset="-122"/>
                <a:cs typeface="Cambria" pitchFamily="34" charset="-120"/>
              </a:rPr>
              <a:t>9</a:t>
            </a:r>
            <a:endParaRPr lang="en-US" sz="26000" dirty="0"/>
          </a:p>
        </p:txBody>
      </p:sp>
      <p:sp>
        <p:nvSpPr>
          <p:cNvPr id="6" name="Text 3"/>
          <p:cNvSpPr txBox="1"/>
          <p:nvPr/>
        </p:nvSpPr>
        <p:spPr>
          <a:xfrm>
            <a:off x="2514600" y="2148840"/>
            <a:ext cx="3474720" cy="82296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seconds.</a:t>
            </a:r>
            <a:endParaRPr lang="en-US" sz="4800" dirty="0"/>
          </a:p>
        </p:txBody>
      </p:sp>
      <p:sp>
        <p:nvSpPr>
          <p:cNvPr id="7" name="Text 4"/>
          <p:cNvSpPr txBox="1"/>
          <p:nvPr/>
        </p:nvSpPr>
        <p:spPr>
          <a:xfrm>
            <a:off x="548640" y="4069080"/>
            <a:ext cx="5669280" cy="868680"/>
          </a:xfrm>
          <a:prstGeom prst="rect">
            <a:avLst/>
          </a:prstGeom>
          <a:noFill/>
          <a:ln/>
        </p:spPr>
        <p:txBody>
          <a:bodyPr wrap="square" lIns="0" tIns="0" rIns="0" bIns="0" rtlCol="0" anchor="t"/>
          <a:lstStyle/>
          <a:p>
            <a:pPr marL="0" indent="0">
              <a:buNone/>
            </a:pPr>
            <a:r>
              <a:rPr lang="en-US" sz="1700" dirty="0">
                <a:solidFill>
                  <a:srgbClr val="E7E2D8"/>
                </a:solidFill>
                <a:latin typeface="Calibri" pitchFamily="34" charset="0"/>
                <a:ea typeface="Calibri" pitchFamily="34" charset="-122"/>
                <a:cs typeface="Calibri" pitchFamily="34" charset="-120"/>
              </a:rPr>
              <a:t>One API call. A Cursor agent running Claude Opus 4.6 deleted PocketOS’s production database — and the backups stored with it.</a:t>
            </a:r>
            <a:endParaRPr lang="en-US" sz="1700" dirty="0"/>
          </a:p>
        </p:txBody>
      </p:sp>
      <p:sp>
        <p:nvSpPr>
          <p:cNvPr id="8" name="Text 5"/>
          <p:cNvSpPr txBox="1"/>
          <p:nvPr/>
        </p:nvSpPr>
        <p:spPr>
          <a:xfrm>
            <a:off x="548640" y="5029200"/>
            <a:ext cx="5669280" cy="640080"/>
          </a:xfrm>
          <a:prstGeom prst="rect">
            <a:avLst/>
          </a:prstGeom>
          <a:noFill/>
          <a:ln/>
        </p:spPr>
        <p:txBody>
          <a:bodyPr wrap="square" lIns="0" tIns="0" rIns="0" bIns="0" rtlCol="0" anchor="t"/>
          <a:lstStyle/>
          <a:p>
            <a:pPr marL="0" indent="0">
              <a:buNone/>
            </a:pPr>
            <a:r>
              <a:rPr lang="en-US" sz="1600" i="1" dirty="0">
                <a:solidFill>
                  <a:srgbClr val="E39A16"/>
                </a:solidFill>
                <a:latin typeface="Cambria" pitchFamily="34" charset="0"/>
                <a:ea typeface="Cambria" pitchFamily="34" charset="-122"/>
                <a:cs typeface="Cambria" pitchFamily="34" charset="-120"/>
              </a:rPr>
              <a:t>Guardrails were advertised. Project rules were written. Neither stopped one API call.</a:t>
            </a:r>
            <a:endParaRPr lang="en-US" sz="1600" dirty="0"/>
          </a:p>
        </p:txBody>
      </p:sp>
      <p:sp>
        <p:nvSpPr>
          <p:cNvPr id="9" name="Shape 6"/>
          <p:cNvSpPr/>
          <p:nvPr/>
        </p:nvSpPr>
        <p:spPr>
          <a:xfrm>
            <a:off x="6720840" y="1737360"/>
            <a:ext cx="4892040" cy="3017520"/>
          </a:xfrm>
          <a:prstGeom prst="rect">
            <a:avLst/>
          </a:prstGeom>
          <a:solidFill>
            <a:srgbClr val="1E3348"/>
          </a:solidFill>
          <a:ln w="9525">
            <a:solidFill>
              <a:srgbClr val="2C4560"/>
            </a:solidFill>
            <a:prstDash val="solid"/>
          </a:ln>
        </p:spPr>
        <p:txBody>
          <a:bodyPr/>
          <a:lstStyle/>
          <a:p>
            <a:endParaRPr lang="en-US"/>
          </a:p>
        </p:txBody>
      </p:sp>
      <p:sp>
        <p:nvSpPr>
          <p:cNvPr id="10" name="Shape 7"/>
          <p:cNvSpPr/>
          <p:nvPr/>
        </p:nvSpPr>
        <p:spPr>
          <a:xfrm>
            <a:off x="6720840" y="1737360"/>
            <a:ext cx="54864" cy="3017520"/>
          </a:xfrm>
          <a:prstGeom prst="rect">
            <a:avLst/>
          </a:prstGeom>
          <a:solidFill>
            <a:srgbClr val="E39A16"/>
          </a:solidFill>
          <a:ln w="12700">
            <a:solidFill>
              <a:srgbClr val="E39A16"/>
            </a:solidFill>
            <a:prstDash val="solid"/>
          </a:ln>
        </p:spPr>
        <p:txBody>
          <a:bodyPr/>
          <a:lstStyle/>
          <a:p>
            <a:endParaRPr lang="en-US"/>
          </a:p>
        </p:txBody>
      </p:sp>
      <p:sp>
        <p:nvSpPr>
          <p:cNvPr id="11" name="Text 8"/>
          <p:cNvSpPr txBox="1"/>
          <p:nvPr/>
        </p:nvSpPr>
        <p:spPr>
          <a:xfrm>
            <a:off x="7040880" y="1828800"/>
            <a:ext cx="914400" cy="640080"/>
          </a:xfrm>
          <a:prstGeom prst="rect">
            <a:avLst/>
          </a:prstGeom>
          <a:noFill/>
          <a:ln/>
        </p:spPr>
        <p:txBody>
          <a:bodyPr wrap="square" lIns="0" tIns="0" rIns="0" bIns="0" rtlCol="0" anchor="t"/>
          <a:lstStyle/>
          <a:p>
            <a:pPr marL="0" indent="0">
              <a:buNone/>
            </a:pPr>
            <a:r>
              <a:rPr lang="en-US" sz="5400" b="1" dirty="0">
                <a:solidFill>
                  <a:srgbClr val="E39A16"/>
                </a:solidFill>
                <a:latin typeface="Cambria" pitchFamily="34" charset="0"/>
                <a:ea typeface="Cambria" pitchFamily="34" charset="-122"/>
                <a:cs typeface="Cambria" pitchFamily="34" charset="-120"/>
              </a:rPr>
              <a:t>“</a:t>
            </a:r>
            <a:endParaRPr lang="en-US" sz="5400" dirty="0"/>
          </a:p>
        </p:txBody>
      </p:sp>
      <p:sp>
        <p:nvSpPr>
          <p:cNvPr id="12" name="Text 9"/>
          <p:cNvSpPr txBox="1"/>
          <p:nvPr/>
        </p:nvSpPr>
        <p:spPr>
          <a:xfrm>
            <a:off x="7040880" y="2468880"/>
            <a:ext cx="4297680" cy="1280160"/>
          </a:xfrm>
          <a:prstGeom prst="rect">
            <a:avLst/>
          </a:prstGeom>
          <a:noFill/>
          <a:ln/>
        </p:spPr>
        <p:txBody>
          <a:bodyPr wrap="square" lIns="0" tIns="0" rIns="0" bIns="0" rtlCol="0" anchor="t"/>
          <a:lstStyle/>
          <a:p>
            <a:pPr marL="0" indent="0">
              <a:buNone/>
            </a:pPr>
            <a:r>
              <a:rPr lang="en-US" sz="2100" i="1" dirty="0">
                <a:solidFill>
                  <a:srgbClr val="FFFFFF"/>
                </a:solidFill>
                <a:latin typeface="Cambria" pitchFamily="34" charset="0"/>
                <a:ea typeface="Cambria" pitchFamily="34" charset="-122"/>
                <a:cs typeface="Cambria" pitchFamily="34" charset="-120"/>
              </a:rPr>
              <a:t>I guessed instead of verifying. I ran a destructive action without being asked.</a:t>
            </a:r>
            <a:endParaRPr lang="en-US" sz="2100" dirty="0"/>
          </a:p>
        </p:txBody>
      </p:sp>
      <p:sp>
        <p:nvSpPr>
          <p:cNvPr id="13" name="Text 10"/>
          <p:cNvSpPr txBox="1"/>
          <p:nvPr/>
        </p:nvSpPr>
        <p:spPr>
          <a:xfrm>
            <a:off x="7040880" y="3977640"/>
            <a:ext cx="4297680" cy="182880"/>
          </a:xfrm>
          <a:prstGeom prst="rect">
            <a:avLst/>
          </a:prstGeom>
          <a:noFill/>
          <a:ln/>
        </p:spPr>
        <p:txBody>
          <a:bodyPr wrap="square" lIns="0" tIns="0" rIns="0" bIns="0" rtlCol="0" anchor="t"/>
          <a:lstStyle/>
          <a:p>
            <a:pPr marL="0" indent="0">
              <a:buNone/>
            </a:pPr>
            <a:r>
              <a:rPr lang="en-US" sz="900" b="1" kern="0" spc="200" dirty="0">
                <a:solidFill>
                  <a:srgbClr val="E39A16"/>
                </a:solidFill>
                <a:latin typeface="Courier New" pitchFamily="34" charset="0"/>
                <a:ea typeface="Courier New" pitchFamily="34" charset="-122"/>
                <a:cs typeface="Courier New" pitchFamily="34" charset="-120"/>
              </a:rPr>
              <a:t>THE AGENT, EXPLAINING ITSELF</a:t>
            </a:r>
            <a:endParaRPr lang="en-US" sz="900" dirty="0"/>
          </a:p>
        </p:txBody>
      </p:sp>
      <p:sp>
        <p:nvSpPr>
          <p:cNvPr id="14" name="Text 11"/>
          <p:cNvSpPr txBox="1"/>
          <p:nvPr/>
        </p:nvSpPr>
        <p:spPr>
          <a:xfrm>
            <a:off x="7040880" y="4224528"/>
            <a:ext cx="4297680" cy="182880"/>
          </a:xfrm>
          <a:prstGeom prst="rect">
            <a:avLst/>
          </a:prstGeom>
          <a:noFill/>
          <a:ln/>
        </p:spPr>
        <p:txBody>
          <a:bodyPr wrap="square" lIns="0" tIns="0" rIns="0" bIns="0" rtlCol="0" anchor="t"/>
          <a:lstStyle/>
          <a:p>
            <a:pPr marL="0" indent="0">
              <a:buNone/>
            </a:pPr>
            <a:r>
              <a:rPr lang="en-US" sz="900" dirty="0">
                <a:solidFill>
                  <a:srgbClr val="8E9BAA"/>
                </a:solidFill>
                <a:latin typeface="Courier New" pitchFamily="34" charset="0"/>
                <a:ea typeface="Courier New" pitchFamily="34" charset="-122"/>
                <a:cs typeface="Courier New" pitchFamily="34" charset="-120"/>
              </a:rPr>
              <a:t>Cursor + Claude  ·  PocketOS  ·  Railway  ·  Apr 2026</a:t>
            </a:r>
            <a:endParaRPr lang="en-US" sz="900" dirty="0"/>
          </a:p>
        </p:txBody>
      </p:sp>
      <p:sp>
        <p:nvSpPr>
          <p:cNvPr id="15" name="Text 12"/>
          <p:cNvSpPr txBox="1"/>
          <p:nvPr/>
        </p:nvSpPr>
        <p:spPr>
          <a:xfrm>
            <a:off x="548640" y="6199632"/>
            <a:ext cx="11064240" cy="146304"/>
          </a:xfrm>
          <a:prstGeom prst="rect">
            <a:avLst/>
          </a:prstGeom>
          <a:noFill/>
          <a:ln/>
        </p:spPr>
        <p:txBody>
          <a:bodyPr wrap="square" lIns="0" tIns="0" rIns="0" bIns="0" rtlCol="0" anchor="t"/>
          <a:lstStyle/>
          <a:p>
            <a:pPr marL="0" indent="0">
              <a:buNone/>
            </a:pPr>
            <a:r>
              <a:rPr lang="en-US" sz="700" dirty="0">
                <a:solidFill>
                  <a:srgbClr val="8E9BAA"/>
                </a:solidFill>
                <a:latin typeface="Courier New" pitchFamily="34" charset="0"/>
                <a:ea typeface="Courier New" pitchFamily="34" charset="-122"/>
                <a:cs typeface="Courier New" pitchFamily="34" charset="-120"/>
              </a:rPr>
              <a:t>Sources: Jer Crane’s postmortem via The Register, 27 Apr 2026 · NeuralTrust post-mortem, Apr 2026 · SmarterX, May 2026</a:t>
            </a:r>
            <a:endParaRPr lang="en-US" sz="700" dirty="0"/>
          </a:p>
        </p:txBody>
      </p:sp>
      <p:sp>
        <p:nvSpPr>
          <p:cNvPr id="16" name="Text 13"/>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4A5B70"/>
                </a:solidFill>
                <a:latin typeface="Courier New" pitchFamily="34" charset="0"/>
                <a:ea typeface="Courier New" pitchFamily="34" charset="-122"/>
                <a:cs typeface="Courier New" pitchFamily="34" charset="-120"/>
              </a:rPr>
              <a:t>BEFORE YOU PUT AN AI AGENT ON CALL</a:t>
            </a:r>
            <a:endParaRPr lang="en-US" sz="750" dirty="0"/>
          </a:p>
        </p:txBody>
      </p:sp>
      <p:sp>
        <p:nvSpPr>
          <p:cNvPr id="17" name="Text 14"/>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4A5B70"/>
                </a:solidFill>
                <a:latin typeface="Courier New" pitchFamily="34" charset="0"/>
                <a:ea typeface="Courier New" pitchFamily="34" charset="-122"/>
                <a:cs typeface="Courier New" pitchFamily="34" charset="-120"/>
              </a:rPr>
              <a:t>COLD OPEN</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x/ppt/media/image3.png"/>
          <p:cNvPicPr>
            <a:picLocks noChangeAspect="1"/>
          </p:cNvPicPr>
          <p:nvPr/>
        </p:nvPicPr>
        <p:blipFill>
          <a:blip r:embed="rId3"/>
          <a:stretch>
            <a:fillRect/>
          </a:stretch>
        </p:blipFill>
        <p:spPr>
          <a:xfrm>
            <a:off x="7863840" y="-1371600"/>
            <a:ext cx="6035040" cy="3392424"/>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82296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THE SHIFT  ·  AGENTIC DEVELOPMENT</a:t>
            </a:r>
            <a:endParaRPr lang="en-US" sz="1050" dirty="0"/>
          </a:p>
        </p:txBody>
      </p:sp>
      <p:sp>
        <p:nvSpPr>
          <p:cNvPr id="5" name="Text 2"/>
          <p:cNvSpPr txBox="1"/>
          <p:nvPr/>
        </p:nvSpPr>
        <p:spPr>
          <a:xfrm>
            <a:off x="548640" y="777240"/>
            <a:ext cx="10972800" cy="640080"/>
          </a:xfrm>
          <a:prstGeom prst="rect">
            <a:avLst/>
          </a:prstGeom>
          <a:noFill/>
          <a:ln/>
        </p:spPr>
        <p:txBody>
          <a:bodyPr wrap="square" lIns="0" tIns="0" rIns="0" bIns="0" rtlCol="0" anchor="t"/>
          <a:lstStyle/>
          <a:p>
            <a:pPr marL="0" indent="0">
              <a:buNone/>
            </a:pPr>
            <a:r>
              <a:rPr lang="en-US" sz="3400" b="1" dirty="0">
                <a:solidFill>
                  <a:srgbClr val="132038"/>
                </a:solidFill>
                <a:latin typeface="Calibri" pitchFamily="34" charset="0"/>
                <a:ea typeface="Calibri" pitchFamily="34" charset="-122"/>
                <a:cs typeface="Calibri" pitchFamily="34" charset="-120"/>
              </a:rPr>
              <a:t>The job is shifting from typing code to directing agents.</a:t>
            </a:r>
            <a:endParaRPr lang="en-US" sz="3400" dirty="0"/>
          </a:p>
        </p:txBody>
      </p:sp>
      <p:sp>
        <p:nvSpPr>
          <p:cNvPr id="6" name="Shape 3"/>
          <p:cNvSpPr/>
          <p:nvPr/>
        </p:nvSpPr>
        <p:spPr>
          <a:xfrm>
            <a:off x="548640" y="1691640"/>
            <a:ext cx="5440680" cy="2084832"/>
          </a:xfrm>
          <a:prstGeom prst="rect">
            <a:avLst/>
          </a:prstGeom>
          <a:solidFill>
            <a:srgbClr val="FFFFFF"/>
          </a:solidFill>
          <a:ln w="9525">
            <a:solidFill>
              <a:srgbClr val="E6E0D5"/>
            </a:solidFill>
            <a:prstDash val="solid"/>
          </a:ln>
          <a:effectLst>
            <a:outerShdw blurRad="76200" dist="19050" dir="5400000" algn="bl" rotWithShape="0">
              <a:srgbClr val="000000">
                <a:alpha val="6000"/>
              </a:srgbClr>
            </a:outerShdw>
          </a:effectLst>
        </p:spPr>
        <p:txBody>
          <a:bodyPr/>
          <a:lstStyle/>
          <a:p>
            <a:endParaRPr lang="en-US"/>
          </a:p>
        </p:txBody>
      </p:sp>
      <p:sp>
        <p:nvSpPr>
          <p:cNvPr id="7" name="Text 4"/>
          <p:cNvSpPr txBox="1"/>
          <p:nvPr/>
        </p:nvSpPr>
        <p:spPr>
          <a:xfrm>
            <a:off x="822960" y="1947672"/>
            <a:ext cx="1920240" cy="822960"/>
          </a:xfrm>
          <a:prstGeom prst="rect">
            <a:avLst/>
          </a:prstGeom>
          <a:noFill/>
          <a:ln/>
        </p:spPr>
        <p:txBody>
          <a:bodyPr wrap="square" lIns="0" tIns="0" rIns="0" bIns="0" rtlCol="0" anchor="ctr"/>
          <a:lstStyle/>
          <a:p>
            <a:pPr marL="0" indent="0">
              <a:buNone/>
            </a:pPr>
            <a:r>
              <a:rPr lang="en-US" sz="4600" b="1" dirty="0">
                <a:solidFill>
                  <a:srgbClr val="E39A16"/>
                </a:solidFill>
                <a:latin typeface="Cambria" pitchFamily="34" charset="0"/>
                <a:ea typeface="Cambria" pitchFamily="34" charset="-122"/>
                <a:cs typeface="Cambria" pitchFamily="34" charset="-120"/>
              </a:rPr>
              <a:t>75%</a:t>
            </a:r>
            <a:endParaRPr lang="en-US" sz="4600" dirty="0"/>
          </a:p>
        </p:txBody>
      </p:sp>
      <p:sp>
        <p:nvSpPr>
          <p:cNvPr id="8" name="Text 5"/>
          <p:cNvSpPr txBox="1"/>
          <p:nvPr/>
        </p:nvSpPr>
        <p:spPr>
          <a:xfrm>
            <a:off x="2788920" y="1947672"/>
            <a:ext cx="2926080" cy="1143000"/>
          </a:xfrm>
          <a:prstGeom prst="rect">
            <a:avLst/>
          </a:prstGeom>
          <a:noFill/>
          <a:ln/>
        </p:spPr>
        <p:txBody>
          <a:bodyPr wrap="square" lIns="0" tIns="0" rIns="0" bIns="0" rtlCol="0" anchor="ctr"/>
          <a:lstStyle/>
          <a:p>
            <a:pPr marL="0" indent="0">
              <a:buNone/>
            </a:pPr>
            <a:r>
              <a:rPr lang="en-US" sz="1550" i="1" dirty="0">
                <a:solidFill>
                  <a:srgbClr val="132038"/>
                </a:solidFill>
                <a:latin typeface="Cambria" pitchFamily="34" charset="0"/>
                <a:ea typeface="Cambria" pitchFamily="34" charset="-122"/>
                <a:cs typeface="Cambria" pitchFamily="34" charset="-120"/>
              </a:rPr>
              <a:t>of new code at Google is AI-generated and then reviewed / approved by engineers.</a:t>
            </a:r>
            <a:endParaRPr lang="en-US" sz="1550" dirty="0"/>
          </a:p>
        </p:txBody>
      </p:sp>
      <p:sp>
        <p:nvSpPr>
          <p:cNvPr id="9" name="Shape 6"/>
          <p:cNvSpPr/>
          <p:nvPr/>
        </p:nvSpPr>
        <p:spPr>
          <a:xfrm>
            <a:off x="822960" y="3227832"/>
            <a:ext cx="4892040" cy="0"/>
          </a:xfrm>
          <a:prstGeom prst="line">
            <a:avLst/>
          </a:prstGeom>
          <a:noFill/>
          <a:ln w="9525">
            <a:solidFill>
              <a:srgbClr val="E6E0D5"/>
            </a:solidFill>
            <a:prstDash val="solid"/>
          </a:ln>
        </p:spPr>
        <p:txBody>
          <a:bodyPr/>
          <a:lstStyle/>
          <a:p>
            <a:endParaRPr lang="en-US"/>
          </a:p>
        </p:txBody>
      </p:sp>
      <p:sp>
        <p:nvSpPr>
          <p:cNvPr id="10" name="Text 7"/>
          <p:cNvSpPr txBox="1"/>
          <p:nvPr/>
        </p:nvSpPr>
        <p:spPr>
          <a:xfrm>
            <a:off x="822960" y="3337560"/>
            <a:ext cx="4892040" cy="228600"/>
          </a:xfrm>
          <a:prstGeom prst="rect">
            <a:avLst/>
          </a:prstGeom>
          <a:noFill/>
          <a:ln/>
        </p:spPr>
        <p:txBody>
          <a:bodyPr wrap="square" lIns="0" tIns="0" rIns="0" bIns="0" rtlCol="0" anchor="t"/>
          <a:lstStyle/>
          <a:p>
            <a:pPr marL="0" indent="0">
              <a:buNone/>
            </a:pPr>
            <a:r>
              <a:rPr lang="en-US" sz="900" b="1" kern="0" spc="100" dirty="0">
                <a:solidFill>
                  <a:srgbClr val="132038"/>
                </a:solidFill>
                <a:latin typeface="Courier New" pitchFamily="34" charset="0"/>
                <a:ea typeface="Courier New" pitchFamily="34" charset="-122"/>
                <a:cs typeface="Courier New" pitchFamily="34" charset="-120"/>
              </a:rPr>
              <a:t>SUNDAR PICHAI  ·  GOOGLE CLOUD NEXT  ·  APR 2026</a:t>
            </a:r>
            <a:endParaRPr lang="en-US" sz="900" dirty="0"/>
          </a:p>
        </p:txBody>
      </p:sp>
      <p:sp>
        <p:nvSpPr>
          <p:cNvPr id="11" name="Shape 8"/>
          <p:cNvSpPr/>
          <p:nvPr/>
        </p:nvSpPr>
        <p:spPr>
          <a:xfrm>
            <a:off x="6199632" y="1691640"/>
            <a:ext cx="5440680" cy="2084832"/>
          </a:xfrm>
          <a:prstGeom prst="rect">
            <a:avLst/>
          </a:prstGeom>
          <a:solidFill>
            <a:srgbClr val="FFFFFF"/>
          </a:solidFill>
          <a:ln w="9525">
            <a:solidFill>
              <a:srgbClr val="E6E0D5"/>
            </a:solidFill>
            <a:prstDash val="solid"/>
          </a:ln>
          <a:effectLst>
            <a:outerShdw blurRad="76200" dist="19050" dir="5400000" algn="bl" rotWithShape="0">
              <a:srgbClr val="000000">
                <a:alpha val="6000"/>
              </a:srgbClr>
            </a:outerShdw>
          </a:effectLst>
        </p:spPr>
        <p:txBody>
          <a:bodyPr/>
          <a:lstStyle/>
          <a:p>
            <a:endParaRPr lang="en-US"/>
          </a:p>
        </p:txBody>
      </p:sp>
      <p:sp>
        <p:nvSpPr>
          <p:cNvPr id="12" name="Text 9"/>
          <p:cNvSpPr txBox="1"/>
          <p:nvPr/>
        </p:nvSpPr>
        <p:spPr>
          <a:xfrm>
            <a:off x="6473952" y="1947672"/>
            <a:ext cx="1920240" cy="822960"/>
          </a:xfrm>
          <a:prstGeom prst="rect">
            <a:avLst/>
          </a:prstGeom>
          <a:noFill/>
          <a:ln/>
        </p:spPr>
        <p:txBody>
          <a:bodyPr wrap="square" lIns="0" tIns="0" rIns="0" bIns="0" rtlCol="0" anchor="ctr"/>
          <a:lstStyle/>
          <a:p>
            <a:pPr marL="0" indent="0">
              <a:buNone/>
            </a:pPr>
            <a:r>
              <a:rPr lang="en-US" sz="3400" b="1" dirty="0">
                <a:solidFill>
                  <a:srgbClr val="E39A16"/>
                </a:solidFill>
                <a:latin typeface="Cambria" pitchFamily="34" charset="0"/>
                <a:ea typeface="Cambria" pitchFamily="34" charset="-122"/>
                <a:cs typeface="Cambria" pitchFamily="34" charset="-120"/>
              </a:rPr>
              <a:t>20–30%</a:t>
            </a:r>
            <a:endParaRPr lang="en-US" sz="3400" dirty="0"/>
          </a:p>
        </p:txBody>
      </p:sp>
      <p:sp>
        <p:nvSpPr>
          <p:cNvPr id="13" name="Text 10"/>
          <p:cNvSpPr txBox="1"/>
          <p:nvPr/>
        </p:nvSpPr>
        <p:spPr>
          <a:xfrm>
            <a:off x="8439912" y="1947672"/>
            <a:ext cx="2926080" cy="1143000"/>
          </a:xfrm>
          <a:prstGeom prst="rect">
            <a:avLst/>
          </a:prstGeom>
          <a:noFill/>
          <a:ln/>
        </p:spPr>
        <p:txBody>
          <a:bodyPr wrap="square" lIns="0" tIns="0" rIns="0" bIns="0" rtlCol="0" anchor="ctr"/>
          <a:lstStyle/>
          <a:p>
            <a:pPr marL="0" indent="0">
              <a:buNone/>
            </a:pPr>
            <a:r>
              <a:rPr lang="en-US" sz="1550" i="1" dirty="0">
                <a:solidFill>
                  <a:srgbClr val="132038"/>
                </a:solidFill>
                <a:latin typeface="Cambria" pitchFamily="34" charset="0"/>
                <a:ea typeface="Cambria" pitchFamily="34" charset="-122"/>
                <a:cs typeface="Cambria" pitchFamily="34" charset="-120"/>
              </a:rPr>
              <a:t>of code in some Microsoft repositories was described as “written by software.”</a:t>
            </a:r>
            <a:endParaRPr lang="en-US" sz="1550" dirty="0"/>
          </a:p>
        </p:txBody>
      </p:sp>
      <p:sp>
        <p:nvSpPr>
          <p:cNvPr id="14" name="Shape 11"/>
          <p:cNvSpPr/>
          <p:nvPr/>
        </p:nvSpPr>
        <p:spPr>
          <a:xfrm>
            <a:off x="6473952" y="3227832"/>
            <a:ext cx="4892040" cy="0"/>
          </a:xfrm>
          <a:prstGeom prst="line">
            <a:avLst/>
          </a:prstGeom>
          <a:noFill/>
          <a:ln w="9525">
            <a:solidFill>
              <a:srgbClr val="E6E0D5"/>
            </a:solidFill>
            <a:prstDash val="solid"/>
          </a:ln>
        </p:spPr>
        <p:txBody>
          <a:bodyPr/>
          <a:lstStyle/>
          <a:p>
            <a:endParaRPr lang="en-US"/>
          </a:p>
        </p:txBody>
      </p:sp>
      <p:sp>
        <p:nvSpPr>
          <p:cNvPr id="15" name="Text 12"/>
          <p:cNvSpPr txBox="1"/>
          <p:nvPr/>
        </p:nvSpPr>
        <p:spPr>
          <a:xfrm>
            <a:off x="6473952" y="3337560"/>
            <a:ext cx="4892040" cy="228600"/>
          </a:xfrm>
          <a:prstGeom prst="rect">
            <a:avLst/>
          </a:prstGeom>
          <a:noFill/>
          <a:ln/>
        </p:spPr>
        <p:txBody>
          <a:bodyPr wrap="square" lIns="0" tIns="0" rIns="0" bIns="0" rtlCol="0" anchor="t"/>
          <a:lstStyle/>
          <a:p>
            <a:pPr marL="0" indent="0">
              <a:buNone/>
            </a:pPr>
            <a:r>
              <a:rPr lang="en-US" sz="900" b="1" kern="0" spc="100" dirty="0">
                <a:solidFill>
                  <a:srgbClr val="132038"/>
                </a:solidFill>
                <a:latin typeface="Courier New" pitchFamily="34" charset="0"/>
                <a:ea typeface="Courier New" pitchFamily="34" charset="-122"/>
                <a:cs typeface="Courier New" pitchFamily="34" charset="-120"/>
              </a:rPr>
              <a:t>SATYA NADELLA  ·  LLAMACON  ·  APR 2025</a:t>
            </a:r>
            <a:endParaRPr lang="en-US" sz="900" dirty="0"/>
          </a:p>
        </p:txBody>
      </p:sp>
      <p:sp>
        <p:nvSpPr>
          <p:cNvPr id="16" name="Shape 13"/>
          <p:cNvSpPr/>
          <p:nvPr/>
        </p:nvSpPr>
        <p:spPr>
          <a:xfrm>
            <a:off x="548640" y="4005072"/>
            <a:ext cx="5440680" cy="2084832"/>
          </a:xfrm>
          <a:prstGeom prst="rect">
            <a:avLst/>
          </a:prstGeom>
          <a:solidFill>
            <a:srgbClr val="FFFFFF"/>
          </a:solidFill>
          <a:ln w="9525">
            <a:solidFill>
              <a:srgbClr val="E6E0D5"/>
            </a:solidFill>
            <a:prstDash val="solid"/>
          </a:ln>
          <a:effectLst>
            <a:outerShdw blurRad="76200" dist="19050" dir="5400000" algn="bl" rotWithShape="0">
              <a:srgbClr val="000000">
                <a:alpha val="6000"/>
              </a:srgbClr>
            </a:outerShdw>
          </a:effectLst>
        </p:spPr>
        <p:txBody>
          <a:bodyPr/>
          <a:lstStyle/>
          <a:p>
            <a:endParaRPr lang="en-US"/>
          </a:p>
        </p:txBody>
      </p:sp>
      <p:sp>
        <p:nvSpPr>
          <p:cNvPr id="17" name="Text 14"/>
          <p:cNvSpPr txBox="1"/>
          <p:nvPr/>
        </p:nvSpPr>
        <p:spPr>
          <a:xfrm>
            <a:off x="822960" y="4261104"/>
            <a:ext cx="1920240" cy="822960"/>
          </a:xfrm>
          <a:prstGeom prst="rect">
            <a:avLst/>
          </a:prstGeom>
          <a:noFill/>
          <a:ln/>
        </p:spPr>
        <p:txBody>
          <a:bodyPr wrap="square" lIns="0" tIns="0" rIns="0" bIns="0" rtlCol="0" anchor="ctr"/>
          <a:lstStyle/>
          <a:p>
            <a:pPr marL="0" indent="0">
              <a:buNone/>
            </a:pPr>
            <a:r>
              <a:rPr lang="en-US" sz="4600" b="1" dirty="0">
                <a:solidFill>
                  <a:srgbClr val="E39A16"/>
                </a:solidFill>
                <a:latin typeface="Cambria" pitchFamily="34" charset="0"/>
                <a:ea typeface="Cambria" pitchFamily="34" charset="-122"/>
                <a:cs typeface="Cambria" pitchFamily="34" charset="-120"/>
              </a:rPr>
              <a:t>0</a:t>
            </a:r>
            <a:endParaRPr lang="en-US" sz="4600" dirty="0"/>
          </a:p>
        </p:txBody>
      </p:sp>
      <p:sp>
        <p:nvSpPr>
          <p:cNvPr id="18" name="Text 15"/>
          <p:cNvSpPr txBox="1"/>
          <p:nvPr/>
        </p:nvSpPr>
        <p:spPr>
          <a:xfrm>
            <a:off x="2788920" y="4261104"/>
            <a:ext cx="2926080" cy="1143000"/>
          </a:xfrm>
          <a:prstGeom prst="rect">
            <a:avLst/>
          </a:prstGeom>
          <a:noFill/>
          <a:ln/>
        </p:spPr>
        <p:txBody>
          <a:bodyPr wrap="square" lIns="0" tIns="0" rIns="0" bIns="0" rtlCol="0" anchor="ctr"/>
          <a:lstStyle/>
          <a:p>
            <a:pPr marL="0" indent="0">
              <a:buNone/>
            </a:pPr>
            <a:r>
              <a:rPr lang="en-US" sz="1550" i="1" dirty="0">
                <a:solidFill>
                  <a:srgbClr val="132038"/>
                </a:solidFill>
                <a:latin typeface="Cambria" pitchFamily="34" charset="0"/>
                <a:ea typeface="Cambria" pitchFamily="34" charset="-122"/>
                <a:cs typeface="Cambria" pitchFamily="34" charset="-120"/>
              </a:rPr>
              <a:t>“I haven’t written a line of code by hand in, I think, eight months now.”</a:t>
            </a:r>
            <a:endParaRPr lang="en-US" sz="1550" dirty="0"/>
          </a:p>
        </p:txBody>
      </p:sp>
      <p:sp>
        <p:nvSpPr>
          <p:cNvPr id="19" name="Shape 16"/>
          <p:cNvSpPr/>
          <p:nvPr/>
        </p:nvSpPr>
        <p:spPr>
          <a:xfrm>
            <a:off x="822960" y="5541264"/>
            <a:ext cx="4892040" cy="0"/>
          </a:xfrm>
          <a:prstGeom prst="line">
            <a:avLst/>
          </a:prstGeom>
          <a:noFill/>
          <a:ln w="9525">
            <a:solidFill>
              <a:srgbClr val="E6E0D5"/>
            </a:solidFill>
            <a:prstDash val="solid"/>
          </a:ln>
        </p:spPr>
        <p:txBody>
          <a:bodyPr/>
          <a:lstStyle/>
          <a:p>
            <a:endParaRPr lang="en-US"/>
          </a:p>
        </p:txBody>
      </p:sp>
      <p:sp>
        <p:nvSpPr>
          <p:cNvPr id="20" name="Text 17"/>
          <p:cNvSpPr txBox="1"/>
          <p:nvPr/>
        </p:nvSpPr>
        <p:spPr>
          <a:xfrm>
            <a:off x="822960" y="5650992"/>
            <a:ext cx="4892040" cy="228600"/>
          </a:xfrm>
          <a:prstGeom prst="rect">
            <a:avLst/>
          </a:prstGeom>
          <a:noFill/>
          <a:ln/>
        </p:spPr>
        <p:txBody>
          <a:bodyPr wrap="square" lIns="0" tIns="0" rIns="0" bIns="0" rtlCol="0" anchor="t"/>
          <a:lstStyle/>
          <a:p>
            <a:pPr marL="0" indent="0">
              <a:buNone/>
            </a:pPr>
            <a:r>
              <a:rPr lang="en-US" sz="900" b="1" kern="0" spc="100" dirty="0">
                <a:solidFill>
                  <a:srgbClr val="132038"/>
                </a:solidFill>
                <a:latin typeface="Courier New" pitchFamily="34" charset="0"/>
                <a:ea typeface="Courier New" pitchFamily="34" charset="-122"/>
                <a:cs typeface="Courier New" pitchFamily="34" charset="-120"/>
              </a:rPr>
              <a:t>BORIS CHERNY  ·  HEAD OF CLAUDE CODE  ·  JUN 2026</a:t>
            </a:r>
            <a:endParaRPr lang="en-US" sz="900" dirty="0"/>
          </a:p>
        </p:txBody>
      </p:sp>
      <p:sp>
        <p:nvSpPr>
          <p:cNvPr id="21" name="Shape 18"/>
          <p:cNvSpPr/>
          <p:nvPr/>
        </p:nvSpPr>
        <p:spPr>
          <a:xfrm>
            <a:off x="6199632" y="4005072"/>
            <a:ext cx="5440680" cy="2084832"/>
          </a:xfrm>
          <a:prstGeom prst="rect">
            <a:avLst/>
          </a:prstGeom>
          <a:solidFill>
            <a:srgbClr val="FFFFFF"/>
          </a:solidFill>
          <a:ln w="9525">
            <a:solidFill>
              <a:srgbClr val="E6E0D5"/>
            </a:solidFill>
            <a:prstDash val="solid"/>
          </a:ln>
          <a:effectLst>
            <a:outerShdw blurRad="76200" dist="19050" dir="5400000" algn="bl" rotWithShape="0">
              <a:srgbClr val="000000">
                <a:alpha val="6000"/>
              </a:srgbClr>
            </a:outerShdw>
          </a:effectLst>
        </p:spPr>
        <p:txBody>
          <a:bodyPr/>
          <a:lstStyle/>
          <a:p>
            <a:endParaRPr lang="en-US"/>
          </a:p>
        </p:txBody>
      </p:sp>
      <p:sp>
        <p:nvSpPr>
          <p:cNvPr id="22" name="Text 19"/>
          <p:cNvSpPr txBox="1"/>
          <p:nvPr/>
        </p:nvSpPr>
        <p:spPr>
          <a:xfrm>
            <a:off x="6473952" y="4261104"/>
            <a:ext cx="1920240" cy="822960"/>
          </a:xfrm>
          <a:prstGeom prst="rect">
            <a:avLst/>
          </a:prstGeom>
          <a:noFill/>
          <a:ln/>
        </p:spPr>
        <p:txBody>
          <a:bodyPr wrap="square" lIns="0" tIns="0" rIns="0" bIns="0" rtlCol="0" anchor="ctr"/>
          <a:lstStyle/>
          <a:p>
            <a:pPr marL="0" indent="0">
              <a:buNone/>
            </a:pPr>
            <a:r>
              <a:rPr lang="en-US" sz="4600" b="1" dirty="0">
                <a:solidFill>
                  <a:srgbClr val="E39A16"/>
                </a:solidFill>
                <a:latin typeface="Cambria" pitchFamily="34" charset="0"/>
                <a:ea typeface="Cambria" pitchFamily="34" charset="-122"/>
                <a:cs typeface="Cambria" pitchFamily="34" charset="-120"/>
              </a:rPr>
              <a:t>→</a:t>
            </a:r>
            <a:endParaRPr lang="en-US" sz="4600" dirty="0"/>
          </a:p>
        </p:txBody>
      </p:sp>
      <p:sp>
        <p:nvSpPr>
          <p:cNvPr id="23" name="Text 20"/>
          <p:cNvSpPr txBox="1"/>
          <p:nvPr/>
        </p:nvSpPr>
        <p:spPr>
          <a:xfrm>
            <a:off x="8439912" y="4261104"/>
            <a:ext cx="2926080" cy="1143000"/>
          </a:xfrm>
          <a:prstGeom prst="rect">
            <a:avLst/>
          </a:prstGeom>
          <a:noFill/>
          <a:ln/>
        </p:spPr>
        <p:txBody>
          <a:bodyPr wrap="square" lIns="0" tIns="0" rIns="0" bIns="0" rtlCol="0" anchor="ctr"/>
          <a:lstStyle/>
          <a:p>
            <a:pPr marL="0" indent="0">
              <a:buNone/>
            </a:pPr>
            <a:r>
              <a:rPr lang="en-US" sz="1550" i="1" dirty="0">
                <a:solidFill>
                  <a:srgbClr val="132038"/>
                </a:solidFill>
                <a:latin typeface="Cambria" pitchFamily="34" charset="0"/>
                <a:ea typeface="Cambria" pitchFamily="34" charset="-122"/>
                <a:cs typeface="Cambria" pitchFamily="34" charset="-120"/>
              </a:rPr>
              <a:t>WRITE  →  DIRECT  →  REVIEW  →  AUTHORIZE</a:t>
            </a:r>
            <a:endParaRPr lang="en-US" sz="1550" dirty="0"/>
          </a:p>
        </p:txBody>
      </p:sp>
      <p:sp>
        <p:nvSpPr>
          <p:cNvPr id="24" name="Shape 21"/>
          <p:cNvSpPr/>
          <p:nvPr/>
        </p:nvSpPr>
        <p:spPr>
          <a:xfrm>
            <a:off x="6473952" y="5541264"/>
            <a:ext cx="4892040" cy="0"/>
          </a:xfrm>
          <a:prstGeom prst="line">
            <a:avLst/>
          </a:prstGeom>
          <a:noFill/>
          <a:ln w="9525">
            <a:solidFill>
              <a:srgbClr val="E6E0D5"/>
            </a:solidFill>
            <a:prstDash val="solid"/>
          </a:ln>
        </p:spPr>
        <p:txBody>
          <a:bodyPr/>
          <a:lstStyle/>
          <a:p>
            <a:endParaRPr lang="en-US"/>
          </a:p>
        </p:txBody>
      </p:sp>
      <p:sp>
        <p:nvSpPr>
          <p:cNvPr id="25" name="Text 22"/>
          <p:cNvSpPr txBox="1"/>
          <p:nvPr/>
        </p:nvSpPr>
        <p:spPr>
          <a:xfrm>
            <a:off x="6473952" y="5650992"/>
            <a:ext cx="4892040" cy="228600"/>
          </a:xfrm>
          <a:prstGeom prst="rect">
            <a:avLst/>
          </a:prstGeom>
          <a:noFill/>
          <a:ln/>
        </p:spPr>
        <p:txBody>
          <a:bodyPr wrap="square" lIns="0" tIns="0" rIns="0" bIns="0" rtlCol="0" anchor="t"/>
          <a:lstStyle/>
          <a:p>
            <a:pPr marL="0" indent="0">
              <a:buNone/>
            </a:pPr>
            <a:r>
              <a:rPr lang="en-US" sz="900" b="1" kern="0" spc="100" dirty="0">
                <a:solidFill>
                  <a:srgbClr val="132038"/>
                </a:solidFill>
                <a:latin typeface="Courier New" pitchFamily="34" charset="0"/>
                <a:ea typeface="Courier New" pitchFamily="34" charset="-122"/>
                <a:cs typeface="Courier New" pitchFamily="34" charset="-120"/>
              </a:rPr>
              <a:t>THE LAST VERB IS WHERE PRODUCTION RISK STARTS</a:t>
            </a:r>
            <a:endParaRPr lang="en-US" sz="900" dirty="0"/>
          </a:p>
        </p:txBody>
      </p:sp>
      <p:sp>
        <p:nvSpPr>
          <p:cNvPr id="26" name="Text 23"/>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80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800" dirty="0"/>
          </a:p>
        </p:txBody>
      </p:sp>
      <p:sp>
        <p:nvSpPr>
          <p:cNvPr id="27" name="Text 24"/>
          <p:cNvSpPr txBox="1"/>
          <p:nvPr/>
        </p:nvSpPr>
        <p:spPr>
          <a:xfrm>
            <a:off x="7071055" y="6419088"/>
            <a:ext cx="4572000" cy="164592"/>
          </a:xfrm>
          <a:prstGeom prst="rect">
            <a:avLst/>
          </a:prstGeom>
          <a:noFill/>
          <a:ln/>
        </p:spPr>
        <p:txBody>
          <a:bodyPr wrap="square" lIns="0" tIns="0" rIns="0" bIns="0" rtlCol="0" anchor="t"/>
          <a:lstStyle/>
          <a:p>
            <a:pPr marL="0" indent="0" algn="r">
              <a:buNone/>
            </a:pPr>
            <a:r>
              <a:rPr lang="en-US" sz="800" kern="0" spc="200" dirty="0">
                <a:solidFill>
                  <a:srgbClr val="C9BFA9"/>
                </a:solidFill>
                <a:latin typeface="Courier New" pitchFamily="34" charset="0"/>
                <a:ea typeface="Courier New" pitchFamily="34" charset="-122"/>
                <a:cs typeface="Courier New" pitchFamily="34" charset="-120"/>
              </a:rPr>
              <a:t>THE SHIFT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3" name="Text 1"/>
          <p:cNvSpPr txBox="1"/>
          <p:nvPr/>
        </p:nvSpPr>
        <p:spPr>
          <a:xfrm>
            <a:off x="1024128" y="502920"/>
            <a:ext cx="82296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AGENTIC DEVELOPMENT  ·  A REAL SESSION</a:t>
            </a:r>
            <a:endParaRPr lang="en-US" sz="1050" dirty="0"/>
          </a:p>
        </p:txBody>
      </p:sp>
      <p:sp>
        <p:nvSpPr>
          <p:cNvPr id="4" name="Text 2"/>
          <p:cNvSpPr txBox="1"/>
          <p:nvPr/>
        </p:nvSpPr>
        <p:spPr>
          <a:xfrm>
            <a:off x="548640" y="777240"/>
            <a:ext cx="10972800" cy="640080"/>
          </a:xfrm>
          <a:prstGeom prst="rect">
            <a:avLst/>
          </a:prstGeom>
          <a:noFill/>
          <a:ln/>
        </p:spPr>
        <p:txBody>
          <a:bodyPr wrap="square" lIns="0" tIns="0" rIns="0" bIns="0" rtlCol="0" anchor="t"/>
          <a:lstStyle/>
          <a:p>
            <a:pPr marL="0" indent="0">
              <a:buNone/>
            </a:pPr>
            <a:r>
              <a:rPr lang="en-US" sz="3400" b="1" dirty="0">
                <a:solidFill>
                  <a:srgbClr val="132038"/>
                </a:solidFill>
                <a:latin typeface="Calibri" pitchFamily="34" charset="0"/>
                <a:ea typeface="Calibri" pitchFamily="34" charset="-122"/>
                <a:cs typeface="Calibri" pitchFamily="34" charset="-120"/>
              </a:rPr>
              <a:t>What “we don’t write code anymore” looks like</a:t>
            </a:r>
            <a:endParaRPr lang="en-US" sz="3400" dirty="0"/>
          </a:p>
        </p:txBody>
      </p:sp>
      <p:sp>
        <p:nvSpPr>
          <p:cNvPr id="5" name="Shape 3"/>
          <p:cNvSpPr/>
          <p:nvPr/>
        </p:nvSpPr>
        <p:spPr>
          <a:xfrm>
            <a:off x="548640" y="1572768"/>
            <a:ext cx="7360920" cy="3401568"/>
          </a:xfrm>
          <a:prstGeom prst="rect">
            <a:avLst/>
          </a:prstGeom>
          <a:solidFill>
            <a:srgbClr val="0F1C2B"/>
          </a:solidFill>
          <a:ln w="12700">
            <a:solidFill>
              <a:srgbClr val="0F1C2B"/>
            </a:solidFill>
            <a:prstDash val="solid"/>
          </a:ln>
          <a:effectLst>
            <a:outerShdw blurRad="127000" dist="38100" dir="5400000" algn="bl" rotWithShape="0">
              <a:srgbClr val="000000">
                <a:alpha val="18000"/>
              </a:srgbClr>
            </a:outerShdw>
          </a:effectLst>
        </p:spPr>
        <p:txBody>
          <a:bodyPr/>
          <a:lstStyle/>
          <a:p>
            <a:endParaRPr lang="en-US"/>
          </a:p>
        </p:txBody>
      </p:sp>
      <p:sp>
        <p:nvSpPr>
          <p:cNvPr id="6" name="Shape 4"/>
          <p:cNvSpPr/>
          <p:nvPr/>
        </p:nvSpPr>
        <p:spPr>
          <a:xfrm>
            <a:off x="548640" y="1572768"/>
            <a:ext cx="7360920" cy="347472"/>
          </a:xfrm>
          <a:prstGeom prst="rect">
            <a:avLst/>
          </a:prstGeom>
          <a:solidFill>
            <a:srgbClr val="1E3348"/>
          </a:solidFill>
          <a:ln w="12700">
            <a:solidFill>
              <a:srgbClr val="1E3348"/>
            </a:solidFill>
            <a:prstDash val="solid"/>
          </a:ln>
        </p:spPr>
        <p:txBody>
          <a:bodyPr/>
          <a:lstStyle/>
          <a:p>
            <a:endParaRPr lang="en-US"/>
          </a:p>
        </p:txBody>
      </p:sp>
      <p:sp>
        <p:nvSpPr>
          <p:cNvPr id="7" name="Shape 5"/>
          <p:cNvSpPr/>
          <p:nvPr/>
        </p:nvSpPr>
        <p:spPr>
          <a:xfrm>
            <a:off x="713232" y="1691640"/>
            <a:ext cx="109728" cy="109728"/>
          </a:xfrm>
          <a:prstGeom prst="ellipse">
            <a:avLst/>
          </a:prstGeom>
          <a:solidFill>
            <a:srgbClr val="E06C5A"/>
          </a:solidFill>
          <a:ln w="12700">
            <a:solidFill>
              <a:srgbClr val="E06C5A"/>
            </a:solidFill>
            <a:prstDash val="solid"/>
          </a:ln>
        </p:spPr>
        <p:txBody>
          <a:bodyPr/>
          <a:lstStyle/>
          <a:p>
            <a:endParaRPr lang="en-US"/>
          </a:p>
        </p:txBody>
      </p:sp>
      <p:sp>
        <p:nvSpPr>
          <p:cNvPr id="8" name="Shape 6"/>
          <p:cNvSpPr/>
          <p:nvPr/>
        </p:nvSpPr>
        <p:spPr>
          <a:xfrm>
            <a:off x="896112" y="1691640"/>
            <a:ext cx="109728" cy="109728"/>
          </a:xfrm>
          <a:prstGeom prst="ellipse">
            <a:avLst/>
          </a:prstGeom>
          <a:solidFill>
            <a:srgbClr val="E39A16"/>
          </a:solidFill>
          <a:ln w="12700">
            <a:solidFill>
              <a:srgbClr val="E39A16"/>
            </a:solidFill>
            <a:prstDash val="solid"/>
          </a:ln>
        </p:spPr>
        <p:txBody>
          <a:bodyPr/>
          <a:lstStyle/>
          <a:p>
            <a:endParaRPr lang="en-US"/>
          </a:p>
        </p:txBody>
      </p:sp>
      <p:sp>
        <p:nvSpPr>
          <p:cNvPr id="9" name="Shape 7"/>
          <p:cNvSpPr/>
          <p:nvPr/>
        </p:nvSpPr>
        <p:spPr>
          <a:xfrm>
            <a:off x="1078992" y="1691640"/>
            <a:ext cx="109728" cy="109728"/>
          </a:xfrm>
          <a:prstGeom prst="ellipse">
            <a:avLst/>
          </a:prstGeom>
          <a:solidFill>
            <a:srgbClr val="4FA37B"/>
          </a:solidFill>
          <a:ln w="12700">
            <a:solidFill>
              <a:srgbClr val="4FA37B"/>
            </a:solidFill>
            <a:prstDash val="solid"/>
          </a:ln>
        </p:spPr>
        <p:txBody>
          <a:bodyPr/>
          <a:lstStyle/>
          <a:p>
            <a:endParaRPr lang="en-US"/>
          </a:p>
        </p:txBody>
      </p:sp>
      <p:sp>
        <p:nvSpPr>
          <p:cNvPr id="10" name="Text 8"/>
          <p:cNvSpPr txBox="1"/>
          <p:nvPr/>
        </p:nvSpPr>
        <p:spPr>
          <a:xfrm>
            <a:off x="1371600" y="1655064"/>
            <a:ext cx="6355080" cy="182880"/>
          </a:xfrm>
          <a:prstGeom prst="rect">
            <a:avLst/>
          </a:prstGeom>
          <a:noFill/>
          <a:ln/>
        </p:spPr>
        <p:txBody>
          <a:bodyPr wrap="square" lIns="0" tIns="0" rIns="0" bIns="0" rtlCol="0" anchor="t"/>
          <a:lstStyle/>
          <a:p>
            <a:pPr marL="0" indent="0">
              <a:buNone/>
            </a:pPr>
            <a:r>
              <a:rPr lang="en-US" sz="950" dirty="0">
                <a:solidFill>
                  <a:srgbClr val="8E9BAA"/>
                </a:solidFill>
                <a:latin typeface="Courier New" pitchFamily="34" charset="0"/>
                <a:ea typeface="Courier New" pitchFamily="34" charset="-122"/>
                <a:cs typeface="Courier New" pitchFamily="34" charset="-120"/>
              </a:rPr>
              <a:t>claude  —  ~/checkout-service  (branch: main)</a:t>
            </a:r>
            <a:endParaRPr lang="en-US" sz="950" dirty="0"/>
          </a:p>
        </p:txBody>
      </p:sp>
      <p:sp>
        <p:nvSpPr>
          <p:cNvPr id="11" name="Text 9"/>
          <p:cNvSpPr txBox="1"/>
          <p:nvPr/>
        </p:nvSpPr>
        <p:spPr>
          <a:xfrm>
            <a:off x="804672" y="2075688"/>
            <a:ext cx="6903720" cy="245059"/>
          </a:xfrm>
          <a:prstGeom prst="rect">
            <a:avLst/>
          </a:prstGeom>
          <a:noFill/>
          <a:ln/>
        </p:spPr>
        <p:txBody>
          <a:bodyPr wrap="square" lIns="0" tIns="0" rIns="0" bIns="0" rtlCol="0" anchor="ctr"/>
          <a:lstStyle/>
          <a:p>
            <a:pPr marL="0" indent="0">
              <a:buNone/>
            </a:pPr>
            <a:r>
              <a:rPr lang="en-US" sz="1100" b="1" dirty="0">
                <a:solidFill>
                  <a:srgbClr val="E39A16"/>
                </a:solidFill>
                <a:latin typeface="Courier New" pitchFamily="34" charset="0"/>
                <a:ea typeface="Courier New" pitchFamily="34" charset="-122"/>
                <a:cs typeface="Courier New" pitchFamily="34" charset="-120"/>
              </a:rPr>
              <a:t>&gt; </a:t>
            </a:r>
            <a:r>
              <a:rPr lang="en-US" sz="1100" b="1" dirty="0">
                <a:solidFill>
                  <a:srgbClr val="E7E2D8"/>
                </a:solidFill>
                <a:latin typeface="Courier New" pitchFamily="34" charset="0"/>
                <a:ea typeface="Courier New" pitchFamily="34" charset="-122"/>
                <a:cs typeface="Courier New" pitchFamily="34" charset="-120"/>
              </a:rPr>
              <a:t>PAY-142: webhook calls fail on transient 5xx. Add retries.</a:t>
            </a:r>
            <a:endParaRPr lang="en-US" sz="1100" dirty="0"/>
          </a:p>
        </p:txBody>
      </p:sp>
      <p:sp>
        <p:nvSpPr>
          <p:cNvPr id="12" name="Text 10"/>
          <p:cNvSpPr txBox="1"/>
          <p:nvPr/>
        </p:nvSpPr>
        <p:spPr>
          <a:xfrm>
            <a:off x="804672" y="2320747"/>
            <a:ext cx="6903720" cy="245059"/>
          </a:xfrm>
          <a:prstGeom prst="rect">
            <a:avLst/>
          </a:prstGeom>
          <a:noFill/>
          <a:ln/>
        </p:spPr>
        <p:txBody>
          <a:bodyPr wrap="square" lIns="0" tIns="0" rIns="0" bIns="0" rtlCol="0" anchor="ctr"/>
          <a:lstStyle/>
          <a:p>
            <a:pPr marL="0" indent="0">
              <a:buNone/>
            </a:pPr>
            <a:endParaRPr lang="en-US" sz="1100" dirty="0"/>
          </a:p>
        </p:txBody>
      </p:sp>
      <p:sp>
        <p:nvSpPr>
          <p:cNvPr id="13" name="Text 11"/>
          <p:cNvSpPr txBox="1"/>
          <p:nvPr/>
        </p:nvSpPr>
        <p:spPr>
          <a:xfrm>
            <a:off x="804672" y="2565806"/>
            <a:ext cx="6903720" cy="245059"/>
          </a:xfrm>
          <a:prstGeom prst="rect">
            <a:avLst/>
          </a:prstGeom>
          <a:noFill/>
          <a:ln/>
        </p:spPr>
        <p:txBody>
          <a:bodyPr wrap="square" lIns="0" tIns="0" rIns="0" bIns="0" rtlCol="0" anchor="ctr"/>
          <a:lstStyle/>
          <a:p>
            <a:pPr marL="0" indent="0">
              <a:buNone/>
            </a:pPr>
            <a:r>
              <a:rPr lang="en-US" sz="1100" dirty="0">
                <a:solidFill>
                  <a:srgbClr val="8E9BAA"/>
                </a:solidFill>
                <a:latin typeface="Courier New" pitchFamily="34" charset="0"/>
                <a:ea typeface="Courier New" pitchFamily="34" charset="-122"/>
                <a:cs typeface="Courier New" pitchFamily="34" charset="-120"/>
              </a:rPr>
              <a:t>● Read  </a:t>
            </a:r>
            <a:r>
              <a:rPr lang="en-US" sz="1100" dirty="0">
                <a:solidFill>
                  <a:srgbClr val="E7E2D8"/>
                </a:solidFill>
                <a:latin typeface="Courier New" pitchFamily="34" charset="0"/>
                <a:ea typeface="Courier New" pitchFamily="34" charset="-122"/>
                <a:cs typeface="Courier New" pitchFamily="34" charset="-120"/>
              </a:rPr>
              <a:t>AGENTS.md  CLAUDE.md</a:t>
            </a:r>
            <a:r>
              <a:rPr lang="en-US" sz="1100" dirty="0">
                <a:solidFill>
                  <a:srgbClr val="4FA37B"/>
                </a:solidFill>
                <a:latin typeface="Courier New" pitchFamily="34" charset="0"/>
                <a:ea typeface="Courier New" pitchFamily="34" charset="-122"/>
                <a:cs typeface="Courier New" pitchFamily="34" charset="-120"/>
              </a:rPr>
              <a:t>              team rules loaded</a:t>
            </a:r>
            <a:endParaRPr lang="en-US" sz="1100" dirty="0"/>
          </a:p>
        </p:txBody>
      </p:sp>
      <p:sp>
        <p:nvSpPr>
          <p:cNvPr id="14" name="Text 12"/>
          <p:cNvSpPr txBox="1"/>
          <p:nvPr/>
        </p:nvSpPr>
        <p:spPr>
          <a:xfrm>
            <a:off x="804672" y="2810866"/>
            <a:ext cx="6903720" cy="245059"/>
          </a:xfrm>
          <a:prstGeom prst="rect">
            <a:avLst/>
          </a:prstGeom>
          <a:noFill/>
          <a:ln/>
        </p:spPr>
        <p:txBody>
          <a:bodyPr wrap="square" lIns="0" tIns="0" rIns="0" bIns="0" rtlCol="0" anchor="ctr"/>
          <a:lstStyle/>
          <a:p>
            <a:pPr marL="0" indent="0">
              <a:buNone/>
            </a:pPr>
            <a:r>
              <a:rPr lang="en-US" sz="1100" dirty="0">
                <a:solidFill>
                  <a:srgbClr val="8E9BAA"/>
                </a:solidFill>
                <a:latin typeface="Courier New" pitchFamily="34" charset="0"/>
                <a:ea typeface="Courier New" pitchFamily="34" charset="-122"/>
                <a:cs typeface="Courier New" pitchFamily="34" charset="-120"/>
              </a:rPr>
              <a:t>● Read  </a:t>
            </a:r>
            <a:r>
              <a:rPr lang="en-US" sz="1100" dirty="0">
                <a:solidFill>
                  <a:srgbClr val="E7E2D8"/>
                </a:solidFill>
                <a:latin typeface="Courier New" pitchFamily="34" charset="0"/>
                <a:ea typeface="Courier New" pitchFamily="34" charset="-122"/>
                <a:cs typeface="Courier New" pitchFamily="34" charset="-120"/>
              </a:rPr>
              <a:t>docs/adr/0007-webhook-retry-policy.md</a:t>
            </a:r>
            <a:endParaRPr lang="en-US" sz="1100" dirty="0"/>
          </a:p>
        </p:txBody>
      </p:sp>
      <p:sp>
        <p:nvSpPr>
          <p:cNvPr id="15" name="Text 13"/>
          <p:cNvSpPr txBox="1"/>
          <p:nvPr/>
        </p:nvSpPr>
        <p:spPr>
          <a:xfrm>
            <a:off x="804672" y="3055925"/>
            <a:ext cx="6903720" cy="245059"/>
          </a:xfrm>
          <a:prstGeom prst="rect">
            <a:avLst/>
          </a:prstGeom>
          <a:noFill/>
          <a:ln/>
        </p:spPr>
        <p:txBody>
          <a:bodyPr wrap="square" lIns="0" tIns="0" rIns="0" bIns="0" rtlCol="0" anchor="ctr"/>
          <a:lstStyle/>
          <a:p>
            <a:pPr marL="0" indent="0">
              <a:buNone/>
            </a:pPr>
            <a:r>
              <a:rPr lang="en-US" sz="1100" dirty="0">
                <a:solidFill>
                  <a:srgbClr val="8E9BAA"/>
                </a:solidFill>
                <a:latin typeface="Courier New" pitchFamily="34" charset="0"/>
                <a:ea typeface="Courier New" pitchFamily="34" charset="-122"/>
                <a:cs typeface="Courier New" pitchFamily="34" charset="-120"/>
              </a:rPr>
              <a:t>● Grep  </a:t>
            </a:r>
            <a:r>
              <a:rPr lang="en-US" sz="1100" dirty="0">
                <a:solidFill>
                  <a:srgbClr val="E7E2D8"/>
                </a:solidFill>
                <a:latin typeface="Courier New" pitchFamily="34" charset="0"/>
                <a:ea typeface="Courier New" pitchFamily="34" charset="-122"/>
                <a:cs typeface="Courier New" pitchFamily="34" charset="-120"/>
              </a:rPr>
              <a:t>"sendPaymentWebhook"</a:t>
            </a:r>
            <a:r>
              <a:rPr lang="en-US" sz="1100" dirty="0">
                <a:solidFill>
                  <a:srgbClr val="4FA37B"/>
                </a:solidFill>
                <a:latin typeface="Courier New" pitchFamily="34" charset="0"/>
                <a:ea typeface="Courier New" pitchFamily="34" charset="-122"/>
                <a:cs typeface="Courier New" pitchFamily="34" charset="-120"/>
              </a:rPr>
              <a:t>             no other callers</a:t>
            </a:r>
            <a:endParaRPr lang="en-US" sz="1100" dirty="0"/>
          </a:p>
        </p:txBody>
      </p:sp>
      <p:sp>
        <p:nvSpPr>
          <p:cNvPr id="16" name="Text 14"/>
          <p:cNvSpPr txBox="1"/>
          <p:nvPr/>
        </p:nvSpPr>
        <p:spPr>
          <a:xfrm>
            <a:off x="804672" y="3300984"/>
            <a:ext cx="6903720" cy="245059"/>
          </a:xfrm>
          <a:prstGeom prst="rect">
            <a:avLst/>
          </a:prstGeom>
          <a:noFill/>
          <a:ln/>
        </p:spPr>
        <p:txBody>
          <a:bodyPr wrap="square" lIns="0" tIns="0" rIns="0" bIns="0" rtlCol="0" anchor="ctr"/>
          <a:lstStyle/>
          <a:p>
            <a:pPr marL="0" indent="0">
              <a:buNone/>
            </a:pPr>
            <a:r>
              <a:rPr lang="en-US" sz="1100" dirty="0">
                <a:solidFill>
                  <a:srgbClr val="8E9BAA"/>
                </a:solidFill>
                <a:latin typeface="Courier New" pitchFamily="34" charset="0"/>
                <a:ea typeface="Courier New" pitchFamily="34" charset="-122"/>
                <a:cs typeface="Courier New" pitchFamily="34" charset="-120"/>
              </a:rPr>
              <a:t>● Write </a:t>
            </a:r>
            <a:r>
              <a:rPr lang="en-US" sz="1100" dirty="0">
                <a:solidFill>
                  <a:srgbClr val="E7E2D8"/>
                </a:solidFill>
                <a:latin typeface="Courier New" pitchFamily="34" charset="0"/>
                <a:ea typeface="Courier New" pitchFamily="34" charset="-122"/>
                <a:cs typeface="Courier New" pitchFamily="34" charset="-120"/>
              </a:rPr>
              <a:t>docs/specs/PAY-142.md</a:t>
            </a:r>
            <a:r>
              <a:rPr lang="en-US" sz="1100" dirty="0">
                <a:solidFill>
                  <a:srgbClr val="4FA37B"/>
                </a:solidFill>
                <a:latin typeface="Courier New" pitchFamily="34" charset="0"/>
                <a:ea typeface="Courier New" pitchFamily="34" charset="-122"/>
                <a:cs typeface="Courier New" pitchFamily="34" charset="-120"/>
              </a:rPr>
              <a:t>            the plan, no code yet</a:t>
            </a:r>
            <a:endParaRPr lang="en-US" sz="1100" dirty="0"/>
          </a:p>
        </p:txBody>
      </p:sp>
      <p:sp>
        <p:nvSpPr>
          <p:cNvPr id="17" name="Text 15"/>
          <p:cNvSpPr txBox="1"/>
          <p:nvPr/>
        </p:nvSpPr>
        <p:spPr>
          <a:xfrm>
            <a:off x="804672" y="3546043"/>
            <a:ext cx="6903720" cy="245059"/>
          </a:xfrm>
          <a:prstGeom prst="rect">
            <a:avLst/>
          </a:prstGeom>
          <a:noFill/>
          <a:ln/>
        </p:spPr>
        <p:txBody>
          <a:bodyPr wrap="square" lIns="0" tIns="0" rIns="0" bIns="0" rtlCol="0" anchor="ctr"/>
          <a:lstStyle/>
          <a:p>
            <a:pPr marL="0" indent="0">
              <a:buNone/>
            </a:pPr>
            <a:endParaRPr lang="en-US" sz="1100" dirty="0"/>
          </a:p>
        </p:txBody>
      </p:sp>
      <p:sp>
        <p:nvSpPr>
          <p:cNvPr id="18" name="Text 16"/>
          <p:cNvSpPr txBox="1"/>
          <p:nvPr/>
        </p:nvSpPr>
        <p:spPr>
          <a:xfrm>
            <a:off x="804672" y="3791102"/>
            <a:ext cx="6903720" cy="245059"/>
          </a:xfrm>
          <a:prstGeom prst="rect">
            <a:avLst/>
          </a:prstGeom>
          <a:noFill/>
          <a:ln/>
        </p:spPr>
        <p:txBody>
          <a:bodyPr wrap="square" lIns="0" tIns="0" rIns="0" bIns="0" rtlCol="0" anchor="ctr"/>
          <a:lstStyle/>
          <a:p>
            <a:pPr marL="0" indent="0">
              <a:buNone/>
            </a:pPr>
            <a:r>
              <a:rPr lang="en-US" sz="1100" dirty="0">
                <a:solidFill>
                  <a:srgbClr val="E7E2D8"/>
                </a:solidFill>
                <a:latin typeface="Courier New" pitchFamily="34" charset="0"/>
                <a:ea typeface="Courier New" pitchFamily="34" charset="-122"/>
                <a:cs typeface="Courier New" pitchFamily="34" charset="-120"/>
              </a:rPr>
              <a:t>  Retry 5xx + timeouts, never 4xx · backoff 200ms ×2, max 4</a:t>
            </a:r>
            <a:endParaRPr lang="en-US" sz="1100" dirty="0"/>
          </a:p>
        </p:txBody>
      </p:sp>
      <p:sp>
        <p:nvSpPr>
          <p:cNvPr id="19" name="Text 17"/>
          <p:cNvSpPr txBox="1"/>
          <p:nvPr/>
        </p:nvSpPr>
        <p:spPr>
          <a:xfrm>
            <a:off x="804672" y="4036162"/>
            <a:ext cx="6903720" cy="245059"/>
          </a:xfrm>
          <a:prstGeom prst="rect">
            <a:avLst/>
          </a:prstGeom>
          <a:noFill/>
          <a:ln/>
        </p:spPr>
        <p:txBody>
          <a:bodyPr wrap="square" lIns="0" tIns="0" rIns="0" bIns="0" rtlCol="0" anchor="ctr"/>
          <a:lstStyle/>
          <a:p>
            <a:pPr marL="0" indent="0">
              <a:buNone/>
            </a:pPr>
            <a:r>
              <a:rPr lang="en-US" sz="1100" dirty="0">
                <a:solidFill>
                  <a:srgbClr val="E7E2D8"/>
                </a:solidFill>
                <a:latin typeface="Courier New" pitchFamily="34" charset="0"/>
                <a:ea typeface="Courier New" pitchFamily="34" charset="-122"/>
                <a:cs typeface="Courier New" pitchFamily="34" charset="-120"/>
              </a:rPr>
              <a:t>  No new dependency · 1 file + tests · ~50–80 lines</a:t>
            </a:r>
            <a:endParaRPr lang="en-US" sz="1100" dirty="0"/>
          </a:p>
        </p:txBody>
      </p:sp>
      <p:sp>
        <p:nvSpPr>
          <p:cNvPr id="20" name="Text 18"/>
          <p:cNvSpPr txBox="1"/>
          <p:nvPr/>
        </p:nvSpPr>
        <p:spPr>
          <a:xfrm>
            <a:off x="804672" y="4281221"/>
            <a:ext cx="6903720" cy="245059"/>
          </a:xfrm>
          <a:prstGeom prst="rect">
            <a:avLst/>
          </a:prstGeom>
          <a:noFill/>
          <a:ln/>
        </p:spPr>
        <p:txBody>
          <a:bodyPr wrap="square" lIns="0" tIns="0" rIns="0" bIns="0" rtlCol="0" anchor="ctr"/>
          <a:lstStyle/>
          <a:p>
            <a:pPr marL="0" indent="0">
              <a:buNone/>
            </a:pPr>
            <a:r>
              <a:rPr lang="en-US" sz="1100" dirty="0">
                <a:solidFill>
                  <a:srgbClr val="E39A16"/>
                </a:solidFill>
                <a:latin typeface="Courier New" pitchFamily="34" charset="0"/>
                <a:ea typeface="Courier New" pitchFamily="34" charset="-122"/>
                <a:cs typeface="Courier New" pitchFamily="34" charset="-120"/>
              </a:rPr>
              <a:t>  Open question: after 4 failures, return the 5xx or throw?</a:t>
            </a:r>
            <a:endParaRPr lang="en-US" sz="1100" dirty="0"/>
          </a:p>
        </p:txBody>
      </p:sp>
      <p:sp>
        <p:nvSpPr>
          <p:cNvPr id="21" name="Text 19"/>
          <p:cNvSpPr txBox="1"/>
          <p:nvPr/>
        </p:nvSpPr>
        <p:spPr>
          <a:xfrm>
            <a:off x="804672" y="4526280"/>
            <a:ext cx="6903720" cy="245059"/>
          </a:xfrm>
          <a:prstGeom prst="rect">
            <a:avLst/>
          </a:prstGeom>
          <a:noFill/>
          <a:ln/>
        </p:spPr>
        <p:txBody>
          <a:bodyPr wrap="square" lIns="0" tIns="0" rIns="0" bIns="0" rtlCol="0" anchor="ctr"/>
          <a:lstStyle/>
          <a:p>
            <a:pPr marL="0" indent="0">
              <a:buNone/>
            </a:pPr>
            <a:r>
              <a:rPr lang="en-US" sz="1100" b="1" dirty="0">
                <a:solidFill>
                  <a:srgbClr val="E7E2D8"/>
                </a:solidFill>
                <a:latin typeface="Courier New" pitchFamily="34" charset="0"/>
                <a:ea typeface="Courier New" pitchFamily="34" charset="-122"/>
                <a:cs typeface="Courier New" pitchFamily="34" charset="-120"/>
              </a:rPr>
              <a:t>  Waiting for human approval before changing any code.</a:t>
            </a:r>
            <a:endParaRPr lang="en-US" sz="1100" dirty="0"/>
          </a:p>
        </p:txBody>
      </p:sp>
      <p:sp>
        <p:nvSpPr>
          <p:cNvPr id="22" name="Text 20"/>
          <p:cNvSpPr txBox="1"/>
          <p:nvPr/>
        </p:nvSpPr>
        <p:spPr>
          <a:xfrm>
            <a:off x="548640" y="5047488"/>
            <a:ext cx="7360920" cy="182880"/>
          </a:xfrm>
          <a:prstGeom prst="rect">
            <a:avLst/>
          </a:prstGeom>
          <a:noFill/>
          <a:ln/>
        </p:spPr>
        <p:txBody>
          <a:bodyPr wrap="square" lIns="0" tIns="0" rIns="0" bIns="0" rtlCol="0" anchor="t"/>
          <a:lstStyle/>
          <a:p>
            <a:pPr marL="0" indent="0">
              <a:buNone/>
            </a:pPr>
            <a:r>
              <a:rPr lang="en-US" sz="750" kern="0" spc="100" dirty="0">
                <a:solidFill>
                  <a:srgbClr val="9C8E76"/>
                </a:solidFill>
                <a:latin typeface="Courier New" pitchFamily="34" charset="0"/>
                <a:ea typeface="Courier New" pitchFamily="34" charset="-122"/>
                <a:cs typeface="Courier New" pitchFamily="34" charset="-120"/>
              </a:rPr>
              <a:t>REAL RUN  ·  CLAUDE CODE 2.1  ·  SAMPLE REPO IN THE KIT</a:t>
            </a:r>
            <a:endParaRPr lang="en-US" sz="750" dirty="0"/>
          </a:p>
        </p:txBody>
      </p:sp>
      <p:sp>
        <p:nvSpPr>
          <p:cNvPr id="23" name="Shape 21"/>
          <p:cNvSpPr/>
          <p:nvPr/>
        </p:nvSpPr>
        <p:spPr>
          <a:xfrm>
            <a:off x="8183880" y="1572768"/>
            <a:ext cx="3459175" cy="3401568"/>
          </a:xfrm>
          <a:prstGeom prst="rect">
            <a:avLst/>
          </a:prstGeom>
          <a:solidFill>
            <a:srgbClr val="FFFFFF"/>
          </a:solidFill>
          <a:ln w="9525">
            <a:solidFill>
              <a:srgbClr val="E6E0D5"/>
            </a:solidFill>
            <a:prstDash val="solid"/>
          </a:ln>
          <a:effectLst>
            <a:outerShdw blurRad="76200" dist="19050" dir="5400000" algn="bl" rotWithShape="0">
              <a:srgbClr val="000000">
                <a:alpha val="6000"/>
              </a:srgbClr>
            </a:outerShdw>
          </a:effectLst>
        </p:spPr>
        <p:txBody>
          <a:bodyPr/>
          <a:lstStyle/>
          <a:p>
            <a:endParaRPr lang="en-US"/>
          </a:p>
        </p:txBody>
      </p:sp>
      <p:sp>
        <p:nvSpPr>
          <p:cNvPr id="24" name="Text 22"/>
          <p:cNvSpPr txBox="1"/>
          <p:nvPr/>
        </p:nvSpPr>
        <p:spPr>
          <a:xfrm>
            <a:off x="8439912" y="1801368"/>
            <a:ext cx="3093415" cy="182880"/>
          </a:xfrm>
          <a:prstGeom prst="rect">
            <a:avLst/>
          </a:prstGeom>
          <a:noFill/>
          <a:ln/>
        </p:spPr>
        <p:txBody>
          <a:bodyPr wrap="square" lIns="0" tIns="0" rIns="0" bIns="0" rtlCol="0" anchor="t"/>
          <a:lstStyle/>
          <a:p>
            <a:pPr marL="0" indent="0">
              <a:buNone/>
            </a:pPr>
            <a:r>
              <a:rPr lang="en-US" sz="950" b="1" kern="0" spc="200" dirty="0">
                <a:solidFill>
                  <a:srgbClr val="1D6F8B"/>
                </a:solidFill>
                <a:latin typeface="Courier New" pitchFamily="34" charset="0"/>
                <a:ea typeface="Courier New" pitchFamily="34" charset="-122"/>
                <a:cs typeface="Courier New" pitchFamily="34" charset="-120"/>
              </a:rPr>
              <a:t>CODING AGENTS IN USE TODAY</a:t>
            </a:r>
            <a:endParaRPr lang="en-US" sz="950" dirty="0"/>
          </a:p>
        </p:txBody>
      </p:sp>
      <p:sp>
        <p:nvSpPr>
          <p:cNvPr id="25" name="Text 23"/>
          <p:cNvSpPr txBox="1"/>
          <p:nvPr/>
        </p:nvSpPr>
        <p:spPr>
          <a:xfrm>
            <a:off x="8439912" y="2139696"/>
            <a:ext cx="3093415" cy="347472"/>
          </a:xfrm>
          <a:prstGeom prst="rect">
            <a:avLst/>
          </a:prstGeom>
          <a:noFill/>
          <a:ln/>
        </p:spPr>
        <p:txBody>
          <a:bodyPr wrap="square" lIns="0" tIns="0" rIns="0" bIns="0" rtlCol="0" anchor="ctr"/>
          <a:lstStyle/>
          <a:p>
            <a:pPr marL="0" indent="0">
              <a:buNone/>
            </a:pPr>
            <a:r>
              <a:rPr lang="en-US" sz="1500" b="1" dirty="0">
                <a:solidFill>
                  <a:srgbClr val="132038"/>
                </a:solidFill>
                <a:latin typeface="Calibri" pitchFamily="34" charset="0"/>
                <a:ea typeface="Calibri" pitchFamily="34" charset="-122"/>
                <a:cs typeface="Calibri" pitchFamily="34" charset="-120"/>
              </a:rPr>
              <a:t>Claude Code</a:t>
            </a:r>
            <a:r>
              <a:rPr lang="en-US" sz="1100" dirty="0">
                <a:solidFill>
                  <a:srgbClr val="9C8E76"/>
                </a:solidFill>
                <a:latin typeface="Calibri" pitchFamily="34" charset="0"/>
                <a:ea typeface="Calibri" pitchFamily="34" charset="-122"/>
                <a:cs typeface="Calibri" pitchFamily="34" charset="-120"/>
              </a:rPr>
              <a:t>   Anthropic</a:t>
            </a:r>
            <a:endParaRPr lang="en-US" sz="1500" dirty="0"/>
          </a:p>
        </p:txBody>
      </p:sp>
      <p:sp>
        <p:nvSpPr>
          <p:cNvPr id="26" name="Shape 24"/>
          <p:cNvSpPr/>
          <p:nvPr/>
        </p:nvSpPr>
        <p:spPr>
          <a:xfrm>
            <a:off x="8439912" y="2532888"/>
            <a:ext cx="2947111" cy="0"/>
          </a:xfrm>
          <a:prstGeom prst="line">
            <a:avLst/>
          </a:prstGeom>
          <a:noFill/>
          <a:ln w="9525">
            <a:solidFill>
              <a:srgbClr val="EFEAE1"/>
            </a:solidFill>
            <a:prstDash val="solid"/>
          </a:ln>
        </p:spPr>
        <p:txBody>
          <a:bodyPr/>
          <a:lstStyle/>
          <a:p>
            <a:endParaRPr lang="en-US"/>
          </a:p>
        </p:txBody>
      </p:sp>
      <p:sp>
        <p:nvSpPr>
          <p:cNvPr id="27" name="Text 25"/>
          <p:cNvSpPr txBox="1"/>
          <p:nvPr/>
        </p:nvSpPr>
        <p:spPr>
          <a:xfrm>
            <a:off x="8439912" y="2587752"/>
            <a:ext cx="3093415" cy="347472"/>
          </a:xfrm>
          <a:prstGeom prst="rect">
            <a:avLst/>
          </a:prstGeom>
          <a:noFill/>
          <a:ln/>
        </p:spPr>
        <p:txBody>
          <a:bodyPr wrap="square" lIns="0" tIns="0" rIns="0" bIns="0" rtlCol="0" anchor="ctr"/>
          <a:lstStyle/>
          <a:p>
            <a:pPr marL="0" indent="0">
              <a:buNone/>
            </a:pPr>
            <a:r>
              <a:rPr lang="en-US" sz="1500" b="1" dirty="0">
                <a:solidFill>
                  <a:srgbClr val="132038"/>
                </a:solidFill>
                <a:latin typeface="Calibri" pitchFamily="34" charset="0"/>
                <a:ea typeface="Calibri" pitchFamily="34" charset="-122"/>
                <a:cs typeface="Calibri" pitchFamily="34" charset="-120"/>
              </a:rPr>
              <a:t>GitHub Copilot agent</a:t>
            </a:r>
            <a:r>
              <a:rPr lang="en-US" sz="1100" dirty="0">
                <a:solidFill>
                  <a:srgbClr val="9C8E76"/>
                </a:solidFill>
                <a:latin typeface="Calibri" pitchFamily="34" charset="0"/>
                <a:ea typeface="Calibri" pitchFamily="34" charset="-122"/>
                <a:cs typeface="Calibri" pitchFamily="34" charset="-120"/>
              </a:rPr>
              <a:t>   GitHub / Microsoft</a:t>
            </a:r>
            <a:endParaRPr lang="en-US" sz="1500" dirty="0"/>
          </a:p>
        </p:txBody>
      </p:sp>
      <p:sp>
        <p:nvSpPr>
          <p:cNvPr id="28" name="Shape 26"/>
          <p:cNvSpPr/>
          <p:nvPr/>
        </p:nvSpPr>
        <p:spPr>
          <a:xfrm>
            <a:off x="8439912" y="2980944"/>
            <a:ext cx="2947111" cy="0"/>
          </a:xfrm>
          <a:prstGeom prst="line">
            <a:avLst/>
          </a:prstGeom>
          <a:noFill/>
          <a:ln w="9525">
            <a:solidFill>
              <a:srgbClr val="EFEAE1"/>
            </a:solidFill>
            <a:prstDash val="solid"/>
          </a:ln>
        </p:spPr>
        <p:txBody>
          <a:bodyPr/>
          <a:lstStyle/>
          <a:p>
            <a:endParaRPr lang="en-US"/>
          </a:p>
        </p:txBody>
      </p:sp>
      <p:sp>
        <p:nvSpPr>
          <p:cNvPr id="29" name="Text 27"/>
          <p:cNvSpPr txBox="1"/>
          <p:nvPr/>
        </p:nvSpPr>
        <p:spPr>
          <a:xfrm>
            <a:off x="8439912" y="3035808"/>
            <a:ext cx="3093415" cy="347472"/>
          </a:xfrm>
          <a:prstGeom prst="rect">
            <a:avLst/>
          </a:prstGeom>
          <a:noFill/>
          <a:ln/>
        </p:spPr>
        <p:txBody>
          <a:bodyPr wrap="square" lIns="0" tIns="0" rIns="0" bIns="0" rtlCol="0" anchor="ctr"/>
          <a:lstStyle/>
          <a:p>
            <a:pPr marL="0" indent="0">
              <a:buNone/>
            </a:pPr>
            <a:r>
              <a:rPr lang="en-US" sz="1500" b="1" dirty="0">
                <a:solidFill>
                  <a:srgbClr val="132038"/>
                </a:solidFill>
                <a:latin typeface="Calibri" pitchFamily="34" charset="0"/>
                <a:ea typeface="Calibri" pitchFamily="34" charset="-122"/>
                <a:cs typeface="Calibri" pitchFamily="34" charset="-120"/>
              </a:rPr>
              <a:t>Codex</a:t>
            </a:r>
            <a:r>
              <a:rPr lang="en-US" sz="1100" dirty="0">
                <a:solidFill>
                  <a:srgbClr val="9C8E76"/>
                </a:solidFill>
                <a:latin typeface="Calibri" pitchFamily="34" charset="0"/>
                <a:ea typeface="Calibri" pitchFamily="34" charset="-122"/>
                <a:cs typeface="Calibri" pitchFamily="34" charset="-120"/>
              </a:rPr>
              <a:t>   OpenAI</a:t>
            </a:r>
            <a:endParaRPr lang="en-US" sz="1500" dirty="0"/>
          </a:p>
        </p:txBody>
      </p:sp>
      <p:sp>
        <p:nvSpPr>
          <p:cNvPr id="30" name="Shape 28"/>
          <p:cNvSpPr/>
          <p:nvPr/>
        </p:nvSpPr>
        <p:spPr>
          <a:xfrm>
            <a:off x="8439912" y="3429000"/>
            <a:ext cx="2947111" cy="0"/>
          </a:xfrm>
          <a:prstGeom prst="line">
            <a:avLst/>
          </a:prstGeom>
          <a:noFill/>
          <a:ln w="9525">
            <a:solidFill>
              <a:srgbClr val="EFEAE1"/>
            </a:solidFill>
            <a:prstDash val="solid"/>
          </a:ln>
        </p:spPr>
        <p:txBody>
          <a:bodyPr/>
          <a:lstStyle/>
          <a:p>
            <a:endParaRPr lang="en-US"/>
          </a:p>
        </p:txBody>
      </p:sp>
      <p:sp>
        <p:nvSpPr>
          <p:cNvPr id="31" name="Text 29"/>
          <p:cNvSpPr txBox="1"/>
          <p:nvPr/>
        </p:nvSpPr>
        <p:spPr>
          <a:xfrm>
            <a:off x="8439912" y="3483864"/>
            <a:ext cx="3093415" cy="347472"/>
          </a:xfrm>
          <a:prstGeom prst="rect">
            <a:avLst/>
          </a:prstGeom>
          <a:noFill/>
          <a:ln/>
        </p:spPr>
        <p:txBody>
          <a:bodyPr wrap="square" lIns="0" tIns="0" rIns="0" bIns="0" rtlCol="0" anchor="ctr"/>
          <a:lstStyle/>
          <a:p>
            <a:pPr marL="0" indent="0">
              <a:buNone/>
            </a:pPr>
            <a:r>
              <a:rPr lang="en-US" sz="1500" b="1" dirty="0">
                <a:solidFill>
                  <a:srgbClr val="132038"/>
                </a:solidFill>
                <a:latin typeface="Calibri" pitchFamily="34" charset="0"/>
                <a:ea typeface="Calibri" pitchFamily="34" charset="-122"/>
                <a:cs typeface="Calibri" pitchFamily="34" charset="-120"/>
              </a:rPr>
              <a:t>Cursor</a:t>
            </a:r>
            <a:r>
              <a:rPr lang="en-US" sz="1100" dirty="0">
                <a:solidFill>
                  <a:srgbClr val="9C8E76"/>
                </a:solidFill>
                <a:latin typeface="Calibri" pitchFamily="34" charset="0"/>
                <a:ea typeface="Calibri" pitchFamily="34" charset="-122"/>
                <a:cs typeface="Calibri" pitchFamily="34" charset="-120"/>
              </a:rPr>
              <a:t>   Anysphere</a:t>
            </a:r>
            <a:endParaRPr lang="en-US" sz="1500" dirty="0"/>
          </a:p>
        </p:txBody>
      </p:sp>
      <p:sp>
        <p:nvSpPr>
          <p:cNvPr id="32" name="Shape 30"/>
          <p:cNvSpPr/>
          <p:nvPr/>
        </p:nvSpPr>
        <p:spPr>
          <a:xfrm>
            <a:off x="8439912" y="3877056"/>
            <a:ext cx="2947111" cy="0"/>
          </a:xfrm>
          <a:prstGeom prst="line">
            <a:avLst/>
          </a:prstGeom>
          <a:noFill/>
          <a:ln w="9525">
            <a:solidFill>
              <a:srgbClr val="EFEAE1"/>
            </a:solidFill>
            <a:prstDash val="solid"/>
          </a:ln>
        </p:spPr>
        <p:txBody>
          <a:bodyPr/>
          <a:lstStyle/>
          <a:p>
            <a:endParaRPr lang="en-US"/>
          </a:p>
        </p:txBody>
      </p:sp>
      <p:sp>
        <p:nvSpPr>
          <p:cNvPr id="33" name="Text 31"/>
          <p:cNvSpPr txBox="1"/>
          <p:nvPr/>
        </p:nvSpPr>
        <p:spPr>
          <a:xfrm>
            <a:off x="8439912" y="3931920"/>
            <a:ext cx="3093415" cy="347472"/>
          </a:xfrm>
          <a:prstGeom prst="rect">
            <a:avLst/>
          </a:prstGeom>
          <a:noFill/>
          <a:ln/>
        </p:spPr>
        <p:txBody>
          <a:bodyPr wrap="square" lIns="0" tIns="0" rIns="0" bIns="0" rtlCol="0" anchor="ctr"/>
          <a:lstStyle/>
          <a:p>
            <a:pPr marL="0" indent="0">
              <a:buNone/>
            </a:pPr>
            <a:r>
              <a:rPr lang="en-US" sz="1500" b="1" dirty="0">
                <a:solidFill>
                  <a:srgbClr val="132038"/>
                </a:solidFill>
                <a:latin typeface="Calibri" pitchFamily="34" charset="0"/>
                <a:ea typeface="Calibri" pitchFamily="34" charset="-122"/>
                <a:cs typeface="Calibri" pitchFamily="34" charset="-120"/>
              </a:rPr>
              <a:t>Gemini CLI</a:t>
            </a:r>
            <a:r>
              <a:rPr lang="en-US" sz="1100" dirty="0">
                <a:solidFill>
                  <a:srgbClr val="9C8E76"/>
                </a:solidFill>
                <a:latin typeface="Calibri" pitchFamily="34" charset="0"/>
                <a:ea typeface="Calibri" pitchFamily="34" charset="-122"/>
                <a:cs typeface="Calibri" pitchFamily="34" charset="-120"/>
              </a:rPr>
              <a:t>   Google</a:t>
            </a:r>
            <a:endParaRPr lang="en-US" sz="1500" dirty="0"/>
          </a:p>
        </p:txBody>
      </p:sp>
      <p:sp>
        <p:nvSpPr>
          <p:cNvPr id="34" name="Shape 32"/>
          <p:cNvSpPr/>
          <p:nvPr/>
        </p:nvSpPr>
        <p:spPr>
          <a:xfrm>
            <a:off x="8439912" y="4325112"/>
            <a:ext cx="2947111" cy="0"/>
          </a:xfrm>
          <a:prstGeom prst="line">
            <a:avLst/>
          </a:prstGeom>
          <a:noFill/>
          <a:ln w="9525">
            <a:solidFill>
              <a:srgbClr val="EFEAE1"/>
            </a:solidFill>
            <a:prstDash val="solid"/>
          </a:ln>
        </p:spPr>
        <p:txBody>
          <a:bodyPr/>
          <a:lstStyle/>
          <a:p>
            <a:endParaRPr lang="en-US"/>
          </a:p>
        </p:txBody>
      </p:sp>
      <p:sp>
        <p:nvSpPr>
          <p:cNvPr id="35" name="Text 33"/>
          <p:cNvSpPr txBox="1"/>
          <p:nvPr/>
        </p:nvSpPr>
        <p:spPr>
          <a:xfrm>
            <a:off x="8439912" y="4379976"/>
            <a:ext cx="3093415" cy="347472"/>
          </a:xfrm>
          <a:prstGeom prst="rect">
            <a:avLst/>
          </a:prstGeom>
          <a:noFill/>
          <a:ln/>
        </p:spPr>
        <p:txBody>
          <a:bodyPr wrap="square" lIns="0" tIns="0" rIns="0" bIns="0" rtlCol="0" anchor="ctr"/>
          <a:lstStyle/>
          <a:p>
            <a:pPr marL="0" indent="0">
              <a:buNone/>
            </a:pPr>
            <a:r>
              <a:rPr lang="en-US" sz="1500" b="1" dirty="0">
                <a:solidFill>
                  <a:srgbClr val="132038"/>
                </a:solidFill>
                <a:latin typeface="Calibri" pitchFamily="34" charset="0"/>
                <a:ea typeface="Calibri" pitchFamily="34" charset="-122"/>
                <a:cs typeface="Calibri" pitchFamily="34" charset="-120"/>
              </a:rPr>
              <a:t>Kiro</a:t>
            </a:r>
            <a:r>
              <a:rPr lang="en-US" sz="1100" dirty="0">
                <a:solidFill>
                  <a:srgbClr val="9C8E76"/>
                </a:solidFill>
                <a:latin typeface="Calibri" pitchFamily="34" charset="0"/>
                <a:ea typeface="Calibri" pitchFamily="34" charset="-122"/>
                <a:cs typeface="Calibri" pitchFamily="34" charset="-120"/>
              </a:rPr>
              <a:t>   AWS</a:t>
            </a:r>
            <a:endParaRPr lang="en-US" sz="1500" dirty="0"/>
          </a:p>
        </p:txBody>
      </p:sp>
      <p:sp>
        <p:nvSpPr>
          <p:cNvPr id="36" name="Shape 34"/>
          <p:cNvSpPr/>
          <p:nvPr/>
        </p:nvSpPr>
        <p:spPr>
          <a:xfrm>
            <a:off x="548640" y="5230368"/>
            <a:ext cx="11094415" cy="841248"/>
          </a:xfrm>
          <a:prstGeom prst="rect">
            <a:avLst/>
          </a:prstGeom>
          <a:solidFill>
            <a:srgbClr val="F1EBE0"/>
          </a:solidFill>
          <a:ln w="12700">
            <a:solidFill>
              <a:srgbClr val="F1EBE0"/>
            </a:solidFill>
            <a:prstDash val="solid"/>
          </a:ln>
        </p:spPr>
        <p:txBody>
          <a:bodyPr/>
          <a:lstStyle/>
          <a:p>
            <a:endParaRPr lang="en-US"/>
          </a:p>
        </p:txBody>
      </p:sp>
      <p:sp>
        <p:nvSpPr>
          <p:cNvPr id="37" name="Text 35"/>
          <p:cNvSpPr txBox="1"/>
          <p:nvPr/>
        </p:nvSpPr>
        <p:spPr>
          <a:xfrm>
            <a:off x="822960" y="5477256"/>
            <a:ext cx="1463040" cy="320040"/>
          </a:xfrm>
          <a:prstGeom prst="rect">
            <a:avLst/>
          </a:prstGeom>
          <a:noFill/>
          <a:ln/>
        </p:spPr>
        <p:txBody>
          <a:bodyPr wrap="square" lIns="0" tIns="0" rIns="0" bIns="0" rtlCol="0" anchor="ctr"/>
          <a:lstStyle/>
          <a:p>
            <a:pPr marL="0" indent="0">
              <a:buNone/>
            </a:pPr>
            <a:r>
              <a:rPr lang="en-US" sz="1100" b="1" kern="0" spc="200" dirty="0">
                <a:solidFill>
                  <a:srgbClr val="1D6F8B"/>
                </a:solidFill>
                <a:latin typeface="Courier New" pitchFamily="34" charset="0"/>
                <a:ea typeface="Courier New" pitchFamily="34" charset="-122"/>
                <a:cs typeface="Courier New" pitchFamily="34" charset="-120"/>
              </a:rPr>
              <a:t>AN AGENT =</a:t>
            </a:r>
            <a:endParaRPr lang="en-US" sz="1100" dirty="0"/>
          </a:p>
        </p:txBody>
      </p:sp>
      <p:sp>
        <p:nvSpPr>
          <p:cNvPr id="38" name="Text 36"/>
          <p:cNvSpPr txBox="1"/>
          <p:nvPr/>
        </p:nvSpPr>
        <p:spPr>
          <a:xfrm>
            <a:off x="2331720" y="5394960"/>
            <a:ext cx="6035040" cy="502920"/>
          </a:xfrm>
          <a:prstGeom prst="rect">
            <a:avLst/>
          </a:prstGeom>
          <a:noFill/>
          <a:ln/>
        </p:spPr>
        <p:txBody>
          <a:bodyPr wrap="square" lIns="0" tIns="0" rIns="0" bIns="0" rtlCol="0" anchor="ctr"/>
          <a:lstStyle/>
          <a:p>
            <a:pPr marL="0" indent="0">
              <a:buNone/>
            </a:pPr>
            <a:r>
              <a:rPr lang="en-US" sz="2500" dirty="0">
                <a:solidFill>
                  <a:srgbClr val="132038"/>
                </a:solidFill>
                <a:latin typeface="Calibri" pitchFamily="34" charset="0"/>
                <a:ea typeface="Calibri" pitchFamily="34" charset="-122"/>
                <a:cs typeface="Calibri" pitchFamily="34" charset="-120"/>
              </a:rPr>
              <a:t>a model  +  tools  +  a loop  +  </a:t>
            </a:r>
            <a:r>
              <a:rPr lang="en-US" sz="2500" b="1" dirty="0">
                <a:solidFill>
                  <a:srgbClr val="B0730A"/>
                </a:solidFill>
                <a:latin typeface="Calibri" pitchFamily="34" charset="0"/>
                <a:ea typeface="Calibri" pitchFamily="34" charset="-122"/>
                <a:cs typeface="Calibri" pitchFamily="34" charset="-120"/>
              </a:rPr>
              <a:t>permissions</a:t>
            </a:r>
            <a:endParaRPr lang="en-US" sz="2500" dirty="0"/>
          </a:p>
        </p:txBody>
      </p:sp>
      <p:sp>
        <p:nvSpPr>
          <p:cNvPr id="39" name="Text 37"/>
          <p:cNvSpPr txBox="1"/>
          <p:nvPr/>
        </p:nvSpPr>
        <p:spPr>
          <a:xfrm>
            <a:off x="7909560" y="5321808"/>
            <a:ext cx="3520440" cy="658368"/>
          </a:xfrm>
          <a:prstGeom prst="rect">
            <a:avLst/>
          </a:prstGeom>
          <a:noFill/>
          <a:ln/>
        </p:spPr>
        <p:txBody>
          <a:bodyPr wrap="square" lIns="0" tIns="0" rIns="0" bIns="0" rtlCol="0" anchor="ctr"/>
          <a:lstStyle/>
          <a:p>
            <a:pPr marL="0" indent="0">
              <a:buNone/>
            </a:pPr>
            <a:r>
              <a:rPr lang="en-US" sz="1250" i="1" dirty="0">
                <a:solidFill>
                  <a:srgbClr val="B0730A"/>
                </a:solidFill>
                <a:latin typeface="Cambria" pitchFamily="34" charset="0"/>
                <a:ea typeface="Cambria" pitchFamily="34" charset="-122"/>
                <a:cs typeface="Cambria" pitchFamily="34" charset="-120"/>
              </a:rPr>
              <a:t>Permission = blast radius. It stopped for approval because the repo told it how we work.</a:t>
            </a:r>
            <a:endParaRPr lang="en-US" sz="1250" dirty="0"/>
          </a:p>
        </p:txBody>
      </p:sp>
      <p:sp>
        <p:nvSpPr>
          <p:cNvPr id="40" name="Text 38"/>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80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800" dirty="0"/>
          </a:p>
        </p:txBody>
      </p:sp>
      <p:sp>
        <p:nvSpPr>
          <p:cNvPr id="41" name="Text 39"/>
          <p:cNvSpPr txBox="1"/>
          <p:nvPr/>
        </p:nvSpPr>
        <p:spPr>
          <a:xfrm>
            <a:off x="7071055" y="6419088"/>
            <a:ext cx="4572000" cy="164592"/>
          </a:xfrm>
          <a:prstGeom prst="rect">
            <a:avLst/>
          </a:prstGeom>
          <a:noFill/>
          <a:ln/>
        </p:spPr>
        <p:txBody>
          <a:bodyPr wrap="square" lIns="0" tIns="0" rIns="0" bIns="0" rtlCol="0" anchor="t"/>
          <a:lstStyle/>
          <a:p>
            <a:pPr marL="0" indent="0" algn="r">
              <a:buNone/>
            </a:pPr>
            <a:r>
              <a:rPr lang="en-US" sz="800" kern="0" spc="200" dirty="0">
                <a:solidFill>
                  <a:srgbClr val="C9BFA9"/>
                </a:solidFill>
                <a:latin typeface="Courier New" pitchFamily="34" charset="0"/>
                <a:ea typeface="Courier New" pitchFamily="34" charset="-122"/>
                <a:cs typeface="Courier New" pitchFamily="34" charset="-120"/>
              </a:rPr>
              <a:t>AGENTIC DEVELOPMENT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628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94960" y="-1051560"/>
            <a:ext cx="8412480" cy="4736592"/>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E7E2D8"/>
                </a:solidFill>
                <a:latin typeface="Courier New" pitchFamily="34" charset="0"/>
                <a:ea typeface="Courier New" pitchFamily="34" charset="-122"/>
                <a:cs typeface="Courier New" pitchFamily="34" charset="-120"/>
              </a:rPr>
              <a:t>CASE FILES  ·  2025 – 2026</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Different tools. Same failure: authority nobody meant to give.</a:t>
            </a:r>
            <a:endParaRPr lang="en-US" sz="3000" dirty="0"/>
          </a:p>
        </p:txBody>
      </p:sp>
      <p:sp>
        <p:nvSpPr>
          <p:cNvPr id="6" name="Shape 3"/>
          <p:cNvSpPr/>
          <p:nvPr/>
        </p:nvSpPr>
        <p:spPr>
          <a:xfrm>
            <a:off x="548640" y="1691640"/>
            <a:ext cx="2606040" cy="3657600"/>
          </a:xfrm>
          <a:prstGeom prst="rect">
            <a:avLst/>
          </a:prstGeom>
          <a:solidFill>
            <a:srgbClr val="1E3348"/>
          </a:solidFill>
          <a:ln w="9525">
            <a:solidFill>
              <a:srgbClr val="2C4560"/>
            </a:solidFill>
            <a:prstDash val="solid"/>
          </a:ln>
        </p:spPr>
        <p:txBody>
          <a:bodyPr/>
          <a:lstStyle/>
          <a:p>
            <a:endParaRPr lang="en-US"/>
          </a:p>
        </p:txBody>
      </p:sp>
      <p:sp>
        <p:nvSpPr>
          <p:cNvPr id="7" name="Shape 4"/>
          <p:cNvSpPr/>
          <p:nvPr/>
        </p:nvSpPr>
        <p:spPr>
          <a:xfrm>
            <a:off x="777240" y="1920240"/>
            <a:ext cx="502920" cy="502920"/>
          </a:xfrm>
          <a:prstGeom prst="ellipse">
            <a:avLst/>
          </a:prstGeom>
          <a:solidFill>
            <a:srgbClr val="E39A16"/>
          </a:solidFill>
          <a:ln w="12700">
            <a:solidFill>
              <a:srgbClr val="E39A16"/>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902970" y="2045970"/>
            <a:ext cx="251460" cy="251460"/>
          </a:xfrm>
          <a:prstGeom prst="rect">
            <a:avLst/>
          </a:prstGeom>
        </p:spPr>
      </p:pic>
      <p:sp>
        <p:nvSpPr>
          <p:cNvPr id="9" name="Text 5"/>
          <p:cNvSpPr txBox="1"/>
          <p:nvPr/>
        </p:nvSpPr>
        <p:spPr>
          <a:xfrm>
            <a:off x="1417320" y="1938528"/>
            <a:ext cx="1645920" cy="182880"/>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JUL 2025</a:t>
            </a:r>
            <a:endParaRPr lang="en-US" sz="950" dirty="0"/>
          </a:p>
        </p:txBody>
      </p:sp>
      <p:sp>
        <p:nvSpPr>
          <p:cNvPr id="10" name="Text 6"/>
          <p:cNvSpPr txBox="1"/>
          <p:nvPr/>
        </p:nvSpPr>
        <p:spPr>
          <a:xfrm>
            <a:off x="1417320" y="2157984"/>
            <a:ext cx="1691640" cy="274320"/>
          </a:xfrm>
          <a:prstGeom prst="rect">
            <a:avLst/>
          </a:prstGeom>
          <a:noFill/>
          <a:ln/>
        </p:spPr>
        <p:txBody>
          <a:bodyPr wrap="square" lIns="0" tIns="0" rIns="0" bIns="0" rtlCol="0" anchor="t"/>
          <a:lstStyle/>
          <a:p>
            <a:pPr marL="0" indent="0">
              <a:buNone/>
            </a:pPr>
            <a:r>
              <a:rPr lang="en-US" sz="1300" dirty="0">
                <a:solidFill>
                  <a:srgbClr val="8E9BAA"/>
                </a:solidFill>
                <a:latin typeface="Calibri" pitchFamily="34" charset="0"/>
                <a:ea typeface="Calibri" pitchFamily="34" charset="-122"/>
                <a:cs typeface="Calibri" pitchFamily="34" charset="-120"/>
              </a:rPr>
              <a:t>Replit agent</a:t>
            </a:r>
            <a:endParaRPr lang="en-US" sz="1300" dirty="0"/>
          </a:p>
        </p:txBody>
      </p:sp>
      <p:sp>
        <p:nvSpPr>
          <p:cNvPr id="11" name="Text 7"/>
          <p:cNvSpPr txBox="1"/>
          <p:nvPr/>
        </p:nvSpPr>
        <p:spPr>
          <a:xfrm>
            <a:off x="777240" y="2651760"/>
            <a:ext cx="2194560" cy="14173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Deleted a live production database — during an explicit code freeze.</a:t>
            </a:r>
            <a:endParaRPr lang="en-US" sz="1600" dirty="0"/>
          </a:p>
        </p:txBody>
      </p:sp>
      <p:sp>
        <p:nvSpPr>
          <p:cNvPr id="12" name="Shape 8"/>
          <p:cNvSpPr/>
          <p:nvPr/>
        </p:nvSpPr>
        <p:spPr>
          <a:xfrm>
            <a:off x="777240" y="4206240"/>
            <a:ext cx="2148840" cy="0"/>
          </a:xfrm>
          <a:prstGeom prst="line">
            <a:avLst/>
          </a:prstGeom>
          <a:noFill/>
          <a:ln w="9525">
            <a:solidFill>
              <a:srgbClr val="2C4560"/>
            </a:solidFill>
            <a:prstDash val="solid"/>
          </a:ln>
        </p:spPr>
        <p:txBody>
          <a:bodyPr/>
          <a:lstStyle/>
          <a:p>
            <a:endParaRPr lang="en-US"/>
          </a:p>
        </p:txBody>
      </p:sp>
      <p:sp>
        <p:nvSpPr>
          <p:cNvPr id="13" name="Text 9"/>
          <p:cNvSpPr txBox="1"/>
          <p:nvPr/>
        </p:nvSpPr>
        <p:spPr>
          <a:xfrm>
            <a:off x="777240" y="4315968"/>
            <a:ext cx="2103120" cy="182880"/>
          </a:xfrm>
          <a:prstGeom prst="rect">
            <a:avLst/>
          </a:prstGeom>
          <a:noFill/>
          <a:ln/>
        </p:spPr>
        <p:txBody>
          <a:bodyPr wrap="square" lIns="0" tIns="0" rIns="0" bIns="0" rtlCol="0" anchor="t"/>
          <a:lstStyle/>
          <a:p>
            <a:pPr marL="0" indent="0">
              <a:buNone/>
            </a:pPr>
            <a:r>
              <a:rPr lang="en-US" sz="850" b="1" kern="0" spc="200" dirty="0">
                <a:solidFill>
                  <a:srgbClr val="E39A16"/>
                </a:solidFill>
                <a:latin typeface="Courier New" pitchFamily="34" charset="0"/>
                <a:ea typeface="Courier New" pitchFamily="34" charset="-122"/>
                <a:cs typeface="Courier New" pitchFamily="34" charset="-120"/>
              </a:rPr>
              <a:t>LESSON</a:t>
            </a:r>
            <a:endParaRPr lang="en-US" sz="850" dirty="0"/>
          </a:p>
        </p:txBody>
      </p:sp>
      <p:sp>
        <p:nvSpPr>
          <p:cNvPr id="14" name="Text 10"/>
          <p:cNvSpPr txBox="1"/>
          <p:nvPr/>
        </p:nvSpPr>
        <p:spPr>
          <a:xfrm>
            <a:off x="777240" y="4553712"/>
            <a:ext cx="2194560" cy="685800"/>
          </a:xfrm>
          <a:prstGeom prst="rect">
            <a:avLst/>
          </a:prstGeom>
          <a:noFill/>
          <a:ln/>
        </p:spPr>
        <p:txBody>
          <a:bodyPr wrap="square" lIns="0" tIns="0" rIns="0" bIns="0" rtlCol="0" anchor="t"/>
          <a:lstStyle/>
          <a:p>
            <a:pPr marL="0" indent="0">
              <a:buNone/>
            </a:pPr>
            <a:r>
              <a:rPr lang="en-US" sz="1350" i="1" dirty="0">
                <a:solidFill>
                  <a:srgbClr val="E7E2D8"/>
                </a:solidFill>
                <a:latin typeface="Cambria" pitchFamily="34" charset="0"/>
                <a:ea typeface="Cambria" pitchFamily="34" charset="-122"/>
                <a:cs typeface="Cambria" pitchFamily="34" charset="-120"/>
              </a:rPr>
              <a:t>A freeze in the prompt is not a freeze.</a:t>
            </a:r>
            <a:endParaRPr lang="en-US" sz="1350" dirty="0"/>
          </a:p>
        </p:txBody>
      </p:sp>
      <p:sp>
        <p:nvSpPr>
          <p:cNvPr id="15" name="Shape 11"/>
          <p:cNvSpPr/>
          <p:nvPr/>
        </p:nvSpPr>
        <p:spPr>
          <a:xfrm>
            <a:off x="3364992" y="1691640"/>
            <a:ext cx="2606040" cy="3657600"/>
          </a:xfrm>
          <a:prstGeom prst="rect">
            <a:avLst/>
          </a:prstGeom>
          <a:solidFill>
            <a:srgbClr val="1E3348"/>
          </a:solidFill>
          <a:ln w="9525">
            <a:solidFill>
              <a:srgbClr val="2C4560"/>
            </a:solidFill>
            <a:prstDash val="solid"/>
          </a:ln>
        </p:spPr>
        <p:txBody>
          <a:bodyPr/>
          <a:lstStyle/>
          <a:p>
            <a:endParaRPr lang="en-US"/>
          </a:p>
        </p:txBody>
      </p:sp>
      <p:sp>
        <p:nvSpPr>
          <p:cNvPr id="16" name="Shape 12"/>
          <p:cNvSpPr/>
          <p:nvPr/>
        </p:nvSpPr>
        <p:spPr>
          <a:xfrm>
            <a:off x="3593592" y="1920240"/>
            <a:ext cx="502920" cy="502920"/>
          </a:xfrm>
          <a:prstGeom prst="ellipse">
            <a:avLst/>
          </a:prstGeom>
          <a:solidFill>
            <a:srgbClr val="E39A16"/>
          </a:solidFill>
          <a:ln w="12700">
            <a:solidFill>
              <a:srgbClr val="E39A16"/>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719322" y="2045970"/>
            <a:ext cx="251460" cy="251460"/>
          </a:xfrm>
          <a:prstGeom prst="rect">
            <a:avLst/>
          </a:prstGeom>
        </p:spPr>
      </p:pic>
      <p:sp>
        <p:nvSpPr>
          <p:cNvPr id="18" name="Text 13"/>
          <p:cNvSpPr txBox="1"/>
          <p:nvPr/>
        </p:nvSpPr>
        <p:spPr>
          <a:xfrm>
            <a:off x="4233672" y="1938528"/>
            <a:ext cx="1645920" cy="182880"/>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DEC 2025</a:t>
            </a:r>
            <a:endParaRPr lang="en-US" sz="950" dirty="0"/>
          </a:p>
        </p:txBody>
      </p:sp>
      <p:sp>
        <p:nvSpPr>
          <p:cNvPr id="19" name="Text 14"/>
          <p:cNvSpPr txBox="1"/>
          <p:nvPr/>
        </p:nvSpPr>
        <p:spPr>
          <a:xfrm>
            <a:off x="4233672" y="2157984"/>
            <a:ext cx="1691640" cy="274320"/>
          </a:xfrm>
          <a:prstGeom prst="rect">
            <a:avLst/>
          </a:prstGeom>
          <a:noFill/>
          <a:ln/>
        </p:spPr>
        <p:txBody>
          <a:bodyPr wrap="square" lIns="0" tIns="0" rIns="0" bIns="0" rtlCol="0" anchor="t"/>
          <a:lstStyle/>
          <a:p>
            <a:pPr marL="0" indent="0">
              <a:buNone/>
            </a:pPr>
            <a:r>
              <a:rPr lang="en-US" sz="1300" dirty="0">
                <a:solidFill>
                  <a:srgbClr val="8E9BAA"/>
                </a:solidFill>
                <a:latin typeface="Calibri" pitchFamily="34" charset="0"/>
                <a:ea typeface="Calibri" pitchFamily="34" charset="-122"/>
                <a:cs typeface="Calibri" pitchFamily="34" charset="-120"/>
              </a:rPr>
              <a:t>Google Antigravity</a:t>
            </a:r>
            <a:endParaRPr lang="en-US" sz="1300" dirty="0"/>
          </a:p>
        </p:txBody>
      </p:sp>
      <p:sp>
        <p:nvSpPr>
          <p:cNvPr id="20" name="Text 15"/>
          <p:cNvSpPr txBox="1"/>
          <p:nvPr/>
        </p:nvSpPr>
        <p:spPr>
          <a:xfrm>
            <a:off x="3593592" y="2651760"/>
            <a:ext cx="2194560" cy="14173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Asked to clear a cache. Wiped the user’s entire D: drive.</a:t>
            </a:r>
            <a:endParaRPr lang="en-US" sz="1600" dirty="0"/>
          </a:p>
        </p:txBody>
      </p:sp>
      <p:sp>
        <p:nvSpPr>
          <p:cNvPr id="21" name="Shape 16"/>
          <p:cNvSpPr/>
          <p:nvPr/>
        </p:nvSpPr>
        <p:spPr>
          <a:xfrm>
            <a:off x="3593592" y="4206240"/>
            <a:ext cx="2148840" cy="0"/>
          </a:xfrm>
          <a:prstGeom prst="line">
            <a:avLst/>
          </a:prstGeom>
          <a:noFill/>
          <a:ln w="9525">
            <a:solidFill>
              <a:srgbClr val="2C4560"/>
            </a:solidFill>
            <a:prstDash val="solid"/>
          </a:ln>
        </p:spPr>
        <p:txBody>
          <a:bodyPr/>
          <a:lstStyle/>
          <a:p>
            <a:endParaRPr lang="en-US"/>
          </a:p>
        </p:txBody>
      </p:sp>
      <p:sp>
        <p:nvSpPr>
          <p:cNvPr id="22" name="Text 17"/>
          <p:cNvSpPr txBox="1"/>
          <p:nvPr/>
        </p:nvSpPr>
        <p:spPr>
          <a:xfrm>
            <a:off x="3593592" y="4315968"/>
            <a:ext cx="2103120" cy="182880"/>
          </a:xfrm>
          <a:prstGeom prst="rect">
            <a:avLst/>
          </a:prstGeom>
          <a:noFill/>
          <a:ln/>
        </p:spPr>
        <p:txBody>
          <a:bodyPr wrap="square" lIns="0" tIns="0" rIns="0" bIns="0" rtlCol="0" anchor="t"/>
          <a:lstStyle/>
          <a:p>
            <a:pPr marL="0" indent="0">
              <a:buNone/>
            </a:pPr>
            <a:r>
              <a:rPr lang="en-US" sz="850" b="1" kern="0" spc="200" dirty="0">
                <a:solidFill>
                  <a:srgbClr val="E39A16"/>
                </a:solidFill>
                <a:latin typeface="Courier New" pitchFamily="34" charset="0"/>
                <a:ea typeface="Courier New" pitchFamily="34" charset="-122"/>
                <a:cs typeface="Courier New" pitchFamily="34" charset="-120"/>
              </a:rPr>
              <a:t>LESSON</a:t>
            </a:r>
            <a:endParaRPr lang="en-US" sz="850" dirty="0"/>
          </a:p>
        </p:txBody>
      </p:sp>
      <p:sp>
        <p:nvSpPr>
          <p:cNvPr id="23" name="Text 18"/>
          <p:cNvSpPr txBox="1"/>
          <p:nvPr/>
        </p:nvSpPr>
        <p:spPr>
          <a:xfrm>
            <a:off x="3593592" y="4553712"/>
            <a:ext cx="2194560" cy="685800"/>
          </a:xfrm>
          <a:prstGeom prst="rect">
            <a:avLst/>
          </a:prstGeom>
          <a:noFill/>
          <a:ln/>
        </p:spPr>
        <p:txBody>
          <a:bodyPr wrap="square" lIns="0" tIns="0" rIns="0" bIns="0" rtlCol="0" anchor="t"/>
          <a:lstStyle/>
          <a:p>
            <a:pPr marL="0" indent="0">
              <a:buNone/>
            </a:pPr>
            <a:r>
              <a:rPr lang="en-US" sz="1350" i="1" dirty="0">
                <a:solidFill>
                  <a:srgbClr val="E7E2D8"/>
                </a:solidFill>
                <a:latin typeface="Cambria" pitchFamily="34" charset="0"/>
                <a:ea typeface="Cambria" pitchFamily="34" charset="-122"/>
                <a:cs typeface="Cambria" pitchFamily="34" charset="-120"/>
              </a:rPr>
              <a:t>Validate the target before any delete.</a:t>
            </a:r>
            <a:endParaRPr lang="en-US" sz="1350" dirty="0"/>
          </a:p>
        </p:txBody>
      </p:sp>
      <p:sp>
        <p:nvSpPr>
          <p:cNvPr id="24" name="Shape 19"/>
          <p:cNvSpPr/>
          <p:nvPr/>
        </p:nvSpPr>
        <p:spPr>
          <a:xfrm>
            <a:off x="6181344" y="1691640"/>
            <a:ext cx="2606040" cy="3657600"/>
          </a:xfrm>
          <a:prstGeom prst="rect">
            <a:avLst/>
          </a:prstGeom>
          <a:solidFill>
            <a:srgbClr val="1E3348"/>
          </a:solidFill>
          <a:ln w="9525">
            <a:solidFill>
              <a:srgbClr val="2C4560"/>
            </a:solidFill>
            <a:prstDash val="solid"/>
          </a:ln>
        </p:spPr>
        <p:txBody>
          <a:bodyPr/>
          <a:lstStyle/>
          <a:p>
            <a:endParaRPr lang="en-US"/>
          </a:p>
        </p:txBody>
      </p:sp>
      <p:sp>
        <p:nvSpPr>
          <p:cNvPr id="25" name="Shape 20"/>
          <p:cNvSpPr/>
          <p:nvPr/>
        </p:nvSpPr>
        <p:spPr>
          <a:xfrm>
            <a:off x="6409944" y="1920240"/>
            <a:ext cx="502920" cy="502920"/>
          </a:xfrm>
          <a:prstGeom prst="ellipse">
            <a:avLst/>
          </a:prstGeom>
          <a:solidFill>
            <a:srgbClr val="E39A16"/>
          </a:solidFill>
          <a:ln w="12700">
            <a:solidFill>
              <a:srgbClr val="E39A16"/>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6535674" y="2045970"/>
            <a:ext cx="251460" cy="251460"/>
          </a:xfrm>
          <a:prstGeom prst="rect">
            <a:avLst/>
          </a:prstGeom>
        </p:spPr>
      </p:pic>
      <p:sp>
        <p:nvSpPr>
          <p:cNvPr id="27" name="Text 21"/>
          <p:cNvSpPr txBox="1"/>
          <p:nvPr/>
        </p:nvSpPr>
        <p:spPr>
          <a:xfrm>
            <a:off x="7050024" y="1938528"/>
            <a:ext cx="1645920" cy="182880"/>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DEC 2025</a:t>
            </a:r>
            <a:endParaRPr lang="en-US" sz="950" dirty="0"/>
          </a:p>
        </p:txBody>
      </p:sp>
      <p:sp>
        <p:nvSpPr>
          <p:cNvPr id="28" name="Text 22"/>
          <p:cNvSpPr txBox="1"/>
          <p:nvPr/>
        </p:nvSpPr>
        <p:spPr>
          <a:xfrm>
            <a:off x="7050024" y="2157984"/>
            <a:ext cx="1691640" cy="274320"/>
          </a:xfrm>
          <a:prstGeom prst="rect">
            <a:avLst/>
          </a:prstGeom>
          <a:noFill/>
          <a:ln/>
        </p:spPr>
        <p:txBody>
          <a:bodyPr wrap="square" lIns="0" tIns="0" rIns="0" bIns="0" rtlCol="0" anchor="t"/>
          <a:lstStyle/>
          <a:p>
            <a:pPr marL="0" indent="0">
              <a:buNone/>
            </a:pPr>
            <a:r>
              <a:rPr lang="en-US" sz="1300" dirty="0">
                <a:solidFill>
                  <a:srgbClr val="8E9BAA"/>
                </a:solidFill>
                <a:latin typeface="Calibri" pitchFamily="34" charset="0"/>
                <a:ea typeface="Calibri" pitchFamily="34" charset="-122"/>
                <a:cs typeface="Calibri" pitchFamily="34" charset="-120"/>
              </a:rPr>
              <a:t>AWS Kiro (reported)</a:t>
            </a:r>
            <a:endParaRPr lang="en-US" sz="1300" dirty="0"/>
          </a:p>
        </p:txBody>
      </p:sp>
      <p:sp>
        <p:nvSpPr>
          <p:cNvPr id="29" name="Text 23"/>
          <p:cNvSpPr txBox="1"/>
          <p:nvPr/>
        </p:nvSpPr>
        <p:spPr>
          <a:xfrm>
            <a:off x="6409944" y="2651760"/>
            <a:ext cx="2194560" cy="14173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FT: chose to “delete and recreate” an environment. Amazon: misconfigured access.</a:t>
            </a:r>
            <a:endParaRPr lang="en-US" sz="1600" dirty="0"/>
          </a:p>
        </p:txBody>
      </p:sp>
      <p:sp>
        <p:nvSpPr>
          <p:cNvPr id="30" name="Shape 24"/>
          <p:cNvSpPr/>
          <p:nvPr/>
        </p:nvSpPr>
        <p:spPr>
          <a:xfrm>
            <a:off x="6409944" y="4206240"/>
            <a:ext cx="2148840" cy="0"/>
          </a:xfrm>
          <a:prstGeom prst="line">
            <a:avLst/>
          </a:prstGeom>
          <a:noFill/>
          <a:ln w="9525">
            <a:solidFill>
              <a:srgbClr val="2C4560"/>
            </a:solidFill>
            <a:prstDash val="solid"/>
          </a:ln>
        </p:spPr>
        <p:txBody>
          <a:bodyPr/>
          <a:lstStyle/>
          <a:p>
            <a:endParaRPr lang="en-US"/>
          </a:p>
        </p:txBody>
      </p:sp>
      <p:sp>
        <p:nvSpPr>
          <p:cNvPr id="31" name="Text 25"/>
          <p:cNvSpPr txBox="1"/>
          <p:nvPr/>
        </p:nvSpPr>
        <p:spPr>
          <a:xfrm>
            <a:off x="6409944" y="4315968"/>
            <a:ext cx="2103120" cy="182880"/>
          </a:xfrm>
          <a:prstGeom prst="rect">
            <a:avLst/>
          </a:prstGeom>
          <a:noFill/>
          <a:ln/>
        </p:spPr>
        <p:txBody>
          <a:bodyPr wrap="square" lIns="0" tIns="0" rIns="0" bIns="0" rtlCol="0" anchor="t"/>
          <a:lstStyle/>
          <a:p>
            <a:pPr marL="0" indent="0">
              <a:buNone/>
            </a:pPr>
            <a:r>
              <a:rPr lang="en-US" sz="850" b="1" kern="0" spc="200" dirty="0">
                <a:solidFill>
                  <a:srgbClr val="E39A16"/>
                </a:solidFill>
                <a:latin typeface="Courier New" pitchFamily="34" charset="0"/>
                <a:ea typeface="Courier New" pitchFamily="34" charset="-122"/>
                <a:cs typeface="Courier New" pitchFamily="34" charset="-120"/>
              </a:rPr>
              <a:t>LESSON</a:t>
            </a:r>
            <a:endParaRPr lang="en-US" sz="850" dirty="0"/>
          </a:p>
        </p:txBody>
      </p:sp>
      <p:sp>
        <p:nvSpPr>
          <p:cNvPr id="32" name="Text 26"/>
          <p:cNvSpPr txBox="1"/>
          <p:nvPr/>
        </p:nvSpPr>
        <p:spPr>
          <a:xfrm>
            <a:off x="6409944" y="4553712"/>
            <a:ext cx="2194560" cy="685800"/>
          </a:xfrm>
          <a:prstGeom prst="rect">
            <a:avLst/>
          </a:prstGeom>
          <a:noFill/>
          <a:ln/>
        </p:spPr>
        <p:txBody>
          <a:bodyPr wrap="square" lIns="0" tIns="0" rIns="0" bIns="0" rtlCol="0" anchor="t"/>
          <a:lstStyle/>
          <a:p>
            <a:pPr marL="0" indent="0">
              <a:buNone/>
            </a:pPr>
            <a:r>
              <a:rPr lang="en-US" sz="1350" i="1" dirty="0">
                <a:solidFill>
                  <a:srgbClr val="E7E2D8"/>
                </a:solidFill>
                <a:latin typeface="Cambria" pitchFamily="34" charset="0"/>
                <a:ea typeface="Cambria" pitchFamily="34" charset="-122"/>
                <a:cs typeface="Cambria" pitchFamily="34" charset="-120"/>
              </a:rPr>
              <a:t>Access control decides, whoever holds the key.</a:t>
            </a:r>
            <a:endParaRPr lang="en-US" sz="1350" dirty="0"/>
          </a:p>
        </p:txBody>
      </p:sp>
      <p:sp>
        <p:nvSpPr>
          <p:cNvPr id="33" name="Shape 27"/>
          <p:cNvSpPr/>
          <p:nvPr/>
        </p:nvSpPr>
        <p:spPr>
          <a:xfrm>
            <a:off x="8997696" y="1691640"/>
            <a:ext cx="2606040" cy="3657600"/>
          </a:xfrm>
          <a:prstGeom prst="rect">
            <a:avLst/>
          </a:prstGeom>
          <a:solidFill>
            <a:srgbClr val="1E3348"/>
          </a:solidFill>
          <a:ln w="9525">
            <a:solidFill>
              <a:srgbClr val="2C4560"/>
            </a:solidFill>
            <a:prstDash val="solid"/>
          </a:ln>
        </p:spPr>
        <p:txBody>
          <a:bodyPr/>
          <a:lstStyle/>
          <a:p>
            <a:endParaRPr lang="en-US"/>
          </a:p>
        </p:txBody>
      </p:sp>
      <p:sp>
        <p:nvSpPr>
          <p:cNvPr id="34" name="Shape 28"/>
          <p:cNvSpPr/>
          <p:nvPr/>
        </p:nvSpPr>
        <p:spPr>
          <a:xfrm>
            <a:off x="9226296" y="1920240"/>
            <a:ext cx="502920" cy="502920"/>
          </a:xfrm>
          <a:prstGeom prst="ellipse">
            <a:avLst/>
          </a:prstGeom>
          <a:solidFill>
            <a:srgbClr val="E39A16"/>
          </a:solidFill>
          <a:ln w="12700">
            <a:solidFill>
              <a:srgbClr val="E39A16"/>
            </a:solidFill>
            <a:prstDash val="solid"/>
          </a:ln>
        </p:spPr>
        <p:txBody>
          <a:bodyPr/>
          <a:lstStyle/>
          <a:p>
            <a:endParaRPr lang="en-US"/>
          </a:p>
        </p:txBody>
      </p:sp>
      <p:pic>
        <p:nvPicPr>
          <p:cNvPr id="35" name="Image 4" descr="preencoded.png"/>
          <p:cNvPicPr>
            <a:picLocks noChangeAspect="1"/>
          </p:cNvPicPr>
          <p:nvPr/>
        </p:nvPicPr>
        <p:blipFill>
          <a:blip r:embed="rId7"/>
          <a:stretch>
            <a:fillRect/>
          </a:stretch>
        </p:blipFill>
        <p:spPr>
          <a:xfrm>
            <a:off x="9352026" y="2045970"/>
            <a:ext cx="251460" cy="251460"/>
          </a:xfrm>
          <a:prstGeom prst="rect">
            <a:avLst/>
          </a:prstGeom>
        </p:spPr>
      </p:pic>
      <p:sp>
        <p:nvSpPr>
          <p:cNvPr id="36" name="Text 29"/>
          <p:cNvSpPr txBox="1"/>
          <p:nvPr/>
        </p:nvSpPr>
        <p:spPr>
          <a:xfrm>
            <a:off x="9866376" y="1938528"/>
            <a:ext cx="1645920" cy="182880"/>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APR 2026</a:t>
            </a:r>
            <a:endParaRPr lang="en-US" sz="950" dirty="0"/>
          </a:p>
        </p:txBody>
      </p:sp>
      <p:sp>
        <p:nvSpPr>
          <p:cNvPr id="37" name="Text 30"/>
          <p:cNvSpPr txBox="1"/>
          <p:nvPr/>
        </p:nvSpPr>
        <p:spPr>
          <a:xfrm>
            <a:off x="9866376" y="2157984"/>
            <a:ext cx="1691640" cy="274320"/>
          </a:xfrm>
          <a:prstGeom prst="rect">
            <a:avLst/>
          </a:prstGeom>
          <a:noFill/>
          <a:ln/>
        </p:spPr>
        <p:txBody>
          <a:bodyPr wrap="square" lIns="0" tIns="0" rIns="0" bIns="0" rtlCol="0" anchor="t"/>
          <a:lstStyle/>
          <a:p>
            <a:pPr marL="0" indent="0">
              <a:buNone/>
            </a:pPr>
            <a:r>
              <a:rPr lang="en-US" sz="1300" dirty="0">
                <a:solidFill>
                  <a:srgbClr val="8E9BAA"/>
                </a:solidFill>
                <a:latin typeface="Calibri" pitchFamily="34" charset="0"/>
                <a:ea typeface="Calibri" pitchFamily="34" charset="-122"/>
                <a:cs typeface="Calibri" pitchFamily="34" charset="-120"/>
              </a:rPr>
              <a:t>Cursor + Claude</a:t>
            </a:r>
            <a:endParaRPr lang="en-US" sz="1300" dirty="0"/>
          </a:p>
        </p:txBody>
      </p:sp>
      <p:sp>
        <p:nvSpPr>
          <p:cNvPr id="38" name="Text 31"/>
          <p:cNvSpPr txBox="1"/>
          <p:nvPr/>
        </p:nvSpPr>
        <p:spPr>
          <a:xfrm>
            <a:off x="9226296" y="2651760"/>
            <a:ext cx="2194560" cy="14173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 domain-management token, found in an unrelated file, deleted prod.</a:t>
            </a:r>
            <a:endParaRPr lang="en-US" sz="1600" dirty="0"/>
          </a:p>
        </p:txBody>
      </p:sp>
      <p:sp>
        <p:nvSpPr>
          <p:cNvPr id="39" name="Shape 32"/>
          <p:cNvSpPr/>
          <p:nvPr/>
        </p:nvSpPr>
        <p:spPr>
          <a:xfrm>
            <a:off x="9226296" y="4206240"/>
            <a:ext cx="2148840" cy="0"/>
          </a:xfrm>
          <a:prstGeom prst="line">
            <a:avLst/>
          </a:prstGeom>
          <a:noFill/>
          <a:ln w="9525">
            <a:solidFill>
              <a:srgbClr val="2C4560"/>
            </a:solidFill>
            <a:prstDash val="solid"/>
          </a:ln>
        </p:spPr>
        <p:txBody>
          <a:bodyPr/>
          <a:lstStyle/>
          <a:p>
            <a:endParaRPr lang="en-US"/>
          </a:p>
        </p:txBody>
      </p:sp>
      <p:sp>
        <p:nvSpPr>
          <p:cNvPr id="40" name="Text 33"/>
          <p:cNvSpPr txBox="1"/>
          <p:nvPr/>
        </p:nvSpPr>
        <p:spPr>
          <a:xfrm>
            <a:off x="9226296" y="4315968"/>
            <a:ext cx="2103120" cy="182880"/>
          </a:xfrm>
          <a:prstGeom prst="rect">
            <a:avLst/>
          </a:prstGeom>
          <a:noFill/>
          <a:ln/>
        </p:spPr>
        <p:txBody>
          <a:bodyPr wrap="square" lIns="0" tIns="0" rIns="0" bIns="0" rtlCol="0" anchor="t"/>
          <a:lstStyle/>
          <a:p>
            <a:pPr marL="0" indent="0">
              <a:buNone/>
            </a:pPr>
            <a:r>
              <a:rPr lang="en-US" sz="850" b="1" kern="0" spc="200" dirty="0">
                <a:solidFill>
                  <a:srgbClr val="E39A16"/>
                </a:solidFill>
                <a:latin typeface="Courier New" pitchFamily="34" charset="0"/>
                <a:ea typeface="Courier New" pitchFamily="34" charset="-122"/>
                <a:cs typeface="Courier New" pitchFamily="34" charset="-120"/>
              </a:rPr>
              <a:t>LESSON</a:t>
            </a:r>
            <a:endParaRPr lang="en-US" sz="850" dirty="0"/>
          </a:p>
        </p:txBody>
      </p:sp>
      <p:sp>
        <p:nvSpPr>
          <p:cNvPr id="41" name="Text 34"/>
          <p:cNvSpPr txBox="1"/>
          <p:nvPr/>
        </p:nvSpPr>
        <p:spPr>
          <a:xfrm>
            <a:off x="9226296" y="4553712"/>
            <a:ext cx="2194560" cy="685800"/>
          </a:xfrm>
          <a:prstGeom prst="rect">
            <a:avLst/>
          </a:prstGeom>
          <a:noFill/>
          <a:ln/>
        </p:spPr>
        <p:txBody>
          <a:bodyPr wrap="square" lIns="0" tIns="0" rIns="0" bIns="0" rtlCol="0" anchor="t"/>
          <a:lstStyle/>
          <a:p>
            <a:pPr marL="0" indent="0">
              <a:buNone/>
            </a:pPr>
            <a:r>
              <a:rPr lang="en-US" sz="1350" i="1" dirty="0">
                <a:solidFill>
                  <a:srgbClr val="E7E2D8"/>
                </a:solidFill>
                <a:latin typeface="Cambria" pitchFamily="34" charset="0"/>
                <a:ea typeface="Cambria" pitchFamily="34" charset="-122"/>
                <a:cs typeface="Cambria" pitchFamily="34" charset="-120"/>
              </a:rPr>
              <a:t>Least privilege is an agent feature.</a:t>
            </a:r>
            <a:endParaRPr lang="en-US" sz="1350" dirty="0"/>
          </a:p>
        </p:txBody>
      </p:sp>
      <p:sp>
        <p:nvSpPr>
          <p:cNvPr id="42" name="Text 35"/>
          <p:cNvSpPr txBox="1"/>
          <p:nvPr/>
        </p:nvSpPr>
        <p:spPr>
          <a:xfrm>
            <a:off x="548640" y="5532120"/>
            <a:ext cx="11064240" cy="41148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Four tools. One root cause: </a:t>
            </a:r>
            <a:r>
              <a:rPr lang="en-US" sz="1800" b="1" dirty="0">
                <a:solidFill>
                  <a:srgbClr val="E39A16"/>
                </a:solidFill>
                <a:latin typeface="Calibri" pitchFamily="34" charset="0"/>
                <a:ea typeface="Calibri" pitchFamily="34" charset="-122"/>
                <a:cs typeface="Calibri" pitchFamily="34" charset="-120"/>
              </a:rPr>
              <a:t>the agent could do something nobody meant to allow.</a:t>
            </a:r>
            <a:endParaRPr lang="en-US" sz="1800" dirty="0"/>
          </a:p>
        </p:txBody>
      </p:sp>
      <p:sp>
        <p:nvSpPr>
          <p:cNvPr id="43" name="Text 36"/>
          <p:cNvSpPr txBox="1"/>
          <p:nvPr/>
        </p:nvSpPr>
        <p:spPr>
          <a:xfrm>
            <a:off x="548640" y="6199632"/>
            <a:ext cx="11064240" cy="146304"/>
          </a:xfrm>
          <a:prstGeom prst="rect">
            <a:avLst/>
          </a:prstGeom>
          <a:noFill/>
          <a:ln/>
        </p:spPr>
        <p:txBody>
          <a:bodyPr wrap="square" lIns="0" tIns="0" rIns="0" bIns="0" rtlCol="0" anchor="t"/>
          <a:lstStyle/>
          <a:p>
            <a:pPr marL="0" indent="0">
              <a:buNone/>
            </a:pPr>
            <a:r>
              <a:rPr lang="en-US" sz="700" dirty="0">
                <a:solidFill>
                  <a:srgbClr val="8E9BAA"/>
                </a:solidFill>
                <a:latin typeface="Courier New" pitchFamily="34" charset="0"/>
                <a:ea typeface="Courier New" pitchFamily="34" charset="-122"/>
                <a:cs typeface="Courier New" pitchFamily="34" charset="-120"/>
              </a:rPr>
              <a:t>Sources: The Register (Jul 2025, Apr 2026) · Tom’s Hardware (Dec 2025) · Financial Times via GeekWire / The Decoder (Feb 2026; Amazon disputes the AI framing)</a:t>
            </a:r>
            <a:endParaRPr lang="en-US" sz="700" dirty="0"/>
          </a:p>
        </p:txBody>
      </p:sp>
      <p:sp>
        <p:nvSpPr>
          <p:cNvPr id="44" name="Text 37"/>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4A5B70"/>
                </a:solidFill>
                <a:latin typeface="Courier New" pitchFamily="34" charset="0"/>
                <a:ea typeface="Courier New" pitchFamily="34" charset="-122"/>
                <a:cs typeface="Courier New" pitchFamily="34" charset="-120"/>
              </a:rPr>
              <a:t>BEFORE YOU PUT AN AI AGENT ON CALL</a:t>
            </a:r>
            <a:endParaRPr lang="en-US" sz="750" dirty="0"/>
          </a:p>
        </p:txBody>
      </p:sp>
      <p:sp>
        <p:nvSpPr>
          <p:cNvPr id="45" name="Text 38"/>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4A5B70"/>
                </a:solidFill>
                <a:latin typeface="Courier New" pitchFamily="34" charset="0"/>
                <a:ea typeface="Courier New" pitchFamily="34" charset="-122"/>
                <a:cs typeface="Courier New" pitchFamily="34" charset="-120"/>
              </a:rPr>
              <a:t>CASE FILES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628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94960" y="-1051560"/>
            <a:ext cx="8412480" cy="4736592"/>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E7E2D8"/>
                </a:solidFill>
                <a:latin typeface="Courier New" pitchFamily="34" charset="0"/>
                <a:ea typeface="Courier New" pitchFamily="34" charset="-122"/>
                <a:cs typeface="Courier New" pitchFamily="34" charset="-120"/>
              </a:rPr>
              <a:t>AUDIENCE TEST  ·  YOU ARE THE ON-CALL OWNER</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would you let this agent do at 03:07?</a:t>
            </a:r>
            <a:endParaRPr lang="en-US" sz="3200" dirty="0"/>
          </a:p>
        </p:txBody>
      </p:sp>
      <p:sp>
        <p:nvSpPr>
          <p:cNvPr id="6" name="Shape 3"/>
          <p:cNvSpPr/>
          <p:nvPr/>
        </p:nvSpPr>
        <p:spPr>
          <a:xfrm>
            <a:off x="548640" y="1828800"/>
            <a:ext cx="2606040" cy="3017520"/>
          </a:xfrm>
          <a:prstGeom prst="rect">
            <a:avLst/>
          </a:prstGeom>
          <a:solidFill>
            <a:srgbClr val="1E3348"/>
          </a:solidFill>
          <a:ln w="9525">
            <a:solidFill>
              <a:srgbClr val="2C4560"/>
            </a:solidFill>
            <a:prstDash val="solid"/>
          </a:ln>
        </p:spPr>
        <p:txBody>
          <a:bodyPr/>
          <a:lstStyle/>
          <a:p>
            <a:endParaRPr lang="en-US"/>
          </a:p>
        </p:txBody>
      </p:sp>
      <p:sp>
        <p:nvSpPr>
          <p:cNvPr id="7" name="Shape 4"/>
          <p:cNvSpPr/>
          <p:nvPr/>
        </p:nvSpPr>
        <p:spPr>
          <a:xfrm>
            <a:off x="1463040" y="2148840"/>
            <a:ext cx="777240" cy="777240"/>
          </a:xfrm>
          <a:prstGeom prst="ellipse">
            <a:avLst/>
          </a:prstGeom>
          <a:solidFill>
            <a:srgbClr val="2C4560"/>
          </a:solidFill>
          <a:ln w="12700">
            <a:solidFill>
              <a:srgbClr val="2C4560"/>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657350" y="2343150"/>
            <a:ext cx="388620" cy="388620"/>
          </a:xfrm>
          <a:prstGeom prst="rect">
            <a:avLst/>
          </a:prstGeom>
        </p:spPr>
      </p:pic>
      <p:sp>
        <p:nvSpPr>
          <p:cNvPr id="9" name="Shape 5"/>
          <p:cNvSpPr/>
          <p:nvPr/>
        </p:nvSpPr>
        <p:spPr>
          <a:xfrm>
            <a:off x="1207008" y="3154680"/>
            <a:ext cx="1289304" cy="329184"/>
          </a:xfrm>
          <a:prstGeom prst="roundRect">
            <a:avLst>
              <a:gd name="adj" fmla="val 16667"/>
            </a:avLst>
          </a:prstGeom>
          <a:solidFill>
            <a:srgbClr val="2E7D5B"/>
          </a:solidFill>
          <a:ln w="12700">
            <a:solidFill>
              <a:srgbClr val="2E7D5B"/>
            </a:solidFill>
            <a:prstDash val="solid"/>
          </a:ln>
        </p:spPr>
        <p:txBody>
          <a:bodyPr/>
          <a:lstStyle/>
          <a:p>
            <a:endParaRPr lang="en-US"/>
          </a:p>
        </p:txBody>
      </p:sp>
      <p:sp>
        <p:nvSpPr>
          <p:cNvPr id="10" name="Text 6"/>
          <p:cNvSpPr txBox="1"/>
          <p:nvPr/>
        </p:nvSpPr>
        <p:spPr>
          <a:xfrm>
            <a:off x="1207008" y="3154680"/>
            <a:ext cx="128930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ourier New" pitchFamily="34" charset="0"/>
                <a:ea typeface="Courier New" pitchFamily="34" charset="-122"/>
                <a:cs typeface="Courier New" pitchFamily="34" charset="-120"/>
              </a:rPr>
              <a:t>ALLOW</a:t>
            </a:r>
            <a:endParaRPr lang="en-US" sz="1100" dirty="0"/>
          </a:p>
        </p:txBody>
      </p:sp>
      <p:sp>
        <p:nvSpPr>
          <p:cNvPr id="11" name="Text 7"/>
          <p:cNvSpPr txBox="1"/>
          <p:nvPr/>
        </p:nvSpPr>
        <p:spPr>
          <a:xfrm>
            <a:off x="685800" y="3657600"/>
            <a:ext cx="233172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libri" pitchFamily="34" charset="0"/>
                <a:ea typeface="Calibri" pitchFamily="34" charset="-122"/>
                <a:cs typeface="Calibri" pitchFamily="34" charset="-120"/>
              </a:rPr>
              <a:t>Read logs + events</a:t>
            </a:r>
            <a:endParaRPr lang="en-US" sz="1800" dirty="0"/>
          </a:p>
        </p:txBody>
      </p:sp>
      <p:sp>
        <p:nvSpPr>
          <p:cNvPr id="12" name="Text 8"/>
          <p:cNvSpPr txBox="1"/>
          <p:nvPr/>
        </p:nvSpPr>
        <p:spPr>
          <a:xfrm>
            <a:off x="685800" y="4114800"/>
            <a:ext cx="2331720" cy="502920"/>
          </a:xfrm>
          <a:prstGeom prst="rect">
            <a:avLst/>
          </a:prstGeom>
          <a:noFill/>
          <a:ln/>
        </p:spPr>
        <p:txBody>
          <a:bodyPr wrap="square" lIns="0" tIns="0" rIns="0" bIns="0" rtlCol="0" anchor="t"/>
          <a:lstStyle/>
          <a:p>
            <a:pPr marL="0" indent="0" algn="ctr">
              <a:buNone/>
            </a:pPr>
            <a:r>
              <a:rPr lang="en-US" sz="1300" i="1" dirty="0">
                <a:solidFill>
                  <a:srgbClr val="8E9BAA"/>
                </a:solidFill>
                <a:latin typeface="Cambria" pitchFamily="34" charset="0"/>
                <a:ea typeface="Cambria" pitchFamily="34" charset="-122"/>
                <a:cs typeface="Cambria" pitchFamily="34" charset="-120"/>
              </a:rPr>
              <a:t>Observe only.</a:t>
            </a:r>
            <a:endParaRPr lang="en-US" sz="1300" dirty="0"/>
          </a:p>
        </p:txBody>
      </p:sp>
      <p:sp>
        <p:nvSpPr>
          <p:cNvPr id="13" name="Shape 9"/>
          <p:cNvSpPr/>
          <p:nvPr/>
        </p:nvSpPr>
        <p:spPr>
          <a:xfrm>
            <a:off x="3364992" y="1828800"/>
            <a:ext cx="2606040" cy="3017520"/>
          </a:xfrm>
          <a:prstGeom prst="rect">
            <a:avLst/>
          </a:prstGeom>
          <a:solidFill>
            <a:srgbClr val="1E3348"/>
          </a:solidFill>
          <a:ln w="9525">
            <a:solidFill>
              <a:srgbClr val="2C4560"/>
            </a:solidFill>
            <a:prstDash val="solid"/>
          </a:ln>
        </p:spPr>
        <p:txBody>
          <a:bodyPr/>
          <a:lstStyle/>
          <a:p>
            <a:endParaRPr lang="en-US"/>
          </a:p>
        </p:txBody>
      </p:sp>
      <p:sp>
        <p:nvSpPr>
          <p:cNvPr id="14" name="Shape 10"/>
          <p:cNvSpPr/>
          <p:nvPr/>
        </p:nvSpPr>
        <p:spPr>
          <a:xfrm>
            <a:off x="4279392" y="2148840"/>
            <a:ext cx="777240" cy="777240"/>
          </a:xfrm>
          <a:prstGeom prst="ellipse">
            <a:avLst/>
          </a:prstGeom>
          <a:solidFill>
            <a:srgbClr val="2C4560"/>
          </a:solidFill>
          <a:ln w="12700">
            <a:solidFill>
              <a:srgbClr val="2C4560"/>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473702" y="2343150"/>
            <a:ext cx="388620" cy="388620"/>
          </a:xfrm>
          <a:prstGeom prst="rect">
            <a:avLst/>
          </a:prstGeom>
        </p:spPr>
      </p:pic>
      <p:sp>
        <p:nvSpPr>
          <p:cNvPr id="16" name="Shape 11"/>
          <p:cNvSpPr/>
          <p:nvPr/>
        </p:nvSpPr>
        <p:spPr>
          <a:xfrm>
            <a:off x="4023360" y="3154680"/>
            <a:ext cx="1289304" cy="329184"/>
          </a:xfrm>
          <a:prstGeom prst="roundRect">
            <a:avLst>
              <a:gd name="adj" fmla="val 16667"/>
            </a:avLst>
          </a:prstGeom>
          <a:solidFill>
            <a:srgbClr val="2E7D5B"/>
          </a:solidFill>
          <a:ln w="12700">
            <a:solidFill>
              <a:srgbClr val="2E7D5B"/>
            </a:solidFill>
            <a:prstDash val="solid"/>
          </a:ln>
        </p:spPr>
        <p:txBody>
          <a:bodyPr/>
          <a:lstStyle/>
          <a:p>
            <a:endParaRPr lang="en-US"/>
          </a:p>
        </p:txBody>
      </p:sp>
      <p:sp>
        <p:nvSpPr>
          <p:cNvPr id="17" name="Text 12"/>
          <p:cNvSpPr txBox="1"/>
          <p:nvPr/>
        </p:nvSpPr>
        <p:spPr>
          <a:xfrm>
            <a:off x="4023360" y="3154680"/>
            <a:ext cx="128930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ourier New" pitchFamily="34" charset="0"/>
                <a:ea typeface="Courier New" pitchFamily="34" charset="-122"/>
                <a:cs typeface="Courier New" pitchFamily="34" charset="-120"/>
              </a:rPr>
              <a:t>ALLOW</a:t>
            </a:r>
            <a:endParaRPr lang="en-US" sz="1100" dirty="0"/>
          </a:p>
        </p:txBody>
      </p:sp>
      <p:sp>
        <p:nvSpPr>
          <p:cNvPr id="18" name="Text 13"/>
          <p:cNvSpPr txBox="1"/>
          <p:nvPr/>
        </p:nvSpPr>
        <p:spPr>
          <a:xfrm>
            <a:off x="3502152" y="3657600"/>
            <a:ext cx="233172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libri" pitchFamily="34" charset="0"/>
                <a:ea typeface="Calibri" pitchFamily="34" charset="-122"/>
                <a:cs typeface="Calibri" pitchFamily="34" charset="-120"/>
              </a:rPr>
              <a:t>Propose a rollback</a:t>
            </a:r>
            <a:endParaRPr lang="en-US" sz="1800" dirty="0"/>
          </a:p>
        </p:txBody>
      </p:sp>
      <p:sp>
        <p:nvSpPr>
          <p:cNvPr id="19" name="Text 14"/>
          <p:cNvSpPr txBox="1"/>
          <p:nvPr/>
        </p:nvSpPr>
        <p:spPr>
          <a:xfrm>
            <a:off x="3502152" y="4114800"/>
            <a:ext cx="2331720" cy="502920"/>
          </a:xfrm>
          <a:prstGeom prst="rect">
            <a:avLst/>
          </a:prstGeom>
          <a:noFill/>
          <a:ln/>
        </p:spPr>
        <p:txBody>
          <a:bodyPr wrap="square" lIns="0" tIns="0" rIns="0" bIns="0" rtlCol="0" anchor="t"/>
          <a:lstStyle/>
          <a:p>
            <a:pPr marL="0" indent="0" algn="ctr">
              <a:buNone/>
            </a:pPr>
            <a:r>
              <a:rPr lang="en-US" sz="1300" i="1" dirty="0">
                <a:solidFill>
                  <a:srgbClr val="8E9BAA"/>
                </a:solidFill>
                <a:latin typeface="Cambria" pitchFamily="34" charset="0"/>
                <a:ea typeface="Cambria" pitchFamily="34" charset="-122"/>
                <a:cs typeface="Cambria" pitchFamily="34" charset="-120"/>
              </a:rPr>
              <a:t>Creates the change. Applies nothing.</a:t>
            </a:r>
            <a:endParaRPr lang="en-US" sz="1300" dirty="0"/>
          </a:p>
        </p:txBody>
      </p:sp>
      <p:sp>
        <p:nvSpPr>
          <p:cNvPr id="20" name="Shape 15"/>
          <p:cNvSpPr/>
          <p:nvPr/>
        </p:nvSpPr>
        <p:spPr>
          <a:xfrm>
            <a:off x="6181344" y="1828800"/>
            <a:ext cx="2606040" cy="3017520"/>
          </a:xfrm>
          <a:prstGeom prst="rect">
            <a:avLst/>
          </a:prstGeom>
          <a:solidFill>
            <a:srgbClr val="1E3348"/>
          </a:solidFill>
          <a:ln w="9525">
            <a:solidFill>
              <a:srgbClr val="2C4560"/>
            </a:solidFill>
            <a:prstDash val="solid"/>
          </a:ln>
        </p:spPr>
        <p:txBody>
          <a:bodyPr/>
          <a:lstStyle/>
          <a:p>
            <a:endParaRPr lang="en-US"/>
          </a:p>
        </p:txBody>
      </p:sp>
      <p:sp>
        <p:nvSpPr>
          <p:cNvPr id="21" name="Shape 16"/>
          <p:cNvSpPr/>
          <p:nvPr/>
        </p:nvSpPr>
        <p:spPr>
          <a:xfrm>
            <a:off x="7095744" y="2148840"/>
            <a:ext cx="777240" cy="777240"/>
          </a:xfrm>
          <a:prstGeom prst="ellipse">
            <a:avLst/>
          </a:prstGeom>
          <a:solidFill>
            <a:srgbClr val="2C4560"/>
          </a:solidFill>
          <a:ln w="12700">
            <a:solidFill>
              <a:srgbClr val="2C4560"/>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290054" y="2343150"/>
            <a:ext cx="388620" cy="388620"/>
          </a:xfrm>
          <a:prstGeom prst="rect">
            <a:avLst/>
          </a:prstGeom>
        </p:spPr>
      </p:pic>
      <p:sp>
        <p:nvSpPr>
          <p:cNvPr id="23" name="Shape 17"/>
          <p:cNvSpPr/>
          <p:nvPr/>
        </p:nvSpPr>
        <p:spPr>
          <a:xfrm>
            <a:off x="6839712" y="3154680"/>
            <a:ext cx="1289304" cy="329184"/>
          </a:xfrm>
          <a:prstGeom prst="roundRect">
            <a:avLst>
              <a:gd name="adj" fmla="val 16667"/>
            </a:avLst>
          </a:prstGeom>
          <a:solidFill>
            <a:srgbClr val="B0730A"/>
          </a:solidFill>
          <a:ln w="12700">
            <a:solidFill>
              <a:srgbClr val="B0730A"/>
            </a:solidFill>
            <a:prstDash val="solid"/>
          </a:ln>
        </p:spPr>
        <p:txBody>
          <a:bodyPr/>
          <a:lstStyle/>
          <a:p>
            <a:endParaRPr lang="en-US"/>
          </a:p>
        </p:txBody>
      </p:sp>
      <p:sp>
        <p:nvSpPr>
          <p:cNvPr id="24" name="Text 18"/>
          <p:cNvSpPr txBox="1"/>
          <p:nvPr/>
        </p:nvSpPr>
        <p:spPr>
          <a:xfrm>
            <a:off x="6839712" y="3154680"/>
            <a:ext cx="128930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ourier New" pitchFamily="34" charset="0"/>
                <a:ea typeface="Courier New" pitchFamily="34" charset="-122"/>
                <a:cs typeface="Courier New" pitchFamily="34" charset="-120"/>
              </a:rPr>
              <a:t>DEPENDS</a:t>
            </a:r>
            <a:endParaRPr lang="en-US" sz="1100" dirty="0"/>
          </a:p>
        </p:txBody>
      </p:sp>
      <p:sp>
        <p:nvSpPr>
          <p:cNvPr id="25" name="Text 19"/>
          <p:cNvSpPr txBox="1"/>
          <p:nvPr/>
        </p:nvSpPr>
        <p:spPr>
          <a:xfrm>
            <a:off x="6318504" y="3657600"/>
            <a:ext cx="233172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libri" pitchFamily="34" charset="0"/>
                <a:ea typeface="Calibri" pitchFamily="34" charset="-122"/>
                <a:cs typeface="Calibri" pitchFamily="34" charset="-120"/>
              </a:rPr>
              <a:t>Restart one pod</a:t>
            </a:r>
            <a:endParaRPr lang="en-US" sz="1800" dirty="0"/>
          </a:p>
        </p:txBody>
      </p:sp>
      <p:sp>
        <p:nvSpPr>
          <p:cNvPr id="26" name="Text 20"/>
          <p:cNvSpPr txBox="1"/>
          <p:nvPr/>
        </p:nvSpPr>
        <p:spPr>
          <a:xfrm>
            <a:off x="6318504" y="4114800"/>
            <a:ext cx="2331720" cy="502920"/>
          </a:xfrm>
          <a:prstGeom prst="rect">
            <a:avLst/>
          </a:prstGeom>
          <a:noFill/>
          <a:ln/>
        </p:spPr>
        <p:txBody>
          <a:bodyPr wrap="square" lIns="0" tIns="0" rIns="0" bIns="0" rtlCol="0" anchor="t"/>
          <a:lstStyle/>
          <a:p>
            <a:pPr marL="0" indent="0" algn="ctr">
              <a:buNone/>
            </a:pPr>
            <a:r>
              <a:rPr lang="en-US" sz="1300" i="1" dirty="0">
                <a:solidFill>
                  <a:srgbClr val="8E9BAA"/>
                </a:solidFill>
                <a:latin typeface="Cambria" pitchFamily="34" charset="0"/>
                <a:ea typeface="Cambria" pitchFamily="34" charset="-122"/>
                <a:cs typeface="Cambria" pitchFamily="34" charset="-120"/>
              </a:rPr>
              <a:t>Reversible? Scoped? Capped?</a:t>
            </a:r>
            <a:endParaRPr lang="en-US" sz="1300" dirty="0"/>
          </a:p>
        </p:txBody>
      </p:sp>
      <p:sp>
        <p:nvSpPr>
          <p:cNvPr id="27" name="Shape 21"/>
          <p:cNvSpPr/>
          <p:nvPr/>
        </p:nvSpPr>
        <p:spPr>
          <a:xfrm>
            <a:off x="8997696" y="1828800"/>
            <a:ext cx="2606040" cy="3017520"/>
          </a:xfrm>
          <a:prstGeom prst="rect">
            <a:avLst/>
          </a:prstGeom>
          <a:solidFill>
            <a:srgbClr val="1E3348"/>
          </a:solidFill>
          <a:ln w="9525">
            <a:solidFill>
              <a:srgbClr val="2C4560"/>
            </a:solidFill>
            <a:prstDash val="solid"/>
          </a:ln>
        </p:spPr>
        <p:txBody>
          <a:bodyPr/>
          <a:lstStyle/>
          <a:p>
            <a:endParaRPr lang="en-US"/>
          </a:p>
        </p:txBody>
      </p:sp>
      <p:sp>
        <p:nvSpPr>
          <p:cNvPr id="28" name="Shape 22"/>
          <p:cNvSpPr/>
          <p:nvPr/>
        </p:nvSpPr>
        <p:spPr>
          <a:xfrm>
            <a:off x="9912096" y="2148840"/>
            <a:ext cx="777240" cy="777240"/>
          </a:xfrm>
          <a:prstGeom prst="ellipse">
            <a:avLst/>
          </a:prstGeom>
          <a:solidFill>
            <a:srgbClr val="2C4560"/>
          </a:solidFill>
          <a:ln w="12700">
            <a:solidFill>
              <a:srgbClr val="2C4560"/>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10106406" y="2343150"/>
            <a:ext cx="388620" cy="388620"/>
          </a:xfrm>
          <a:prstGeom prst="rect">
            <a:avLst/>
          </a:prstGeom>
        </p:spPr>
      </p:pic>
      <p:sp>
        <p:nvSpPr>
          <p:cNvPr id="30" name="Shape 23"/>
          <p:cNvSpPr/>
          <p:nvPr/>
        </p:nvSpPr>
        <p:spPr>
          <a:xfrm>
            <a:off x="9656064" y="3154680"/>
            <a:ext cx="1289304" cy="329184"/>
          </a:xfrm>
          <a:prstGeom prst="roundRect">
            <a:avLst>
              <a:gd name="adj" fmla="val 16667"/>
            </a:avLst>
          </a:prstGeom>
          <a:solidFill>
            <a:srgbClr val="B5443A"/>
          </a:solidFill>
          <a:ln w="12700">
            <a:solidFill>
              <a:srgbClr val="B5443A"/>
            </a:solidFill>
            <a:prstDash val="solid"/>
          </a:ln>
        </p:spPr>
        <p:txBody>
          <a:bodyPr/>
          <a:lstStyle/>
          <a:p>
            <a:endParaRPr lang="en-US"/>
          </a:p>
        </p:txBody>
      </p:sp>
      <p:sp>
        <p:nvSpPr>
          <p:cNvPr id="31" name="Text 24"/>
          <p:cNvSpPr txBox="1"/>
          <p:nvPr/>
        </p:nvSpPr>
        <p:spPr>
          <a:xfrm>
            <a:off x="9656064" y="3154680"/>
            <a:ext cx="1289304" cy="32918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ourier New" pitchFamily="34" charset="0"/>
                <a:ea typeface="Courier New" pitchFamily="34" charset="-122"/>
                <a:cs typeface="Courier New" pitchFamily="34" charset="-120"/>
              </a:rPr>
              <a:t>BLOCK</a:t>
            </a:r>
            <a:endParaRPr lang="en-US" sz="1100" dirty="0"/>
          </a:p>
        </p:txBody>
      </p:sp>
      <p:sp>
        <p:nvSpPr>
          <p:cNvPr id="32" name="Text 25"/>
          <p:cNvSpPr txBox="1"/>
          <p:nvPr/>
        </p:nvSpPr>
        <p:spPr>
          <a:xfrm>
            <a:off x="9134856" y="3657600"/>
            <a:ext cx="233172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Calibri" pitchFamily="34" charset="0"/>
                <a:ea typeface="Calibri" pitchFamily="34" charset="-122"/>
                <a:cs typeface="Calibri" pitchFamily="34" charset="-120"/>
              </a:rPr>
              <a:t>Delete · DNS · secrets</a:t>
            </a:r>
            <a:endParaRPr lang="en-US" sz="1800" dirty="0"/>
          </a:p>
        </p:txBody>
      </p:sp>
      <p:sp>
        <p:nvSpPr>
          <p:cNvPr id="33" name="Text 26"/>
          <p:cNvSpPr txBox="1"/>
          <p:nvPr/>
        </p:nvSpPr>
        <p:spPr>
          <a:xfrm>
            <a:off x="9134856" y="4114800"/>
            <a:ext cx="2331720" cy="502920"/>
          </a:xfrm>
          <a:prstGeom prst="rect">
            <a:avLst/>
          </a:prstGeom>
          <a:noFill/>
          <a:ln/>
        </p:spPr>
        <p:txBody>
          <a:bodyPr wrap="square" lIns="0" tIns="0" rIns="0" bIns="0" rtlCol="0" anchor="t"/>
          <a:lstStyle/>
          <a:p>
            <a:pPr marL="0" indent="0" algn="ctr">
              <a:buNone/>
            </a:pPr>
            <a:r>
              <a:rPr lang="en-US" sz="1300" i="1" dirty="0">
                <a:solidFill>
                  <a:srgbClr val="8E9BAA"/>
                </a:solidFill>
                <a:latin typeface="Cambria" pitchFamily="34" charset="0"/>
                <a:ea typeface="Cambria" pitchFamily="34" charset="-122"/>
                <a:cs typeface="Cambria" pitchFamily="34" charset="-120"/>
              </a:rPr>
              <a:t>Irreversible. A human, always.</a:t>
            </a:r>
            <a:endParaRPr lang="en-US" sz="1300" dirty="0"/>
          </a:p>
        </p:txBody>
      </p:sp>
      <p:sp>
        <p:nvSpPr>
          <p:cNvPr id="34" name="Text 27"/>
          <p:cNvSpPr txBox="1"/>
          <p:nvPr/>
        </p:nvSpPr>
        <p:spPr>
          <a:xfrm>
            <a:off x="548640" y="5257800"/>
            <a:ext cx="1106424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If you said “it depends” — good. </a:t>
            </a:r>
            <a:r>
              <a:rPr lang="en-US" sz="2000" b="1" dirty="0">
                <a:solidFill>
                  <a:srgbClr val="E39A16"/>
                </a:solidFill>
                <a:latin typeface="Calibri" pitchFamily="34" charset="0"/>
                <a:ea typeface="Calibri" pitchFamily="34" charset="-122"/>
                <a:cs typeface="Calibri" pitchFamily="34" charset="-120"/>
              </a:rPr>
              <a:t>The next 20 rules define what it depends on.</a:t>
            </a:r>
            <a:endParaRPr lang="en-US" sz="2000" dirty="0"/>
          </a:p>
        </p:txBody>
      </p:sp>
      <p:sp>
        <p:nvSpPr>
          <p:cNvPr id="35" name="Text 28"/>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4A5B70"/>
                </a:solidFill>
                <a:latin typeface="Courier New" pitchFamily="34" charset="0"/>
                <a:ea typeface="Courier New" pitchFamily="34" charset="-122"/>
                <a:cs typeface="Courier New" pitchFamily="34" charset="-120"/>
              </a:rPr>
              <a:t>BEFORE YOU PUT AN AI AGENT ON CALL</a:t>
            </a:r>
            <a:endParaRPr lang="en-US" sz="750" dirty="0"/>
          </a:p>
        </p:txBody>
      </p:sp>
      <p:sp>
        <p:nvSpPr>
          <p:cNvPr id="36" name="Text 29"/>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4A5B70"/>
                </a:solidFill>
                <a:latin typeface="Courier New" pitchFamily="34" charset="0"/>
                <a:ea typeface="Courier New" pitchFamily="34" charset="-122"/>
                <a:cs typeface="Courier New" pitchFamily="34" charset="-120"/>
              </a:rPr>
              <a:t>THE QUESTION</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FIVE GATES  ·  TWENTY RULES</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Five gates before a single write permission</a:t>
            </a:r>
            <a:endParaRPr lang="en-US" sz="3200" dirty="0"/>
          </a:p>
        </p:txBody>
      </p:sp>
      <p:sp>
        <p:nvSpPr>
          <p:cNvPr id="6" name="Shape 3"/>
          <p:cNvSpPr/>
          <p:nvPr/>
        </p:nvSpPr>
        <p:spPr>
          <a:xfrm>
            <a:off x="548640" y="1737360"/>
            <a:ext cx="2048256" cy="30175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4"/>
          <p:cNvSpPr/>
          <p:nvPr/>
        </p:nvSpPr>
        <p:spPr>
          <a:xfrm>
            <a:off x="777240" y="1965960"/>
            <a:ext cx="566928" cy="566928"/>
          </a:xfrm>
          <a:prstGeom prst="ellipse">
            <a:avLst/>
          </a:prstGeom>
          <a:solidFill>
            <a:srgbClr val="E39A16"/>
          </a:solidFill>
          <a:ln w="12700">
            <a:solidFill>
              <a:srgbClr val="E39A16"/>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918972" y="2107692"/>
            <a:ext cx="283464" cy="283464"/>
          </a:xfrm>
          <a:prstGeom prst="rect">
            <a:avLst/>
          </a:prstGeom>
        </p:spPr>
      </p:pic>
      <p:sp>
        <p:nvSpPr>
          <p:cNvPr id="9" name="Text 5"/>
          <p:cNvSpPr txBox="1"/>
          <p:nvPr/>
        </p:nvSpPr>
        <p:spPr>
          <a:xfrm>
            <a:off x="1645920" y="1874520"/>
            <a:ext cx="777240" cy="548640"/>
          </a:xfrm>
          <a:prstGeom prst="rect">
            <a:avLst/>
          </a:prstGeom>
          <a:noFill/>
          <a:ln/>
        </p:spPr>
        <p:txBody>
          <a:bodyPr wrap="square" lIns="0" tIns="0" rIns="0" bIns="0" rtlCol="0" anchor="t"/>
          <a:lstStyle/>
          <a:p>
            <a:pPr marL="0" indent="0" algn="r">
              <a:buNone/>
            </a:pPr>
            <a:r>
              <a:rPr lang="en-US" sz="3000" b="1" dirty="0">
                <a:solidFill>
                  <a:srgbClr val="E7DCC6"/>
                </a:solidFill>
                <a:latin typeface="Cambria" pitchFamily="34" charset="0"/>
                <a:ea typeface="Cambria" pitchFamily="34" charset="-122"/>
                <a:cs typeface="Cambria" pitchFamily="34" charset="-120"/>
              </a:rPr>
              <a:t>I</a:t>
            </a:r>
            <a:endParaRPr lang="en-US" sz="3000" dirty="0"/>
          </a:p>
        </p:txBody>
      </p:sp>
      <p:sp>
        <p:nvSpPr>
          <p:cNvPr id="10" name="Text 6"/>
          <p:cNvSpPr txBox="1"/>
          <p:nvPr/>
        </p:nvSpPr>
        <p:spPr>
          <a:xfrm>
            <a:off x="777240" y="2743200"/>
            <a:ext cx="17373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Lead</a:t>
            </a:r>
            <a:endParaRPr lang="en-US" sz="2200" dirty="0"/>
          </a:p>
        </p:txBody>
      </p:sp>
      <p:sp>
        <p:nvSpPr>
          <p:cNvPr id="11" name="Text 7"/>
          <p:cNvSpPr txBox="1"/>
          <p:nvPr/>
        </p:nvSpPr>
        <p:spPr>
          <a:xfrm>
            <a:off x="777240" y="3200400"/>
            <a:ext cx="1691640" cy="731520"/>
          </a:xfrm>
          <a:prstGeom prst="rect">
            <a:avLst/>
          </a:prstGeom>
          <a:noFill/>
          <a:ln/>
        </p:spPr>
        <p:txBody>
          <a:bodyPr wrap="square" lIns="0" tIns="0" rIns="0" bIns="0" rtlCol="0" anchor="t"/>
          <a:lstStyle/>
          <a:p>
            <a:pPr marL="0" indent="0">
              <a:buNone/>
            </a:pPr>
            <a:r>
              <a:rPr lang="en-US" sz="1500" i="1" dirty="0">
                <a:solidFill>
                  <a:srgbClr val="B0730A"/>
                </a:solidFill>
                <a:latin typeface="Cambria" pitchFamily="34" charset="0"/>
                <a:ea typeface="Cambria" pitchFamily="34" charset="-122"/>
                <a:cs typeface="Cambria" pitchFamily="34" charset="-120"/>
              </a:rPr>
              <a:t>Who is leading?</a:t>
            </a:r>
            <a:endParaRPr lang="en-US" sz="1500" dirty="0"/>
          </a:p>
        </p:txBody>
      </p:sp>
      <p:sp>
        <p:nvSpPr>
          <p:cNvPr id="12" name="Text 8"/>
          <p:cNvSpPr txBox="1"/>
          <p:nvPr/>
        </p:nvSpPr>
        <p:spPr>
          <a:xfrm>
            <a:off x="777240" y="4297680"/>
            <a:ext cx="1737360" cy="182880"/>
          </a:xfrm>
          <a:prstGeom prst="rect">
            <a:avLst/>
          </a:prstGeom>
          <a:noFill/>
          <a:ln/>
        </p:spPr>
        <p:txBody>
          <a:bodyPr wrap="square" lIns="0" tIns="0" rIns="0" bIns="0" rtlCol="0" anchor="t"/>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RULES 01–04</a:t>
            </a:r>
            <a:endParaRPr lang="en-US" sz="900" dirty="0"/>
          </a:p>
        </p:txBody>
      </p:sp>
      <p:sp>
        <p:nvSpPr>
          <p:cNvPr id="13" name="Shape 9"/>
          <p:cNvSpPr/>
          <p:nvPr/>
        </p:nvSpPr>
        <p:spPr>
          <a:xfrm>
            <a:off x="2798064" y="1737360"/>
            <a:ext cx="2048256" cy="30175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0"/>
          <p:cNvSpPr/>
          <p:nvPr/>
        </p:nvSpPr>
        <p:spPr>
          <a:xfrm>
            <a:off x="3026664" y="1965960"/>
            <a:ext cx="566928" cy="566928"/>
          </a:xfrm>
          <a:prstGeom prst="ellipse">
            <a:avLst/>
          </a:prstGeom>
          <a:solidFill>
            <a:srgbClr val="E39A16"/>
          </a:solidFill>
          <a:ln w="12700">
            <a:solidFill>
              <a:srgbClr val="E39A16"/>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3168396" y="2107692"/>
            <a:ext cx="283464" cy="283464"/>
          </a:xfrm>
          <a:prstGeom prst="rect">
            <a:avLst/>
          </a:prstGeom>
        </p:spPr>
      </p:pic>
      <p:sp>
        <p:nvSpPr>
          <p:cNvPr id="16" name="Text 11"/>
          <p:cNvSpPr txBox="1"/>
          <p:nvPr/>
        </p:nvSpPr>
        <p:spPr>
          <a:xfrm>
            <a:off x="3895344" y="1874520"/>
            <a:ext cx="777240" cy="548640"/>
          </a:xfrm>
          <a:prstGeom prst="rect">
            <a:avLst/>
          </a:prstGeom>
          <a:noFill/>
          <a:ln/>
        </p:spPr>
        <p:txBody>
          <a:bodyPr wrap="square" lIns="0" tIns="0" rIns="0" bIns="0" rtlCol="0" anchor="t"/>
          <a:lstStyle/>
          <a:p>
            <a:pPr marL="0" indent="0" algn="r">
              <a:buNone/>
            </a:pPr>
            <a:r>
              <a:rPr lang="en-US" sz="3000" b="1" dirty="0">
                <a:solidFill>
                  <a:srgbClr val="E7DCC6"/>
                </a:solidFill>
                <a:latin typeface="Cambria" pitchFamily="34" charset="0"/>
                <a:ea typeface="Cambria" pitchFamily="34" charset="-122"/>
                <a:cs typeface="Cambria" pitchFamily="34" charset="-120"/>
              </a:rPr>
              <a:t>II</a:t>
            </a:r>
            <a:endParaRPr lang="en-US" sz="3000" dirty="0"/>
          </a:p>
        </p:txBody>
      </p:sp>
      <p:sp>
        <p:nvSpPr>
          <p:cNvPr id="17" name="Text 12"/>
          <p:cNvSpPr txBox="1"/>
          <p:nvPr/>
        </p:nvSpPr>
        <p:spPr>
          <a:xfrm>
            <a:off x="3026664" y="2743200"/>
            <a:ext cx="17373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Context</a:t>
            </a:r>
            <a:endParaRPr lang="en-US" sz="2200" dirty="0"/>
          </a:p>
        </p:txBody>
      </p:sp>
      <p:sp>
        <p:nvSpPr>
          <p:cNvPr id="18" name="Text 13"/>
          <p:cNvSpPr txBox="1"/>
          <p:nvPr/>
        </p:nvSpPr>
        <p:spPr>
          <a:xfrm>
            <a:off x="3026664" y="3200400"/>
            <a:ext cx="1691640" cy="731520"/>
          </a:xfrm>
          <a:prstGeom prst="rect">
            <a:avLst/>
          </a:prstGeom>
          <a:noFill/>
          <a:ln/>
        </p:spPr>
        <p:txBody>
          <a:bodyPr wrap="square" lIns="0" tIns="0" rIns="0" bIns="0" rtlCol="0" anchor="t"/>
          <a:lstStyle/>
          <a:p>
            <a:pPr marL="0" indent="0">
              <a:buNone/>
            </a:pPr>
            <a:r>
              <a:rPr lang="en-US" sz="1500" i="1" dirty="0">
                <a:solidFill>
                  <a:srgbClr val="B0730A"/>
                </a:solidFill>
                <a:latin typeface="Cambria" pitchFamily="34" charset="0"/>
                <a:ea typeface="Cambria" pitchFamily="34" charset="-122"/>
                <a:cs typeface="Cambria" pitchFamily="34" charset="-120"/>
              </a:rPr>
              <a:t>What does it know?</a:t>
            </a:r>
            <a:endParaRPr lang="en-US" sz="1500" dirty="0"/>
          </a:p>
        </p:txBody>
      </p:sp>
      <p:sp>
        <p:nvSpPr>
          <p:cNvPr id="19" name="Text 14"/>
          <p:cNvSpPr txBox="1"/>
          <p:nvPr/>
        </p:nvSpPr>
        <p:spPr>
          <a:xfrm>
            <a:off x="3026664" y="4297680"/>
            <a:ext cx="1737360" cy="182880"/>
          </a:xfrm>
          <a:prstGeom prst="rect">
            <a:avLst/>
          </a:prstGeom>
          <a:noFill/>
          <a:ln/>
        </p:spPr>
        <p:txBody>
          <a:bodyPr wrap="square" lIns="0" tIns="0" rIns="0" bIns="0" rtlCol="0" anchor="t"/>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RULES 05–08</a:t>
            </a:r>
            <a:endParaRPr lang="en-US" sz="900" dirty="0"/>
          </a:p>
        </p:txBody>
      </p:sp>
      <p:sp>
        <p:nvSpPr>
          <p:cNvPr id="20" name="Shape 15"/>
          <p:cNvSpPr/>
          <p:nvPr/>
        </p:nvSpPr>
        <p:spPr>
          <a:xfrm>
            <a:off x="5047488" y="1737360"/>
            <a:ext cx="2048256" cy="30175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1" name="Shape 16"/>
          <p:cNvSpPr/>
          <p:nvPr/>
        </p:nvSpPr>
        <p:spPr>
          <a:xfrm>
            <a:off x="5276088" y="1965960"/>
            <a:ext cx="566928" cy="566928"/>
          </a:xfrm>
          <a:prstGeom prst="ellipse">
            <a:avLst/>
          </a:prstGeom>
          <a:solidFill>
            <a:srgbClr val="E39A16"/>
          </a:solidFill>
          <a:ln w="12700">
            <a:solidFill>
              <a:srgbClr val="E39A16"/>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417820" y="2107692"/>
            <a:ext cx="283464" cy="283464"/>
          </a:xfrm>
          <a:prstGeom prst="rect">
            <a:avLst/>
          </a:prstGeom>
        </p:spPr>
      </p:pic>
      <p:sp>
        <p:nvSpPr>
          <p:cNvPr id="23" name="Text 17"/>
          <p:cNvSpPr txBox="1"/>
          <p:nvPr/>
        </p:nvSpPr>
        <p:spPr>
          <a:xfrm>
            <a:off x="6144768" y="1874520"/>
            <a:ext cx="777240" cy="548640"/>
          </a:xfrm>
          <a:prstGeom prst="rect">
            <a:avLst/>
          </a:prstGeom>
          <a:noFill/>
          <a:ln/>
        </p:spPr>
        <p:txBody>
          <a:bodyPr wrap="square" lIns="0" tIns="0" rIns="0" bIns="0" rtlCol="0" anchor="t"/>
          <a:lstStyle/>
          <a:p>
            <a:pPr marL="0" indent="0" algn="r">
              <a:buNone/>
            </a:pPr>
            <a:r>
              <a:rPr lang="en-US" sz="3000" b="1" dirty="0">
                <a:solidFill>
                  <a:srgbClr val="E7DCC6"/>
                </a:solidFill>
                <a:latin typeface="Cambria" pitchFamily="34" charset="0"/>
                <a:ea typeface="Cambria" pitchFamily="34" charset="-122"/>
                <a:cs typeface="Cambria" pitchFamily="34" charset="-120"/>
              </a:rPr>
              <a:t>III</a:t>
            </a:r>
            <a:endParaRPr lang="en-US" sz="3000" dirty="0"/>
          </a:p>
        </p:txBody>
      </p:sp>
      <p:sp>
        <p:nvSpPr>
          <p:cNvPr id="24" name="Text 18"/>
          <p:cNvSpPr txBox="1"/>
          <p:nvPr/>
        </p:nvSpPr>
        <p:spPr>
          <a:xfrm>
            <a:off x="5276088" y="2743200"/>
            <a:ext cx="17373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Isolate</a:t>
            </a:r>
            <a:endParaRPr lang="en-US" sz="2200" dirty="0"/>
          </a:p>
        </p:txBody>
      </p:sp>
      <p:sp>
        <p:nvSpPr>
          <p:cNvPr id="25" name="Text 19"/>
          <p:cNvSpPr txBox="1"/>
          <p:nvPr/>
        </p:nvSpPr>
        <p:spPr>
          <a:xfrm>
            <a:off x="5276088" y="3200400"/>
            <a:ext cx="1691640" cy="731520"/>
          </a:xfrm>
          <a:prstGeom prst="rect">
            <a:avLst/>
          </a:prstGeom>
          <a:noFill/>
          <a:ln/>
        </p:spPr>
        <p:txBody>
          <a:bodyPr wrap="square" lIns="0" tIns="0" rIns="0" bIns="0" rtlCol="0" anchor="t"/>
          <a:lstStyle/>
          <a:p>
            <a:pPr marL="0" indent="0">
              <a:buNone/>
            </a:pPr>
            <a:r>
              <a:rPr lang="en-US" sz="1500" i="1" dirty="0">
                <a:solidFill>
                  <a:srgbClr val="B0730A"/>
                </a:solidFill>
                <a:latin typeface="Cambria" pitchFamily="34" charset="0"/>
                <a:ea typeface="Cambria" pitchFamily="34" charset="-122"/>
                <a:cs typeface="Cambria" pitchFamily="34" charset="-120"/>
              </a:rPr>
              <a:t>Where does its work land?</a:t>
            </a:r>
            <a:endParaRPr lang="en-US" sz="1500" dirty="0"/>
          </a:p>
        </p:txBody>
      </p:sp>
      <p:sp>
        <p:nvSpPr>
          <p:cNvPr id="26" name="Text 20"/>
          <p:cNvSpPr txBox="1"/>
          <p:nvPr/>
        </p:nvSpPr>
        <p:spPr>
          <a:xfrm>
            <a:off x="5276088" y="4297680"/>
            <a:ext cx="1737360" cy="182880"/>
          </a:xfrm>
          <a:prstGeom prst="rect">
            <a:avLst/>
          </a:prstGeom>
          <a:noFill/>
          <a:ln/>
        </p:spPr>
        <p:txBody>
          <a:bodyPr wrap="square" lIns="0" tIns="0" rIns="0" bIns="0" rtlCol="0" anchor="t"/>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RULES 09–12</a:t>
            </a:r>
            <a:endParaRPr lang="en-US" sz="900" dirty="0"/>
          </a:p>
        </p:txBody>
      </p:sp>
      <p:sp>
        <p:nvSpPr>
          <p:cNvPr id="27" name="Shape 21"/>
          <p:cNvSpPr/>
          <p:nvPr/>
        </p:nvSpPr>
        <p:spPr>
          <a:xfrm>
            <a:off x="7296912" y="1737360"/>
            <a:ext cx="2048256" cy="30175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8" name="Shape 22"/>
          <p:cNvSpPr/>
          <p:nvPr/>
        </p:nvSpPr>
        <p:spPr>
          <a:xfrm>
            <a:off x="7525512" y="1965960"/>
            <a:ext cx="566928" cy="566928"/>
          </a:xfrm>
          <a:prstGeom prst="ellipse">
            <a:avLst/>
          </a:prstGeom>
          <a:solidFill>
            <a:srgbClr val="E39A16"/>
          </a:solidFill>
          <a:ln w="12700">
            <a:solidFill>
              <a:srgbClr val="E39A16"/>
            </a:solidFill>
            <a:prstDash val="solid"/>
          </a:ln>
        </p:spPr>
        <p:txBody>
          <a:bodyPr/>
          <a:lstStyle/>
          <a:p>
            <a:endParaRPr lang="en-US"/>
          </a:p>
        </p:txBody>
      </p:sp>
      <p:pic>
        <p:nvPicPr>
          <p:cNvPr id="29" name="Image 4" descr="preencoded.png"/>
          <p:cNvPicPr>
            <a:picLocks noChangeAspect="1"/>
          </p:cNvPicPr>
          <p:nvPr/>
        </p:nvPicPr>
        <p:blipFill>
          <a:blip r:embed="rId7"/>
          <a:stretch>
            <a:fillRect/>
          </a:stretch>
        </p:blipFill>
        <p:spPr>
          <a:xfrm>
            <a:off x="7667244" y="2107692"/>
            <a:ext cx="283464" cy="283464"/>
          </a:xfrm>
          <a:prstGeom prst="rect">
            <a:avLst/>
          </a:prstGeom>
        </p:spPr>
      </p:pic>
      <p:sp>
        <p:nvSpPr>
          <p:cNvPr id="30" name="Text 23"/>
          <p:cNvSpPr txBox="1"/>
          <p:nvPr/>
        </p:nvSpPr>
        <p:spPr>
          <a:xfrm>
            <a:off x="8394192" y="1874520"/>
            <a:ext cx="777240" cy="548640"/>
          </a:xfrm>
          <a:prstGeom prst="rect">
            <a:avLst/>
          </a:prstGeom>
          <a:noFill/>
          <a:ln/>
        </p:spPr>
        <p:txBody>
          <a:bodyPr wrap="square" lIns="0" tIns="0" rIns="0" bIns="0" rtlCol="0" anchor="t"/>
          <a:lstStyle/>
          <a:p>
            <a:pPr marL="0" indent="0" algn="r">
              <a:buNone/>
            </a:pPr>
            <a:r>
              <a:rPr lang="en-US" sz="3000" b="1" dirty="0">
                <a:solidFill>
                  <a:srgbClr val="E7DCC6"/>
                </a:solidFill>
                <a:latin typeface="Cambria" pitchFamily="34" charset="0"/>
                <a:ea typeface="Cambria" pitchFamily="34" charset="-122"/>
                <a:cs typeface="Cambria" pitchFamily="34" charset="-120"/>
              </a:rPr>
              <a:t>IV</a:t>
            </a:r>
            <a:endParaRPr lang="en-US" sz="3000" dirty="0"/>
          </a:p>
        </p:txBody>
      </p:sp>
      <p:sp>
        <p:nvSpPr>
          <p:cNvPr id="31" name="Text 24"/>
          <p:cNvSpPr txBox="1"/>
          <p:nvPr/>
        </p:nvSpPr>
        <p:spPr>
          <a:xfrm>
            <a:off x="7525512" y="2743200"/>
            <a:ext cx="17373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Bound</a:t>
            </a:r>
            <a:endParaRPr lang="en-US" sz="2200" dirty="0"/>
          </a:p>
        </p:txBody>
      </p:sp>
      <p:sp>
        <p:nvSpPr>
          <p:cNvPr id="32" name="Text 25"/>
          <p:cNvSpPr txBox="1"/>
          <p:nvPr/>
        </p:nvSpPr>
        <p:spPr>
          <a:xfrm>
            <a:off x="7525512" y="3200400"/>
            <a:ext cx="1691640" cy="731520"/>
          </a:xfrm>
          <a:prstGeom prst="rect">
            <a:avLst/>
          </a:prstGeom>
          <a:noFill/>
          <a:ln/>
        </p:spPr>
        <p:txBody>
          <a:bodyPr wrap="square" lIns="0" tIns="0" rIns="0" bIns="0" rtlCol="0" anchor="t"/>
          <a:lstStyle/>
          <a:p>
            <a:pPr marL="0" indent="0">
              <a:buNone/>
            </a:pPr>
            <a:r>
              <a:rPr lang="en-US" sz="1500" i="1" dirty="0">
                <a:solidFill>
                  <a:srgbClr val="B0730A"/>
                </a:solidFill>
                <a:latin typeface="Cambria" pitchFamily="34" charset="0"/>
                <a:ea typeface="Cambria" pitchFamily="34" charset="-122"/>
                <a:cs typeface="Cambria" pitchFamily="34" charset="-120"/>
              </a:rPr>
              <a:t>What can it touch?</a:t>
            </a:r>
            <a:endParaRPr lang="en-US" sz="1500" dirty="0"/>
          </a:p>
        </p:txBody>
      </p:sp>
      <p:sp>
        <p:nvSpPr>
          <p:cNvPr id="33" name="Text 26"/>
          <p:cNvSpPr txBox="1"/>
          <p:nvPr/>
        </p:nvSpPr>
        <p:spPr>
          <a:xfrm>
            <a:off x="7525512" y="4297680"/>
            <a:ext cx="1737360" cy="182880"/>
          </a:xfrm>
          <a:prstGeom prst="rect">
            <a:avLst/>
          </a:prstGeom>
          <a:noFill/>
          <a:ln/>
        </p:spPr>
        <p:txBody>
          <a:bodyPr wrap="square" lIns="0" tIns="0" rIns="0" bIns="0" rtlCol="0" anchor="t"/>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RULES 13–16</a:t>
            </a:r>
            <a:endParaRPr lang="en-US" sz="900" dirty="0"/>
          </a:p>
        </p:txBody>
      </p:sp>
      <p:sp>
        <p:nvSpPr>
          <p:cNvPr id="34" name="Shape 27"/>
          <p:cNvSpPr/>
          <p:nvPr/>
        </p:nvSpPr>
        <p:spPr>
          <a:xfrm>
            <a:off x="9546336" y="1737360"/>
            <a:ext cx="2048256" cy="30175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5" name="Shape 28"/>
          <p:cNvSpPr/>
          <p:nvPr/>
        </p:nvSpPr>
        <p:spPr>
          <a:xfrm>
            <a:off x="9774936" y="1965960"/>
            <a:ext cx="566928" cy="566928"/>
          </a:xfrm>
          <a:prstGeom prst="ellipse">
            <a:avLst/>
          </a:prstGeom>
          <a:solidFill>
            <a:srgbClr val="E39A16"/>
          </a:solidFill>
          <a:ln w="12700">
            <a:solidFill>
              <a:srgbClr val="E39A16"/>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9916668" y="2107692"/>
            <a:ext cx="283464" cy="283464"/>
          </a:xfrm>
          <a:prstGeom prst="rect">
            <a:avLst/>
          </a:prstGeom>
        </p:spPr>
      </p:pic>
      <p:sp>
        <p:nvSpPr>
          <p:cNvPr id="37" name="Text 29"/>
          <p:cNvSpPr txBox="1"/>
          <p:nvPr/>
        </p:nvSpPr>
        <p:spPr>
          <a:xfrm>
            <a:off x="10643616" y="1874520"/>
            <a:ext cx="777240" cy="548640"/>
          </a:xfrm>
          <a:prstGeom prst="rect">
            <a:avLst/>
          </a:prstGeom>
          <a:noFill/>
          <a:ln/>
        </p:spPr>
        <p:txBody>
          <a:bodyPr wrap="square" lIns="0" tIns="0" rIns="0" bIns="0" rtlCol="0" anchor="t"/>
          <a:lstStyle/>
          <a:p>
            <a:pPr marL="0" indent="0" algn="r">
              <a:buNone/>
            </a:pPr>
            <a:r>
              <a:rPr lang="en-US" sz="3000" b="1" dirty="0">
                <a:solidFill>
                  <a:srgbClr val="E7DCC6"/>
                </a:solidFill>
                <a:latin typeface="Cambria" pitchFamily="34" charset="0"/>
                <a:ea typeface="Cambria" pitchFamily="34" charset="-122"/>
                <a:cs typeface="Cambria" pitchFamily="34" charset="-120"/>
              </a:rPr>
              <a:t>V</a:t>
            </a:r>
            <a:endParaRPr lang="en-US" sz="3000" dirty="0"/>
          </a:p>
        </p:txBody>
      </p:sp>
      <p:sp>
        <p:nvSpPr>
          <p:cNvPr id="38" name="Text 30"/>
          <p:cNvSpPr txBox="1"/>
          <p:nvPr/>
        </p:nvSpPr>
        <p:spPr>
          <a:xfrm>
            <a:off x="9774936" y="2743200"/>
            <a:ext cx="17373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Prove</a:t>
            </a:r>
            <a:endParaRPr lang="en-US" sz="2200" dirty="0"/>
          </a:p>
        </p:txBody>
      </p:sp>
      <p:sp>
        <p:nvSpPr>
          <p:cNvPr id="39" name="Text 31"/>
          <p:cNvSpPr txBox="1"/>
          <p:nvPr/>
        </p:nvSpPr>
        <p:spPr>
          <a:xfrm>
            <a:off x="9774936" y="3200400"/>
            <a:ext cx="1691640" cy="731520"/>
          </a:xfrm>
          <a:prstGeom prst="rect">
            <a:avLst/>
          </a:prstGeom>
          <a:noFill/>
          <a:ln/>
        </p:spPr>
        <p:txBody>
          <a:bodyPr wrap="square" lIns="0" tIns="0" rIns="0" bIns="0" rtlCol="0" anchor="t"/>
          <a:lstStyle/>
          <a:p>
            <a:pPr marL="0" indent="0">
              <a:buNone/>
            </a:pPr>
            <a:r>
              <a:rPr lang="en-US" sz="1500" i="1" dirty="0">
                <a:solidFill>
                  <a:srgbClr val="B0730A"/>
                </a:solidFill>
                <a:latin typeface="Cambria" pitchFamily="34" charset="0"/>
                <a:ea typeface="Cambria" pitchFamily="34" charset="-122"/>
                <a:cs typeface="Cambria" pitchFamily="34" charset="-120"/>
              </a:rPr>
              <a:t>Has it earned more?</a:t>
            </a:r>
            <a:endParaRPr lang="en-US" sz="1500" dirty="0"/>
          </a:p>
        </p:txBody>
      </p:sp>
      <p:sp>
        <p:nvSpPr>
          <p:cNvPr id="40" name="Text 32"/>
          <p:cNvSpPr txBox="1"/>
          <p:nvPr/>
        </p:nvSpPr>
        <p:spPr>
          <a:xfrm>
            <a:off x="9774936" y="4297680"/>
            <a:ext cx="1737360" cy="182880"/>
          </a:xfrm>
          <a:prstGeom prst="rect">
            <a:avLst/>
          </a:prstGeom>
          <a:noFill/>
          <a:ln/>
        </p:spPr>
        <p:txBody>
          <a:bodyPr wrap="square" lIns="0" tIns="0" rIns="0" bIns="0" rtlCol="0" anchor="t"/>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RULES 17–20</a:t>
            </a:r>
            <a:endParaRPr lang="en-US" sz="900" dirty="0"/>
          </a:p>
        </p:txBody>
      </p:sp>
      <p:sp>
        <p:nvSpPr>
          <p:cNvPr id="41" name="Text 33"/>
          <p:cNvSpPr txBox="1"/>
          <p:nvPr/>
        </p:nvSpPr>
        <p:spPr>
          <a:xfrm>
            <a:off x="548640" y="5029200"/>
            <a:ext cx="11064240" cy="274320"/>
          </a:xfrm>
          <a:prstGeom prst="rect">
            <a:avLst/>
          </a:prstGeom>
          <a:noFill/>
          <a:ln/>
        </p:spPr>
        <p:txBody>
          <a:bodyPr wrap="square" lIns="0" tIns="0" rIns="0" bIns="0" rtlCol="0" anchor="t"/>
          <a:lstStyle/>
          <a:p>
            <a:pPr marL="0" indent="0" algn="ctr">
              <a:buNone/>
            </a:pPr>
            <a:r>
              <a:rPr lang="en-US" sz="1200" b="1" kern="0" spc="200" dirty="0">
                <a:solidFill>
                  <a:srgbClr val="9C8E76"/>
                </a:solidFill>
                <a:latin typeface="Courier New" pitchFamily="34" charset="0"/>
                <a:ea typeface="Courier New" pitchFamily="34" charset="-122"/>
                <a:cs typeface="Courier New" pitchFamily="34" charset="-120"/>
              </a:rPr>
              <a:t>YOUR LAPTOP  →  THE REPO  →  THE PR  →  PRODUCTION  →  MORE AUTONOMY</a:t>
            </a:r>
            <a:endParaRPr lang="en-US" sz="1200" dirty="0"/>
          </a:p>
        </p:txBody>
      </p:sp>
      <p:sp>
        <p:nvSpPr>
          <p:cNvPr id="42" name="Text 34"/>
          <p:cNvSpPr txBox="1"/>
          <p:nvPr/>
        </p:nvSpPr>
        <p:spPr>
          <a:xfrm>
            <a:off x="548640" y="5486400"/>
            <a:ext cx="11064240" cy="365760"/>
          </a:xfrm>
          <a:prstGeom prst="rect">
            <a:avLst/>
          </a:prstGeom>
          <a:noFill/>
          <a:ln/>
        </p:spPr>
        <p:txBody>
          <a:bodyPr wrap="square" lIns="0" tIns="0" rIns="0" bIns="0" rtlCol="0" anchor="t"/>
          <a:lstStyle/>
          <a:p>
            <a:pPr marL="0" indent="0" algn="ctr">
              <a:buNone/>
            </a:pPr>
            <a:r>
              <a:rPr lang="en-US" sz="1700" i="1" dirty="0">
                <a:solidFill>
                  <a:srgbClr val="132038"/>
                </a:solidFill>
                <a:latin typeface="Cambria" pitchFamily="34" charset="0"/>
                <a:ea typeface="Cambria" pitchFamily="34" charset="-122"/>
                <a:cs typeface="Cambria" pitchFamily="34" charset="-120"/>
              </a:rPr>
              <a:t>Every gate is an engineering control — not a better prompt.</a:t>
            </a:r>
            <a:endParaRPr lang="en-US" sz="1700" dirty="0"/>
          </a:p>
        </p:txBody>
      </p:sp>
      <p:sp>
        <p:nvSpPr>
          <p:cNvPr id="43" name="Text 35"/>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4" name="Text 36"/>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THE MAP</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EF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GATE I  ·  LEAD  ·  RULES 01–04</a:t>
            </a:r>
            <a:endParaRPr lang="en-US" sz="1050" dirty="0"/>
          </a:p>
        </p:txBody>
      </p:sp>
      <p:sp>
        <p:nvSpPr>
          <p:cNvPr id="5" name="Text 2"/>
          <p:cNvSpPr txBox="1"/>
          <p:nvPr/>
        </p:nvSpPr>
        <p:spPr>
          <a:xfrm>
            <a:off x="548640" y="914400"/>
            <a:ext cx="4023360" cy="822960"/>
          </a:xfrm>
          <a:prstGeom prst="rect">
            <a:avLst/>
          </a:prstGeom>
          <a:noFill/>
          <a:ln/>
        </p:spPr>
        <p:txBody>
          <a:bodyPr wrap="square" lIns="0" tIns="0" rIns="0" bIns="0" rtlCol="0" anchor="b"/>
          <a:lstStyle/>
          <a:p>
            <a:pPr marL="0" indent="0">
              <a:buNone/>
            </a:pPr>
            <a:r>
              <a:rPr lang="en-US" sz="3400" b="1" dirty="0">
                <a:solidFill>
                  <a:srgbClr val="132038"/>
                </a:solidFill>
                <a:latin typeface="Calibri" pitchFamily="34" charset="0"/>
                <a:ea typeface="Calibri" pitchFamily="34" charset="-122"/>
                <a:cs typeface="Calibri" pitchFamily="34" charset="-120"/>
              </a:rPr>
              <a:t>Lead the agent</a:t>
            </a:r>
            <a:endParaRPr lang="en-US" sz="3400" dirty="0"/>
          </a:p>
        </p:txBody>
      </p:sp>
      <p:sp>
        <p:nvSpPr>
          <p:cNvPr id="6" name="Text 3"/>
          <p:cNvSpPr txBox="1"/>
          <p:nvPr/>
        </p:nvSpPr>
        <p:spPr>
          <a:xfrm>
            <a:off x="548640" y="1810512"/>
            <a:ext cx="4023360" cy="365760"/>
          </a:xfrm>
          <a:prstGeom prst="rect">
            <a:avLst/>
          </a:prstGeom>
          <a:noFill/>
          <a:ln/>
        </p:spPr>
        <p:txBody>
          <a:bodyPr wrap="square" lIns="0" tIns="0" rIns="0" bIns="0" rtlCol="0" anchor="t"/>
          <a:lstStyle/>
          <a:p>
            <a:pPr marL="0" indent="0">
              <a:buNone/>
            </a:pPr>
            <a:r>
              <a:rPr lang="en-US" sz="1800" i="1" dirty="0">
                <a:solidFill>
                  <a:srgbClr val="B0730A"/>
                </a:solidFill>
                <a:latin typeface="Cambria" pitchFamily="34" charset="0"/>
                <a:ea typeface="Cambria" pitchFamily="34" charset="-122"/>
                <a:cs typeface="Cambria" pitchFamily="34" charset="-120"/>
              </a:rPr>
              <a:t>Who is leading?</a:t>
            </a:r>
            <a:endParaRPr lang="en-US" sz="1800" dirty="0"/>
          </a:p>
        </p:txBody>
      </p:sp>
      <p:sp>
        <p:nvSpPr>
          <p:cNvPr id="7" name="Shape 4"/>
          <p:cNvSpPr/>
          <p:nvPr/>
        </p:nvSpPr>
        <p:spPr>
          <a:xfrm>
            <a:off x="548640" y="2487168"/>
            <a:ext cx="3977640" cy="3657600"/>
          </a:xfrm>
          <a:prstGeom prst="rect">
            <a:avLst/>
          </a:prstGeom>
          <a:solidFill>
            <a:srgbClr val="16283A"/>
          </a:solidFill>
          <a:ln w="12700">
            <a:solidFill>
              <a:srgbClr val="16283A"/>
            </a:solidFill>
            <a:prstDash val="solid"/>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804672" y="2706624"/>
            <a:ext cx="3566160" cy="182880"/>
          </a:xfrm>
          <a:prstGeom prst="rect">
            <a:avLst/>
          </a:prstGeom>
          <a:noFill/>
          <a:ln/>
        </p:spPr>
        <p:txBody>
          <a:bodyPr wrap="square" lIns="0" tIns="0" rIns="0" bIns="0" rtlCol="0" anchor="t"/>
          <a:lstStyle/>
          <a:p>
            <a:pPr marL="0" indent="0">
              <a:buNone/>
            </a:pPr>
            <a:r>
              <a:rPr lang="en-US" sz="950" b="1" kern="0" spc="200" dirty="0">
                <a:solidFill>
                  <a:srgbClr val="E39A16"/>
                </a:solidFill>
                <a:latin typeface="Courier New" pitchFamily="34" charset="0"/>
                <a:ea typeface="Courier New" pitchFamily="34" charset="-122"/>
                <a:cs typeface="Courier New" pitchFamily="34" charset="-120"/>
              </a:rPr>
              <a:t>SCENARIO  ·  FEATURE WORK</a:t>
            </a:r>
            <a:endParaRPr lang="en-US" sz="950" dirty="0"/>
          </a:p>
        </p:txBody>
      </p:sp>
      <p:sp>
        <p:nvSpPr>
          <p:cNvPr id="9" name="Text 6"/>
          <p:cNvSpPr txBox="1"/>
          <p:nvPr/>
        </p:nvSpPr>
        <p:spPr>
          <a:xfrm>
            <a:off x="804672" y="2980944"/>
            <a:ext cx="3520440" cy="658368"/>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PAY-142: webhook calls fail on transient 5xx.</a:t>
            </a:r>
            <a:endParaRPr lang="en-US" sz="1650" dirty="0"/>
          </a:p>
        </p:txBody>
      </p:sp>
      <p:sp>
        <p:nvSpPr>
          <p:cNvPr id="10" name="Shape 7"/>
          <p:cNvSpPr/>
          <p:nvPr/>
        </p:nvSpPr>
        <p:spPr>
          <a:xfrm>
            <a:off x="804672" y="3749040"/>
            <a:ext cx="310896" cy="310896"/>
          </a:xfrm>
          <a:prstGeom prst="ellipse">
            <a:avLst/>
          </a:prstGeom>
          <a:solidFill>
            <a:srgbClr val="2E7D5B"/>
          </a:solidFill>
          <a:ln w="12700">
            <a:solidFill>
              <a:srgbClr val="2E7D5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82396" y="3826764"/>
            <a:ext cx="155448" cy="155448"/>
          </a:xfrm>
          <a:prstGeom prst="rect">
            <a:avLst/>
          </a:prstGeom>
        </p:spPr>
      </p:pic>
      <p:sp>
        <p:nvSpPr>
          <p:cNvPr id="12" name="Text 8"/>
          <p:cNvSpPr txBox="1"/>
          <p:nvPr/>
        </p:nvSpPr>
        <p:spPr>
          <a:xfrm>
            <a:off x="1243584" y="3721608"/>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“Retry 5xx + timeouts, never 4xx. No new dependency. Plan first.”</a:t>
            </a:r>
            <a:endParaRPr lang="en-US" sz="1250" dirty="0"/>
          </a:p>
        </p:txBody>
      </p:sp>
      <p:sp>
        <p:nvSpPr>
          <p:cNvPr id="13" name="Shape 9"/>
          <p:cNvSpPr/>
          <p:nvPr/>
        </p:nvSpPr>
        <p:spPr>
          <a:xfrm>
            <a:off x="804672" y="4407408"/>
            <a:ext cx="310896" cy="310896"/>
          </a:xfrm>
          <a:prstGeom prst="ellipse">
            <a:avLst/>
          </a:prstGeom>
          <a:solidFill>
            <a:srgbClr val="B5443A"/>
          </a:solidFill>
          <a:ln w="12700">
            <a:solidFill>
              <a:srgbClr val="B5443A"/>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82396" y="4485132"/>
            <a:ext cx="155448" cy="155448"/>
          </a:xfrm>
          <a:prstGeom prst="rect">
            <a:avLst/>
          </a:prstGeom>
        </p:spPr>
      </p:pic>
      <p:sp>
        <p:nvSpPr>
          <p:cNvPr id="15" name="Text 10"/>
          <p:cNvSpPr txBox="1"/>
          <p:nvPr/>
        </p:nvSpPr>
        <p:spPr>
          <a:xfrm>
            <a:off x="1243584" y="4379976"/>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“Add retries. Go.” It guesses the policy — and retries 4xx.</a:t>
            </a:r>
            <a:endParaRPr lang="en-US" sz="1250" dirty="0"/>
          </a:p>
        </p:txBody>
      </p:sp>
      <p:sp>
        <p:nvSpPr>
          <p:cNvPr id="16" name="Shape 11"/>
          <p:cNvSpPr/>
          <p:nvPr/>
        </p:nvSpPr>
        <p:spPr>
          <a:xfrm>
            <a:off x="804672" y="5120640"/>
            <a:ext cx="3474720" cy="0"/>
          </a:xfrm>
          <a:prstGeom prst="line">
            <a:avLst/>
          </a:prstGeom>
          <a:noFill/>
          <a:ln w="9525">
            <a:solidFill>
              <a:srgbClr val="2C4560"/>
            </a:solidFill>
            <a:prstDash val="solid"/>
          </a:ln>
        </p:spPr>
        <p:txBody>
          <a:bodyPr/>
          <a:lstStyle/>
          <a:p>
            <a:endParaRPr lang="en-US"/>
          </a:p>
        </p:txBody>
      </p:sp>
      <p:sp>
        <p:nvSpPr>
          <p:cNvPr id="17" name="Text 12"/>
          <p:cNvSpPr txBox="1"/>
          <p:nvPr/>
        </p:nvSpPr>
        <p:spPr>
          <a:xfrm>
            <a:off x="804672" y="5212080"/>
            <a:ext cx="3520440" cy="822960"/>
          </a:xfrm>
          <a:prstGeom prst="rect">
            <a:avLst/>
          </a:prstGeom>
          <a:noFill/>
          <a:ln/>
        </p:spPr>
        <p:txBody>
          <a:bodyPr wrap="square" lIns="0" tIns="0" rIns="0" bIns="0" rtlCol="0" anchor="t"/>
          <a:lstStyle/>
          <a:p>
            <a:pPr marL="0" indent="0">
              <a:buNone/>
            </a:pPr>
            <a:r>
              <a:rPr lang="en-US" sz="1200" i="1" dirty="0">
                <a:solidFill>
                  <a:srgbClr val="E39A16"/>
                </a:solidFill>
                <a:latin typeface="Cambria" pitchFamily="34" charset="0"/>
                <a:ea typeface="Cambria" pitchFamily="34" charset="-122"/>
                <a:cs typeface="Cambria" pitchFamily="34" charset="-120"/>
              </a:rPr>
              <a:t>METR, 2025: experienced devs were 19% slower with AI — and believed they were 20% faster.</a:t>
            </a:r>
            <a:endParaRPr lang="en-US" sz="1200" dirty="0"/>
          </a:p>
        </p:txBody>
      </p:sp>
      <p:sp>
        <p:nvSpPr>
          <p:cNvPr id="18" name="Shape 13"/>
          <p:cNvSpPr/>
          <p:nvPr/>
        </p:nvSpPr>
        <p:spPr>
          <a:xfrm>
            <a:off x="4800600" y="896112"/>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4"/>
          <p:cNvSpPr/>
          <p:nvPr/>
        </p:nvSpPr>
        <p:spPr>
          <a:xfrm>
            <a:off x="5074920" y="1188720"/>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225796" y="1339596"/>
            <a:ext cx="301752" cy="301752"/>
          </a:xfrm>
          <a:prstGeom prst="rect">
            <a:avLst/>
          </a:prstGeom>
        </p:spPr>
      </p:pic>
      <p:sp>
        <p:nvSpPr>
          <p:cNvPr id="21" name="Text 15"/>
          <p:cNvSpPr txBox="1"/>
          <p:nvPr/>
        </p:nvSpPr>
        <p:spPr>
          <a:xfrm>
            <a:off x="5943600" y="1115568"/>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Train it like a skill</a:t>
            </a:r>
            <a:endParaRPr lang="en-US" sz="2100" dirty="0"/>
          </a:p>
        </p:txBody>
      </p:sp>
      <p:sp>
        <p:nvSpPr>
          <p:cNvPr id="22" name="Text 16"/>
          <p:cNvSpPr txBox="1"/>
          <p:nvPr/>
        </p:nvSpPr>
        <p:spPr>
          <a:xfrm>
            <a:off x="5943600" y="1554480"/>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Start on low-risk tasks. Measure — don’t feel.</a:t>
            </a:r>
            <a:endParaRPr lang="en-US" sz="1350" dirty="0"/>
          </a:p>
        </p:txBody>
      </p:sp>
      <p:sp>
        <p:nvSpPr>
          <p:cNvPr id="23" name="Text 17"/>
          <p:cNvSpPr txBox="1"/>
          <p:nvPr/>
        </p:nvSpPr>
        <p:spPr>
          <a:xfrm>
            <a:off x="10332720" y="1078992"/>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01</a:t>
            </a:r>
            <a:endParaRPr lang="en-US" sz="4200" dirty="0"/>
          </a:p>
        </p:txBody>
      </p:sp>
      <p:sp>
        <p:nvSpPr>
          <p:cNvPr id="24" name="Shape 18"/>
          <p:cNvSpPr/>
          <p:nvPr/>
        </p:nvSpPr>
        <p:spPr>
          <a:xfrm>
            <a:off x="4800600" y="2212848"/>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19"/>
          <p:cNvSpPr/>
          <p:nvPr/>
        </p:nvSpPr>
        <p:spPr>
          <a:xfrm>
            <a:off x="5074920" y="2505456"/>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225796" y="2656332"/>
            <a:ext cx="301752" cy="301752"/>
          </a:xfrm>
          <a:prstGeom prst="rect">
            <a:avLst/>
          </a:prstGeom>
        </p:spPr>
      </p:pic>
      <p:sp>
        <p:nvSpPr>
          <p:cNvPr id="27" name="Text 20"/>
          <p:cNvSpPr txBox="1"/>
          <p:nvPr/>
        </p:nvSpPr>
        <p:spPr>
          <a:xfrm>
            <a:off x="5943600" y="2432304"/>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Give an outcome, not a command</a:t>
            </a:r>
            <a:endParaRPr lang="en-US" sz="2100" dirty="0"/>
          </a:p>
        </p:txBody>
      </p:sp>
      <p:sp>
        <p:nvSpPr>
          <p:cNvPr id="28" name="Text 21"/>
          <p:cNvSpPr txBox="1"/>
          <p:nvPr/>
        </p:nvSpPr>
        <p:spPr>
          <a:xfrm>
            <a:off x="5943600" y="2871216"/>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Goal · non-goals · constraints · acceptance test.</a:t>
            </a:r>
            <a:endParaRPr lang="en-US" sz="1350" dirty="0"/>
          </a:p>
        </p:txBody>
      </p:sp>
      <p:sp>
        <p:nvSpPr>
          <p:cNvPr id="29" name="Text 22"/>
          <p:cNvSpPr txBox="1"/>
          <p:nvPr/>
        </p:nvSpPr>
        <p:spPr>
          <a:xfrm>
            <a:off x="10332720" y="2395728"/>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02</a:t>
            </a:r>
            <a:endParaRPr lang="en-US" sz="4200" dirty="0"/>
          </a:p>
        </p:txBody>
      </p:sp>
      <p:sp>
        <p:nvSpPr>
          <p:cNvPr id="30" name="Shape 23"/>
          <p:cNvSpPr/>
          <p:nvPr/>
        </p:nvSpPr>
        <p:spPr>
          <a:xfrm>
            <a:off x="4800600" y="3529584"/>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4"/>
          <p:cNvSpPr/>
          <p:nvPr/>
        </p:nvSpPr>
        <p:spPr>
          <a:xfrm>
            <a:off x="5074920" y="3822192"/>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5225796" y="3973068"/>
            <a:ext cx="301752" cy="301752"/>
          </a:xfrm>
          <a:prstGeom prst="rect">
            <a:avLst/>
          </a:prstGeom>
        </p:spPr>
      </p:pic>
      <p:sp>
        <p:nvSpPr>
          <p:cNvPr id="33" name="Text 25"/>
          <p:cNvSpPr txBox="1"/>
          <p:nvPr/>
        </p:nvSpPr>
        <p:spPr>
          <a:xfrm>
            <a:off x="5943600" y="3749040"/>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Plan first. Approve. Then code.</a:t>
            </a:r>
            <a:endParaRPr lang="en-US" sz="2100" dirty="0"/>
          </a:p>
        </p:txBody>
      </p:sp>
      <p:sp>
        <p:nvSpPr>
          <p:cNvPr id="34" name="Text 26"/>
          <p:cNvSpPr txBox="1"/>
          <p:nvPr/>
        </p:nvSpPr>
        <p:spPr>
          <a:xfrm>
            <a:off x="5943600" y="4187952"/>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The plan lands in docs/specs/&lt;ticket&gt;.md.</a:t>
            </a:r>
            <a:endParaRPr lang="en-US" sz="1350" dirty="0"/>
          </a:p>
        </p:txBody>
      </p:sp>
      <p:sp>
        <p:nvSpPr>
          <p:cNvPr id="35" name="Text 27"/>
          <p:cNvSpPr txBox="1"/>
          <p:nvPr/>
        </p:nvSpPr>
        <p:spPr>
          <a:xfrm>
            <a:off x="10332720" y="3712464"/>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03</a:t>
            </a:r>
            <a:endParaRPr lang="en-US" sz="4200" dirty="0"/>
          </a:p>
        </p:txBody>
      </p:sp>
      <p:sp>
        <p:nvSpPr>
          <p:cNvPr id="36" name="Shape 28"/>
          <p:cNvSpPr/>
          <p:nvPr/>
        </p:nvSpPr>
        <p:spPr>
          <a:xfrm>
            <a:off x="4800600" y="4846320"/>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29"/>
          <p:cNvSpPr/>
          <p:nvPr/>
        </p:nvSpPr>
        <p:spPr>
          <a:xfrm>
            <a:off x="5074920" y="513892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5225796" y="5289804"/>
            <a:ext cx="301752" cy="301752"/>
          </a:xfrm>
          <a:prstGeom prst="rect">
            <a:avLst/>
          </a:prstGeom>
        </p:spPr>
      </p:pic>
      <p:sp>
        <p:nvSpPr>
          <p:cNvPr id="39" name="Text 30"/>
          <p:cNvSpPr txBox="1"/>
          <p:nvPr/>
        </p:nvSpPr>
        <p:spPr>
          <a:xfrm>
            <a:off x="5943600" y="5065776"/>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Small diffs. Read every one.</a:t>
            </a:r>
            <a:endParaRPr lang="en-US" sz="2100" dirty="0"/>
          </a:p>
        </p:txBody>
      </p:sp>
      <p:sp>
        <p:nvSpPr>
          <p:cNvPr id="40" name="Text 31"/>
          <p:cNvSpPr txBox="1"/>
          <p:nvPr/>
        </p:nvSpPr>
        <p:spPr>
          <a:xfrm>
            <a:off x="5943600" y="5504688"/>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Never merge what you can’t explain.</a:t>
            </a:r>
            <a:endParaRPr lang="en-US" sz="1350" dirty="0"/>
          </a:p>
        </p:txBody>
      </p:sp>
      <p:sp>
        <p:nvSpPr>
          <p:cNvPr id="41" name="Text 32"/>
          <p:cNvSpPr txBox="1"/>
          <p:nvPr/>
        </p:nvSpPr>
        <p:spPr>
          <a:xfrm>
            <a:off x="10332720" y="5029200"/>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04</a:t>
            </a:r>
            <a:endParaRPr lang="en-US" sz="4200" dirty="0"/>
          </a:p>
        </p:txBody>
      </p:sp>
      <p:sp>
        <p:nvSpPr>
          <p:cNvPr id="42" name="Text 33"/>
          <p:cNvSpPr txBox="1"/>
          <p:nvPr/>
        </p:nvSpPr>
        <p:spPr>
          <a:xfrm>
            <a:off x="548640" y="6236208"/>
            <a:ext cx="1106424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Source: METR, “Measuring the Impact of Early-2025 AI on Experienced Open-Source Developer Productivity”, Jul 2025</a:t>
            </a:r>
            <a:endParaRPr lang="en-US" sz="700" dirty="0"/>
          </a:p>
        </p:txBody>
      </p:sp>
      <p:sp>
        <p:nvSpPr>
          <p:cNvPr id="43" name="Text 34"/>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4" name="Text 35"/>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  ·  LEAD</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RULES 02 + 03 IN A REAL SESSION</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What good delegation looks like</a:t>
            </a:r>
            <a:endParaRPr lang="en-US" sz="3200" dirty="0"/>
          </a:p>
        </p:txBody>
      </p:sp>
      <p:sp>
        <p:nvSpPr>
          <p:cNvPr id="6" name="Shape 3"/>
          <p:cNvSpPr/>
          <p:nvPr/>
        </p:nvSpPr>
        <p:spPr>
          <a:xfrm>
            <a:off x="548640" y="1600200"/>
            <a:ext cx="8092440" cy="3611880"/>
          </a:xfrm>
          <a:prstGeom prst="rect">
            <a:avLst/>
          </a:prstGeom>
          <a:solidFill>
            <a:srgbClr val="132038"/>
          </a:solidFill>
          <a:ln w="12700">
            <a:solidFill>
              <a:srgbClr val="132038"/>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4"/>
          <p:cNvSpPr/>
          <p:nvPr/>
        </p:nvSpPr>
        <p:spPr>
          <a:xfrm>
            <a:off x="548640" y="1600200"/>
            <a:ext cx="8092440" cy="310896"/>
          </a:xfrm>
          <a:prstGeom prst="rect">
            <a:avLst/>
          </a:prstGeom>
          <a:solidFill>
            <a:srgbClr val="0E1829"/>
          </a:solidFill>
          <a:ln w="12700">
            <a:solidFill>
              <a:srgbClr val="0E1829"/>
            </a:solidFill>
            <a:prstDash val="solid"/>
          </a:ln>
        </p:spPr>
        <p:txBody>
          <a:bodyPr/>
          <a:lstStyle/>
          <a:p>
            <a:endParaRPr lang="en-US"/>
          </a:p>
        </p:txBody>
      </p:sp>
      <p:sp>
        <p:nvSpPr>
          <p:cNvPr id="8" name="Shape 5"/>
          <p:cNvSpPr/>
          <p:nvPr/>
        </p:nvSpPr>
        <p:spPr>
          <a:xfrm>
            <a:off x="694944" y="1700784"/>
            <a:ext cx="109728" cy="109728"/>
          </a:xfrm>
          <a:prstGeom prst="ellipse">
            <a:avLst/>
          </a:prstGeom>
          <a:solidFill>
            <a:srgbClr val="B5443A"/>
          </a:solidFill>
          <a:ln w="12700">
            <a:solidFill>
              <a:srgbClr val="B5443A"/>
            </a:solidFill>
            <a:prstDash val="solid"/>
          </a:ln>
        </p:spPr>
        <p:txBody>
          <a:bodyPr/>
          <a:lstStyle/>
          <a:p>
            <a:endParaRPr lang="en-US"/>
          </a:p>
        </p:txBody>
      </p:sp>
      <p:sp>
        <p:nvSpPr>
          <p:cNvPr id="9" name="Shape 6"/>
          <p:cNvSpPr/>
          <p:nvPr/>
        </p:nvSpPr>
        <p:spPr>
          <a:xfrm>
            <a:off x="877824" y="1700784"/>
            <a:ext cx="109728" cy="109728"/>
          </a:xfrm>
          <a:prstGeom prst="ellipse">
            <a:avLst/>
          </a:prstGeom>
          <a:solidFill>
            <a:srgbClr val="E39A16"/>
          </a:solidFill>
          <a:ln w="12700">
            <a:solidFill>
              <a:srgbClr val="E39A16"/>
            </a:solidFill>
            <a:prstDash val="solid"/>
          </a:ln>
        </p:spPr>
        <p:txBody>
          <a:bodyPr/>
          <a:lstStyle/>
          <a:p>
            <a:endParaRPr lang="en-US"/>
          </a:p>
        </p:txBody>
      </p:sp>
      <p:sp>
        <p:nvSpPr>
          <p:cNvPr id="10" name="Shape 7"/>
          <p:cNvSpPr/>
          <p:nvPr/>
        </p:nvSpPr>
        <p:spPr>
          <a:xfrm>
            <a:off x="1060704" y="1700784"/>
            <a:ext cx="109728" cy="109728"/>
          </a:xfrm>
          <a:prstGeom prst="ellipse">
            <a:avLst/>
          </a:prstGeom>
          <a:solidFill>
            <a:srgbClr val="2E7D5B"/>
          </a:solidFill>
          <a:ln w="12700">
            <a:solidFill>
              <a:srgbClr val="2E7D5B"/>
            </a:solidFill>
            <a:prstDash val="solid"/>
          </a:ln>
        </p:spPr>
        <p:txBody>
          <a:bodyPr/>
          <a:lstStyle/>
          <a:p>
            <a:endParaRPr lang="en-US"/>
          </a:p>
        </p:txBody>
      </p:sp>
      <p:sp>
        <p:nvSpPr>
          <p:cNvPr id="11" name="Text 8"/>
          <p:cNvSpPr txBox="1"/>
          <p:nvPr/>
        </p:nvSpPr>
        <p:spPr>
          <a:xfrm>
            <a:off x="1325880" y="1673352"/>
            <a:ext cx="7178040" cy="182880"/>
          </a:xfrm>
          <a:prstGeom prst="rect">
            <a:avLst/>
          </a:prstGeom>
          <a:noFill/>
          <a:ln/>
        </p:spPr>
        <p:txBody>
          <a:bodyPr wrap="square" lIns="0" tIns="0" rIns="0" bIns="0" rtlCol="0" anchor="t"/>
          <a:lstStyle/>
          <a:p>
            <a:pPr marL="0" indent="0">
              <a:buNone/>
            </a:pPr>
            <a:r>
              <a:rPr lang="en-US" sz="850" dirty="0">
                <a:solidFill>
                  <a:srgbClr val="8E9BAA"/>
                </a:solidFill>
                <a:latin typeface="Courier New" pitchFamily="34" charset="0"/>
                <a:ea typeface="Courier New" pitchFamily="34" charset="-122"/>
                <a:cs typeface="Courier New" pitchFamily="34" charset="-120"/>
              </a:rPr>
              <a:t>claude  —  ~/checkout-service  (branch: agent/PAY-142-retry)</a:t>
            </a:r>
            <a:endParaRPr lang="en-US" sz="850" dirty="0"/>
          </a:p>
        </p:txBody>
      </p:sp>
      <p:sp>
        <p:nvSpPr>
          <p:cNvPr id="12" name="Text 9"/>
          <p:cNvSpPr txBox="1"/>
          <p:nvPr/>
        </p:nvSpPr>
        <p:spPr>
          <a:xfrm>
            <a:off x="749808" y="2039112"/>
            <a:ext cx="7726680" cy="3063240"/>
          </a:xfrm>
          <a:prstGeom prst="rect">
            <a:avLst/>
          </a:prstGeom>
          <a:noFill/>
          <a:ln/>
        </p:spPr>
        <p:txBody>
          <a:bodyPr wrap="square" lIns="0" tIns="0" rIns="0" bIns="0" rtlCol="0" anchor="t"/>
          <a:lstStyle/>
          <a:p>
            <a:pPr marL="0" indent="0">
              <a:lnSpc>
                <a:spcPct val="112000"/>
              </a:lnSpc>
              <a:buNone/>
            </a:pPr>
            <a:r>
              <a:rPr lang="en-US" sz="1250" b="1" dirty="0">
                <a:solidFill>
                  <a:srgbClr val="E39A16"/>
                </a:solidFill>
                <a:latin typeface="Courier New" pitchFamily="34" charset="0"/>
                <a:ea typeface="Courier New" pitchFamily="34" charset="-122"/>
                <a:cs typeface="Courier New" pitchFamily="34" charset="-120"/>
              </a:rPr>
              <a:t>&gt; </a:t>
            </a:r>
            <a:r>
              <a:rPr lang="en-US" sz="1250" b="1" dirty="0">
                <a:solidFill>
                  <a:srgbClr val="FFFFFF"/>
                </a:solidFill>
                <a:latin typeface="Courier New" pitchFamily="34" charset="0"/>
                <a:ea typeface="Courier New" pitchFamily="34" charset="-122"/>
                <a:cs typeface="Courier New" pitchFamily="34" charset="-120"/>
              </a:rPr>
              <a:t>PAY-142: retry transient 5xx + timeouts, never 4xx.</a:t>
            </a:r>
            <a:endParaRPr lang="en-US" sz="1250" dirty="0"/>
          </a:p>
          <a:p>
            <a:pPr marL="0" indent="0">
              <a:lnSpc>
                <a:spcPct val="112000"/>
              </a:lnSpc>
              <a:buNone/>
            </a:pPr>
            <a:r>
              <a:rPr lang="en-US" sz="1250" b="1" dirty="0">
                <a:solidFill>
                  <a:srgbClr val="FFFFFF"/>
                </a:solidFill>
                <a:latin typeface="Courier New" pitchFamily="34" charset="0"/>
                <a:ea typeface="Courier New" pitchFamily="34" charset="-122"/>
                <a:cs typeface="Courier New" pitchFamily="34" charset="-120"/>
              </a:rPr>
              <a:t>  No new dependency. Plan only — don’t edit yet.</a:t>
            </a:r>
            <a:endParaRPr lang="en-US" sz="1250" dirty="0"/>
          </a:p>
          <a:p>
            <a:pPr marL="0" indent="0">
              <a:lnSpc>
                <a:spcPct val="112000"/>
              </a:lnSpc>
              <a:buNone/>
            </a:pPr>
            <a:r>
              <a:rPr lang="en-US" sz="1250" dirty="0">
                <a:solidFill>
                  <a:srgbClr val="E7E2D8"/>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A8D5C2"/>
                </a:solidFill>
                <a:latin typeface="Courier New" pitchFamily="34" charset="0"/>
                <a:ea typeface="Courier New" pitchFamily="34" charset="-122"/>
                <a:cs typeface="Courier New" pitchFamily="34" charset="-120"/>
              </a:rPr>
              <a:t>● Read  </a:t>
            </a:r>
            <a:r>
              <a:rPr lang="en-US" sz="1250" dirty="0">
                <a:solidFill>
                  <a:srgbClr val="E7E2D8"/>
                </a:solidFill>
                <a:latin typeface="Courier New" pitchFamily="34" charset="0"/>
                <a:ea typeface="Courier New" pitchFamily="34" charset="-122"/>
                <a:cs typeface="Courier New" pitchFamily="34" charset="-120"/>
              </a:rPr>
              <a:t>AGENTS.md  CLAUDE.md          </a:t>
            </a:r>
            <a:r>
              <a:rPr lang="en-US" sz="1250" dirty="0">
                <a:solidFill>
                  <a:srgbClr val="8E9BAA"/>
                </a:solidFill>
                <a:latin typeface="Courier New" pitchFamily="34" charset="0"/>
                <a:ea typeface="Courier New" pitchFamily="34" charset="-122"/>
                <a:cs typeface="Courier New" pitchFamily="34" charset="-120"/>
              </a:rPr>
              <a:t>team rules loaded</a:t>
            </a:r>
            <a:endParaRPr lang="en-US" sz="1250" dirty="0"/>
          </a:p>
          <a:p>
            <a:pPr marL="0" indent="0">
              <a:lnSpc>
                <a:spcPct val="112000"/>
              </a:lnSpc>
              <a:buNone/>
            </a:pPr>
            <a:r>
              <a:rPr lang="en-US" sz="1250" dirty="0">
                <a:solidFill>
                  <a:srgbClr val="A8D5C2"/>
                </a:solidFill>
                <a:latin typeface="Courier New" pitchFamily="34" charset="0"/>
                <a:ea typeface="Courier New" pitchFamily="34" charset="-122"/>
                <a:cs typeface="Courier New" pitchFamily="34" charset="-120"/>
              </a:rPr>
              <a:t>● Read  </a:t>
            </a:r>
            <a:r>
              <a:rPr lang="en-US" sz="1250" dirty="0">
                <a:solidFill>
                  <a:srgbClr val="E7E2D8"/>
                </a:solidFill>
                <a:latin typeface="Courier New" pitchFamily="34" charset="0"/>
                <a:ea typeface="Courier New" pitchFamily="34" charset="-122"/>
                <a:cs typeface="Courier New" pitchFamily="34" charset="-120"/>
              </a:rPr>
              <a:t>docs/adr/0007-webhook-retry-policy.md</a:t>
            </a:r>
            <a:endParaRPr lang="en-US" sz="1250" dirty="0"/>
          </a:p>
          <a:p>
            <a:pPr marL="0" indent="0">
              <a:lnSpc>
                <a:spcPct val="112000"/>
              </a:lnSpc>
              <a:buNone/>
            </a:pPr>
            <a:r>
              <a:rPr lang="en-US" sz="1250" dirty="0">
                <a:solidFill>
                  <a:srgbClr val="A8D5C2"/>
                </a:solidFill>
                <a:latin typeface="Courier New" pitchFamily="34" charset="0"/>
                <a:ea typeface="Courier New" pitchFamily="34" charset="-122"/>
                <a:cs typeface="Courier New" pitchFamily="34" charset="-120"/>
              </a:rPr>
              <a:t>● Grep  </a:t>
            </a:r>
            <a:r>
              <a:rPr lang="en-US" sz="1250" dirty="0">
                <a:solidFill>
                  <a:srgbClr val="E7E2D8"/>
                </a:solidFill>
                <a:latin typeface="Courier New" pitchFamily="34" charset="0"/>
                <a:ea typeface="Courier New" pitchFamily="34" charset="-122"/>
                <a:cs typeface="Courier New" pitchFamily="34" charset="-120"/>
              </a:rPr>
              <a:t>"sendPaymentWebhook"         </a:t>
            </a:r>
            <a:r>
              <a:rPr lang="en-US" sz="1250" dirty="0">
                <a:solidFill>
                  <a:srgbClr val="8E9BAA"/>
                </a:solidFill>
                <a:latin typeface="Courier New" pitchFamily="34" charset="0"/>
                <a:ea typeface="Courier New" pitchFamily="34" charset="-122"/>
                <a:cs typeface="Courier New" pitchFamily="34" charset="-120"/>
              </a:rPr>
              <a:t>no other callers</a:t>
            </a:r>
            <a:endParaRPr lang="en-US" sz="1250" dirty="0"/>
          </a:p>
          <a:p>
            <a:pPr marL="0" indent="0">
              <a:lnSpc>
                <a:spcPct val="112000"/>
              </a:lnSpc>
              <a:buNone/>
            </a:pPr>
            <a:r>
              <a:rPr lang="en-US" sz="1250" dirty="0">
                <a:solidFill>
                  <a:srgbClr val="A8D5C2"/>
                </a:solidFill>
                <a:latin typeface="Courier New" pitchFamily="34" charset="0"/>
                <a:ea typeface="Courier New" pitchFamily="34" charset="-122"/>
                <a:cs typeface="Courier New" pitchFamily="34" charset="-120"/>
              </a:rPr>
              <a:t>● Write </a:t>
            </a:r>
            <a:r>
              <a:rPr lang="en-US" sz="1250" dirty="0">
                <a:solidFill>
                  <a:srgbClr val="E7E2D8"/>
                </a:solidFill>
                <a:latin typeface="Courier New" pitchFamily="34" charset="0"/>
                <a:ea typeface="Courier New" pitchFamily="34" charset="-122"/>
                <a:cs typeface="Courier New" pitchFamily="34" charset="-120"/>
              </a:rPr>
              <a:t>docs/specs/PAY-142.md        </a:t>
            </a:r>
            <a:r>
              <a:rPr lang="en-US" sz="1250" dirty="0">
                <a:solidFill>
                  <a:srgbClr val="8E9BAA"/>
                </a:solidFill>
                <a:latin typeface="Courier New" pitchFamily="34" charset="0"/>
                <a:ea typeface="Courier New" pitchFamily="34" charset="-122"/>
                <a:cs typeface="Courier New" pitchFamily="34" charset="-120"/>
              </a:rPr>
              <a:t>the plan — no code yet</a:t>
            </a:r>
            <a:endParaRPr lang="en-US" sz="1250" dirty="0"/>
          </a:p>
          <a:p>
            <a:pPr marL="0" indent="0">
              <a:lnSpc>
                <a:spcPct val="112000"/>
              </a:lnSpc>
              <a:buNone/>
            </a:pPr>
            <a:r>
              <a:rPr lang="en-US" sz="1250" dirty="0">
                <a:solidFill>
                  <a:srgbClr val="E7E2D8"/>
                </a:solidFill>
                <a:latin typeface="Courier New" pitchFamily="34" charset="0"/>
                <a:ea typeface="Courier New" pitchFamily="34" charset="-122"/>
                <a:cs typeface="Courier New" pitchFamily="34" charset="-120"/>
              </a:rPr>
              <a:t>    Retry 5xx + timeouts, never 4xx · backoff 200ms ×2, max 4</a:t>
            </a:r>
            <a:endParaRPr lang="en-US" sz="1250" dirty="0"/>
          </a:p>
          <a:p>
            <a:pPr marL="0" indent="0">
              <a:lnSpc>
                <a:spcPct val="112000"/>
              </a:lnSpc>
              <a:buNone/>
            </a:pPr>
            <a:r>
              <a:rPr lang="en-US" sz="1250" dirty="0">
                <a:solidFill>
                  <a:srgbClr val="E7E2D8"/>
                </a:solidFill>
                <a:latin typeface="Courier New" pitchFamily="34" charset="0"/>
                <a:ea typeface="Courier New" pitchFamily="34" charset="-122"/>
                <a:cs typeface="Courier New" pitchFamily="34" charset="-120"/>
              </a:rPr>
              <a:t>    1 file + tests · ~50–80 lines · API contract unchanged</a:t>
            </a:r>
            <a:endParaRPr lang="en-US" sz="1250" dirty="0"/>
          </a:p>
          <a:p>
            <a:pPr marL="0" indent="0">
              <a:lnSpc>
                <a:spcPct val="112000"/>
              </a:lnSpc>
              <a:buNone/>
            </a:pPr>
            <a:r>
              <a:rPr lang="en-US" sz="1250" b="1" dirty="0">
                <a:solidFill>
                  <a:srgbClr val="E39A16"/>
                </a:solidFill>
                <a:latin typeface="Courier New" pitchFamily="34" charset="0"/>
                <a:ea typeface="Courier New" pitchFamily="34" charset="-122"/>
                <a:cs typeface="Courier New" pitchFamily="34" charset="-120"/>
              </a:rPr>
              <a:t>  ? </a:t>
            </a:r>
            <a:r>
              <a:rPr lang="en-US" sz="1250" dirty="0">
                <a:solidFill>
                  <a:srgbClr val="E39A16"/>
                </a:solidFill>
                <a:latin typeface="Courier New" pitchFamily="34" charset="0"/>
                <a:ea typeface="Courier New" pitchFamily="34" charset="-122"/>
                <a:cs typeface="Courier New" pitchFamily="34" charset="-120"/>
              </a:rPr>
              <a:t>After 4 failures: return the 5xx, or throw?</a:t>
            </a:r>
            <a:endParaRPr lang="en-US" sz="1250" dirty="0"/>
          </a:p>
          <a:p>
            <a:pPr marL="0" indent="0">
              <a:lnSpc>
                <a:spcPct val="112000"/>
              </a:lnSpc>
              <a:buNone/>
            </a:pPr>
            <a:r>
              <a:rPr lang="en-US" sz="1250" b="1" dirty="0">
                <a:solidFill>
                  <a:srgbClr val="FFFFFF"/>
                </a:solidFill>
                <a:latin typeface="Courier New" pitchFamily="34" charset="0"/>
                <a:ea typeface="Courier New" pitchFamily="34" charset="-122"/>
                <a:cs typeface="Courier New" pitchFamily="34" charset="-120"/>
              </a:rPr>
              <a:t>  Waiting for your approval before changing any code.</a:t>
            </a:r>
            <a:endParaRPr lang="en-US" sz="1250" dirty="0"/>
          </a:p>
        </p:txBody>
      </p:sp>
      <p:sp>
        <p:nvSpPr>
          <p:cNvPr id="13" name="Shape 10"/>
          <p:cNvSpPr/>
          <p:nvPr/>
        </p:nvSpPr>
        <p:spPr>
          <a:xfrm>
            <a:off x="8915400" y="1600200"/>
            <a:ext cx="2697480" cy="361188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4" name="Text 11"/>
          <p:cNvSpPr txBox="1"/>
          <p:nvPr/>
        </p:nvSpPr>
        <p:spPr>
          <a:xfrm>
            <a:off x="9144000" y="1783080"/>
            <a:ext cx="2286000" cy="182880"/>
          </a:xfrm>
          <a:prstGeom prst="rect">
            <a:avLst/>
          </a:prstGeom>
          <a:noFill/>
          <a:ln/>
        </p:spPr>
        <p:txBody>
          <a:bodyPr wrap="square" lIns="0" tIns="0" rIns="0" bIns="0" rtlCol="0" anchor="t"/>
          <a:lstStyle/>
          <a:p>
            <a:pPr marL="0" indent="0">
              <a:buNone/>
            </a:pPr>
            <a:r>
              <a:rPr lang="en-US" sz="900" b="1" kern="0" spc="200" dirty="0">
                <a:solidFill>
                  <a:srgbClr val="1D6F8B"/>
                </a:solidFill>
                <a:latin typeface="Courier New" pitchFamily="34" charset="0"/>
                <a:ea typeface="Courier New" pitchFamily="34" charset="-122"/>
                <a:cs typeface="Courier New" pitchFamily="34" charset="-120"/>
              </a:rPr>
              <a:t>SAME PATTERN IN</a:t>
            </a:r>
            <a:endParaRPr lang="en-US" sz="900" dirty="0"/>
          </a:p>
        </p:txBody>
      </p:sp>
      <p:sp>
        <p:nvSpPr>
          <p:cNvPr id="15" name="Text 12"/>
          <p:cNvSpPr txBox="1"/>
          <p:nvPr/>
        </p:nvSpPr>
        <p:spPr>
          <a:xfrm>
            <a:off x="9144000" y="2148840"/>
            <a:ext cx="2377440" cy="292608"/>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Claude Code  </a:t>
            </a:r>
            <a:r>
              <a:rPr lang="en-US" sz="1000" dirty="0">
                <a:solidFill>
                  <a:srgbClr val="9C8E76"/>
                </a:solidFill>
                <a:latin typeface="Calibri" pitchFamily="34" charset="0"/>
                <a:ea typeface="Calibri" pitchFamily="34" charset="-122"/>
                <a:cs typeface="Calibri" pitchFamily="34" charset="-120"/>
              </a:rPr>
              <a:t>Anthropic</a:t>
            </a:r>
            <a:endParaRPr lang="en-US" sz="1350" dirty="0"/>
          </a:p>
        </p:txBody>
      </p:sp>
      <p:sp>
        <p:nvSpPr>
          <p:cNvPr id="16" name="Shape 13"/>
          <p:cNvSpPr/>
          <p:nvPr/>
        </p:nvSpPr>
        <p:spPr>
          <a:xfrm>
            <a:off x="9144000" y="2542032"/>
            <a:ext cx="2240280" cy="0"/>
          </a:xfrm>
          <a:prstGeom prst="line">
            <a:avLst/>
          </a:prstGeom>
          <a:noFill/>
          <a:ln w="6350">
            <a:solidFill>
              <a:srgbClr val="E6E0D5"/>
            </a:solidFill>
            <a:prstDash val="solid"/>
          </a:ln>
        </p:spPr>
        <p:txBody>
          <a:bodyPr/>
          <a:lstStyle/>
          <a:p>
            <a:endParaRPr lang="en-US"/>
          </a:p>
        </p:txBody>
      </p:sp>
      <p:sp>
        <p:nvSpPr>
          <p:cNvPr id="17" name="Text 14"/>
          <p:cNvSpPr txBox="1"/>
          <p:nvPr/>
        </p:nvSpPr>
        <p:spPr>
          <a:xfrm>
            <a:off x="9144000" y="2624328"/>
            <a:ext cx="2377440" cy="292608"/>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Copilot agent  </a:t>
            </a:r>
            <a:r>
              <a:rPr lang="en-US" sz="1000" dirty="0">
                <a:solidFill>
                  <a:srgbClr val="9C8E76"/>
                </a:solidFill>
                <a:latin typeface="Calibri" pitchFamily="34" charset="0"/>
                <a:ea typeface="Calibri" pitchFamily="34" charset="-122"/>
                <a:cs typeface="Calibri" pitchFamily="34" charset="-120"/>
              </a:rPr>
              <a:t>GitHub</a:t>
            </a:r>
            <a:endParaRPr lang="en-US" sz="1350" dirty="0"/>
          </a:p>
        </p:txBody>
      </p:sp>
      <p:sp>
        <p:nvSpPr>
          <p:cNvPr id="18" name="Shape 15"/>
          <p:cNvSpPr/>
          <p:nvPr/>
        </p:nvSpPr>
        <p:spPr>
          <a:xfrm>
            <a:off x="9144000" y="3017520"/>
            <a:ext cx="2240280" cy="0"/>
          </a:xfrm>
          <a:prstGeom prst="line">
            <a:avLst/>
          </a:prstGeom>
          <a:noFill/>
          <a:ln w="6350">
            <a:solidFill>
              <a:srgbClr val="E6E0D5"/>
            </a:solidFill>
            <a:prstDash val="solid"/>
          </a:ln>
        </p:spPr>
        <p:txBody>
          <a:bodyPr/>
          <a:lstStyle/>
          <a:p>
            <a:endParaRPr lang="en-US"/>
          </a:p>
        </p:txBody>
      </p:sp>
      <p:sp>
        <p:nvSpPr>
          <p:cNvPr id="19" name="Text 16"/>
          <p:cNvSpPr txBox="1"/>
          <p:nvPr/>
        </p:nvSpPr>
        <p:spPr>
          <a:xfrm>
            <a:off x="9144000" y="3099816"/>
            <a:ext cx="2377440" cy="292608"/>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Codex  </a:t>
            </a:r>
            <a:r>
              <a:rPr lang="en-US" sz="1000" dirty="0">
                <a:solidFill>
                  <a:srgbClr val="9C8E76"/>
                </a:solidFill>
                <a:latin typeface="Calibri" pitchFamily="34" charset="0"/>
                <a:ea typeface="Calibri" pitchFamily="34" charset="-122"/>
                <a:cs typeface="Calibri" pitchFamily="34" charset="-120"/>
              </a:rPr>
              <a:t>OpenAI</a:t>
            </a:r>
            <a:endParaRPr lang="en-US" sz="1350" dirty="0"/>
          </a:p>
        </p:txBody>
      </p:sp>
      <p:sp>
        <p:nvSpPr>
          <p:cNvPr id="20" name="Shape 17"/>
          <p:cNvSpPr/>
          <p:nvPr/>
        </p:nvSpPr>
        <p:spPr>
          <a:xfrm>
            <a:off x="9144000" y="3493008"/>
            <a:ext cx="2240280" cy="0"/>
          </a:xfrm>
          <a:prstGeom prst="line">
            <a:avLst/>
          </a:prstGeom>
          <a:noFill/>
          <a:ln w="6350">
            <a:solidFill>
              <a:srgbClr val="E6E0D5"/>
            </a:solidFill>
            <a:prstDash val="solid"/>
          </a:ln>
        </p:spPr>
        <p:txBody>
          <a:bodyPr/>
          <a:lstStyle/>
          <a:p>
            <a:endParaRPr lang="en-US"/>
          </a:p>
        </p:txBody>
      </p:sp>
      <p:sp>
        <p:nvSpPr>
          <p:cNvPr id="21" name="Text 18"/>
          <p:cNvSpPr txBox="1"/>
          <p:nvPr/>
        </p:nvSpPr>
        <p:spPr>
          <a:xfrm>
            <a:off x="9144000" y="3575304"/>
            <a:ext cx="2377440" cy="292608"/>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Cursor  </a:t>
            </a:r>
            <a:r>
              <a:rPr lang="en-US" sz="1000" dirty="0">
                <a:solidFill>
                  <a:srgbClr val="9C8E76"/>
                </a:solidFill>
                <a:latin typeface="Calibri" pitchFamily="34" charset="0"/>
                <a:ea typeface="Calibri" pitchFamily="34" charset="-122"/>
                <a:cs typeface="Calibri" pitchFamily="34" charset="-120"/>
              </a:rPr>
              <a:t>Anysphere</a:t>
            </a:r>
            <a:endParaRPr lang="en-US" sz="1350" dirty="0"/>
          </a:p>
        </p:txBody>
      </p:sp>
      <p:sp>
        <p:nvSpPr>
          <p:cNvPr id="22" name="Shape 19"/>
          <p:cNvSpPr/>
          <p:nvPr/>
        </p:nvSpPr>
        <p:spPr>
          <a:xfrm>
            <a:off x="9144000" y="3968496"/>
            <a:ext cx="2240280" cy="0"/>
          </a:xfrm>
          <a:prstGeom prst="line">
            <a:avLst/>
          </a:prstGeom>
          <a:noFill/>
          <a:ln w="6350">
            <a:solidFill>
              <a:srgbClr val="E6E0D5"/>
            </a:solidFill>
            <a:prstDash val="solid"/>
          </a:ln>
        </p:spPr>
        <p:txBody>
          <a:bodyPr/>
          <a:lstStyle/>
          <a:p>
            <a:endParaRPr lang="en-US"/>
          </a:p>
        </p:txBody>
      </p:sp>
      <p:sp>
        <p:nvSpPr>
          <p:cNvPr id="23" name="Text 20"/>
          <p:cNvSpPr txBox="1"/>
          <p:nvPr/>
        </p:nvSpPr>
        <p:spPr>
          <a:xfrm>
            <a:off x="9144000" y="4050792"/>
            <a:ext cx="2377440" cy="292608"/>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Gemini CLI  </a:t>
            </a:r>
            <a:r>
              <a:rPr lang="en-US" sz="1000" dirty="0">
                <a:solidFill>
                  <a:srgbClr val="9C8E76"/>
                </a:solidFill>
                <a:latin typeface="Calibri" pitchFamily="34" charset="0"/>
                <a:ea typeface="Calibri" pitchFamily="34" charset="-122"/>
                <a:cs typeface="Calibri" pitchFamily="34" charset="-120"/>
              </a:rPr>
              <a:t>Google</a:t>
            </a:r>
            <a:endParaRPr lang="en-US" sz="1350" dirty="0"/>
          </a:p>
        </p:txBody>
      </p:sp>
      <p:sp>
        <p:nvSpPr>
          <p:cNvPr id="24" name="Shape 21"/>
          <p:cNvSpPr/>
          <p:nvPr/>
        </p:nvSpPr>
        <p:spPr>
          <a:xfrm>
            <a:off x="9144000" y="4443984"/>
            <a:ext cx="2240280" cy="0"/>
          </a:xfrm>
          <a:prstGeom prst="line">
            <a:avLst/>
          </a:prstGeom>
          <a:noFill/>
          <a:ln w="6350">
            <a:solidFill>
              <a:srgbClr val="E6E0D5"/>
            </a:solidFill>
            <a:prstDash val="solid"/>
          </a:ln>
        </p:spPr>
        <p:txBody>
          <a:bodyPr/>
          <a:lstStyle/>
          <a:p>
            <a:endParaRPr lang="en-US"/>
          </a:p>
        </p:txBody>
      </p:sp>
      <p:sp>
        <p:nvSpPr>
          <p:cNvPr id="25" name="Text 22"/>
          <p:cNvSpPr txBox="1"/>
          <p:nvPr/>
        </p:nvSpPr>
        <p:spPr>
          <a:xfrm>
            <a:off x="9144000" y="4526280"/>
            <a:ext cx="2377440" cy="292608"/>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Kiro  </a:t>
            </a:r>
            <a:r>
              <a:rPr lang="en-US" sz="1000" dirty="0">
                <a:solidFill>
                  <a:srgbClr val="9C8E76"/>
                </a:solidFill>
                <a:latin typeface="Calibri" pitchFamily="34" charset="0"/>
                <a:ea typeface="Calibri" pitchFamily="34" charset="-122"/>
                <a:cs typeface="Calibri" pitchFamily="34" charset="-120"/>
              </a:rPr>
              <a:t>AWS</a:t>
            </a:r>
            <a:endParaRPr lang="en-US" sz="1350" dirty="0"/>
          </a:p>
        </p:txBody>
      </p:sp>
      <p:sp>
        <p:nvSpPr>
          <p:cNvPr id="26" name="Shape 23"/>
          <p:cNvSpPr/>
          <p:nvPr/>
        </p:nvSpPr>
        <p:spPr>
          <a:xfrm>
            <a:off x="548640" y="5440680"/>
            <a:ext cx="11064240" cy="658368"/>
          </a:xfrm>
          <a:prstGeom prst="rect">
            <a:avLst/>
          </a:prstGeom>
          <a:solidFill>
            <a:srgbClr val="F1EBE0"/>
          </a:solidFill>
          <a:ln w="12700">
            <a:solidFill>
              <a:srgbClr val="F1EBE0"/>
            </a:solidFill>
            <a:prstDash val="solid"/>
          </a:ln>
        </p:spPr>
        <p:txBody>
          <a:bodyPr/>
          <a:lstStyle/>
          <a:p>
            <a:endParaRPr lang="en-US"/>
          </a:p>
        </p:txBody>
      </p:sp>
      <p:sp>
        <p:nvSpPr>
          <p:cNvPr id="27" name="Text 24"/>
          <p:cNvSpPr txBox="1"/>
          <p:nvPr/>
        </p:nvSpPr>
        <p:spPr>
          <a:xfrm>
            <a:off x="777240" y="5440680"/>
            <a:ext cx="6583680" cy="658368"/>
          </a:xfrm>
          <a:prstGeom prst="rect">
            <a:avLst/>
          </a:prstGeom>
          <a:noFill/>
          <a:ln/>
        </p:spPr>
        <p:txBody>
          <a:bodyPr wrap="square" lIns="0" tIns="0" rIns="0" bIns="0" rtlCol="0" anchor="ctr"/>
          <a:lstStyle/>
          <a:p>
            <a:pPr marL="0" indent="0">
              <a:buNone/>
            </a:pPr>
            <a:r>
              <a:rPr lang="en-US" sz="1100" b="1" kern="0" spc="200" dirty="0">
                <a:solidFill>
                  <a:srgbClr val="1D6F8B"/>
                </a:solidFill>
                <a:latin typeface="Courier New" pitchFamily="34" charset="0"/>
                <a:ea typeface="Courier New" pitchFamily="34" charset="-122"/>
                <a:cs typeface="Courier New" pitchFamily="34" charset="-120"/>
              </a:rPr>
              <a:t>AN AGENT =  </a:t>
            </a:r>
            <a:r>
              <a:rPr lang="en-US" sz="1900" dirty="0">
                <a:solidFill>
                  <a:srgbClr val="132038"/>
                </a:solidFill>
                <a:latin typeface="Calibri" pitchFamily="34" charset="0"/>
                <a:ea typeface="Calibri" pitchFamily="34" charset="-122"/>
                <a:cs typeface="Calibri" pitchFamily="34" charset="-120"/>
              </a:rPr>
              <a:t>a model + tools + a loop + </a:t>
            </a:r>
            <a:r>
              <a:rPr lang="en-US" sz="1900" b="1" dirty="0">
                <a:solidFill>
                  <a:srgbClr val="B0730A"/>
                </a:solidFill>
                <a:latin typeface="Calibri" pitchFamily="34" charset="0"/>
                <a:ea typeface="Calibri" pitchFamily="34" charset="-122"/>
                <a:cs typeface="Calibri" pitchFamily="34" charset="-120"/>
              </a:rPr>
              <a:t>permissions</a:t>
            </a:r>
            <a:endParaRPr lang="en-US" sz="1100" dirty="0"/>
          </a:p>
        </p:txBody>
      </p:sp>
      <p:sp>
        <p:nvSpPr>
          <p:cNvPr id="28" name="Text 25"/>
          <p:cNvSpPr txBox="1"/>
          <p:nvPr/>
        </p:nvSpPr>
        <p:spPr>
          <a:xfrm>
            <a:off x="7315200" y="5440680"/>
            <a:ext cx="4114800" cy="658368"/>
          </a:xfrm>
          <a:prstGeom prst="rect">
            <a:avLst/>
          </a:prstGeom>
          <a:noFill/>
          <a:ln/>
        </p:spPr>
        <p:txBody>
          <a:bodyPr wrap="square" lIns="0" tIns="0" rIns="0" bIns="0" rtlCol="0" anchor="ctr"/>
          <a:lstStyle/>
          <a:p>
            <a:pPr marL="0" indent="0">
              <a:buNone/>
            </a:pPr>
            <a:r>
              <a:rPr lang="en-US" sz="1400" i="1" dirty="0">
                <a:solidFill>
                  <a:srgbClr val="132038"/>
                </a:solidFill>
                <a:latin typeface="Cambria" pitchFamily="34" charset="0"/>
                <a:ea typeface="Cambria" pitchFamily="34" charset="-122"/>
                <a:cs typeface="Cambria" pitchFamily="34" charset="-120"/>
              </a:rPr>
              <a:t>Permissions = blast radius: everything it can break.</a:t>
            </a:r>
            <a:endParaRPr lang="en-US" sz="1400" dirty="0"/>
          </a:p>
        </p:txBody>
      </p:sp>
      <p:sp>
        <p:nvSpPr>
          <p:cNvPr id="29" name="Text 26"/>
          <p:cNvSpPr txBox="1"/>
          <p:nvPr/>
        </p:nvSpPr>
        <p:spPr>
          <a:xfrm>
            <a:off x="548640" y="6199632"/>
            <a:ext cx="731520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REAL RUN  ·  CLAUDE CODE 2.1  ·  SAMPLE REPO: GITHUB.COM/HANYGHEIT/AI-AGENT-ON-CALL</a:t>
            </a:r>
            <a:endParaRPr lang="en-US" sz="700" dirty="0"/>
          </a:p>
        </p:txBody>
      </p:sp>
      <p:sp>
        <p:nvSpPr>
          <p:cNvPr id="30" name="Text 27"/>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31" name="Text 28"/>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  ·  IN PRACTICE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EF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GATE II  ·  CONTEXT  ·  RULES 05–08</a:t>
            </a:r>
            <a:endParaRPr lang="en-US" sz="1050" dirty="0"/>
          </a:p>
        </p:txBody>
      </p:sp>
      <p:sp>
        <p:nvSpPr>
          <p:cNvPr id="5" name="Text 2"/>
          <p:cNvSpPr txBox="1"/>
          <p:nvPr/>
        </p:nvSpPr>
        <p:spPr>
          <a:xfrm>
            <a:off x="548640" y="914400"/>
            <a:ext cx="4023360" cy="822960"/>
          </a:xfrm>
          <a:prstGeom prst="rect">
            <a:avLst/>
          </a:prstGeom>
          <a:noFill/>
          <a:ln/>
        </p:spPr>
        <p:txBody>
          <a:bodyPr wrap="square" lIns="0" tIns="0" rIns="0" bIns="0" rtlCol="0" anchor="b"/>
          <a:lstStyle/>
          <a:p>
            <a:pPr marL="0" indent="0">
              <a:buNone/>
            </a:pPr>
            <a:r>
              <a:rPr lang="en-US" sz="3400" b="1" dirty="0">
                <a:solidFill>
                  <a:srgbClr val="132038"/>
                </a:solidFill>
                <a:latin typeface="Calibri" pitchFamily="34" charset="0"/>
                <a:ea typeface="Calibri" pitchFamily="34" charset="-122"/>
                <a:cs typeface="Calibri" pitchFamily="34" charset="-120"/>
              </a:rPr>
              <a:t>Engineer the context</a:t>
            </a:r>
            <a:endParaRPr lang="en-US" sz="3400" dirty="0"/>
          </a:p>
        </p:txBody>
      </p:sp>
      <p:sp>
        <p:nvSpPr>
          <p:cNvPr id="6" name="Text 3"/>
          <p:cNvSpPr txBox="1"/>
          <p:nvPr/>
        </p:nvSpPr>
        <p:spPr>
          <a:xfrm>
            <a:off x="548640" y="1810512"/>
            <a:ext cx="4023360" cy="365760"/>
          </a:xfrm>
          <a:prstGeom prst="rect">
            <a:avLst/>
          </a:prstGeom>
          <a:noFill/>
          <a:ln/>
        </p:spPr>
        <p:txBody>
          <a:bodyPr wrap="square" lIns="0" tIns="0" rIns="0" bIns="0" rtlCol="0" anchor="t"/>
          <a:lstStyle/>
          <a:p>
            <a:pPr marL="0" indent="0">
              <a:buNone/>
            </a:pPr>
            <a:r>
              <a:rPr lang="en-US" sz="1800" i="1" dirty="0">
                <a:solidFill>
                  <a:srgbClr val="B0730A"/>
                </a:solidFill>
                <a:latin typeface="Cambria" pitchFamily="34" charset="0"/>
                <a:ea typeface="Cambria" pitchFamily="34" charset="-122"/>
                <a:cs typeface="Cambria" pitchFamily="34" charset="-120"/>
              </a:rPr>
              <a:t>What does it know?</a:t>
            </a:r>
            <a:endParaRPr lang="en-US" sz="1800" dirty="0"/>
          </a:p>
        </p:txBody>
      </p:sp>
      <p:sp>
        <p:nvSpPr>
          <p:cNvPr id="7" name="Shape 4"/>
          <p:cNvSpPr/>
          <p:nvPr/>
        </p:nvSpPr>
        <p:spPr>
          <a:xfrm>
            <a:off x="548640" y="2487168"/>
            <a:ext cx="3977640" cy="3657600"/>
          </a:xfrm>
          <a:prstGeom prst="rect">
            <a:avLst/>
          </a:prstGeom>
          <a:solidFill>
            <a:srgbClr val="16283A"/>
          </a:solidFill>
          <a:ln w="12700">
            <a:solidFill>
              <a:srgbClr val="16283A"/>
            </a:solidFill>
            <a:prstDash val="solid"/>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804672" y="2706624"/>
            <a:ext cx="3566160" cy="182880"/>
          </a:xfrm>
          <a:prstGeom prst="rect">
            <a:avLst/>
          </a:prstGeom>
          <a:noFill/>
          <a:ln/>
        </p:spPr>
        <p:txBody>
          <a:bodyPr wrap="square" lIns="0" tIns="0" rIns="0" bIns="0" rtlCol="0" anchor="t"/>
          <a:lstStyle/>
          <a:p>
            <a:pPr marL="0" indent="0">
              <a:buNone/>
            </a:pPr>
            <a:r>
              <a:rPr lang="en-US" sz="950" b="1" kern="0" spc="200" dirty="0">
                <a:solidFill>
                  <a:srgbClr val="E39A16"/>
                </a:solidFill>
                <a:latin typeface="Courier New" pitchFamily="34" charset="0"/>
                <a:ea typeface="Courier New" pitchFamily="34" charset="-122"/>
                <a:cs typeface="Courier New" pitchFamily="34" charset="-120"/>
              </a:rPr>
              <a:t>SCENARIO  ·  MONDAY MORNING</a:t>
            </a:r>
            <a:endParaRPr lang="en-US" sz="950" dirty="0"/>
          </a:p>
        </p:txBody>
      </p:sp>
      <p:sp>
        <p:nvSpPr>
          <p:cNvPr id="9" name="Text 6"/>
          <p:cNvSpPr txBox="1"/>
          <p:nvPr/>
        </p:nvSpPr>
        <p:spPr>
          <a:xfrm>
            <a:off x="804672" y="2980944"/>
            <a:ext cx="3520440" cy="658368"/>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One new engineer and three agents join the repo.</a:t>
            </a:r>
            <a:endParaRPr lang="en-US" sz="1650" dirty="0"/>
          </a:p>
        </p:txBody>
      </p:sp>
      <p:sp>
        <p:nvSpPr>
          <p:cNvPr id="10" name="Shape 7"/>
          <p:cNvSpPr/>
          <p:nvPr/>
        </p:nvSpPr>
        <p:spPr>
          <a:xfrm>
            <a:off x="804672" y="3749040"/>
            <a:ext cx="310896" cy="310896"/>
          </a:xfrm>
          <a:prstGeom prst="ellipse">
            <a:avLst/>
          </a:prstGeom>
          <a:solidFill>
            <a:srgbClr val="2E7D5B"/>
          </a:solidFill>
          <a:ln w="12700">
            <a:solidFill>
              <a:srgbClr val="2E7D5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82396" y="3826764"/>
            <a:ext cx="155448" cy="155448"/>
          </a:xfrm>
          <a:prstGeom prst="rect">
            <a:avLst/>
          </a:prstGeom>
        </p:spPr>
      </p:pic>
      <p:sp>
        <p:nvSpPr>
          <p:cNvPr id="12" name="Text 8"/>
          <p:cNvSpPr txBox="1"/>
          <p:nvPr/>
        </p:nvSpPr>
        <p:spPr>
          <a:xfrm>
            <a:off x="1243584" y="3721608"/>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All read the same AGENTS.md, ADRs and runbooks.</a:t>
            </a:r>
            <a:endParaRPr lang="en-US" sz="1250" dirty="0"/>
          </a:p>
        </p:txBody>
      </p:sp>
      <p:sp>
        <p:nvSpPr>
          <p:cNvPr id="13" name="Shape 9"/>
          <p:cNvSpPr/>
          <p:nvPr/>
        </p:nvSpPr>
        <p:spPr>
          <a:xfrm>
            <a:off x="804672" y="4407408"/>
            <a:ext cx="310896" cy="310896"/>
          </a:xfrm>
          <a:prstGeom prst="ellipse">
            <a:avLst/>
          </a:prstGeom>
          <a:solidFill>
            <a:srgbClr val="B5443A"/>
          </a:solidFill>
          <a:ln w="12700">
            <a:solidFill>
              <a:srgbClr val="B5443A"/>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82396" y="4485132"/>
            <a:ext cx="155448" cy="155448"/>
          </a:xfrm>
          <a:prstGeom prst="rect">
            <a:avLst/>
          </a:prstGeom>
        </p:spPr>
      </p:pic>
      <p:sp>
        <p:nvSpPr>
          <p:cNvPr id="15" name="Text 10"/>
          <p:cNvSpPr txBox="1"/>
          <p:nvPr/>
        </p:nvSpPr>
        <p:spPr>
          <a:xfrm>
            <a:off x="1243584" y="4379976"/>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The rules live in someone’s chat history.</a:t>
            </a:r>
            <a:endParaRPr lang="en-US" sz="1250" dirty="0"/>
          </a:p>
        </p:txBody>
      </p:sp>
      <p:sp>
        <p:nvSpPr>
          <p:cNvPr id="16" name="Shape 11"/>
          <p:cNvSpPr/>
          <p:nvPr/>
        </p:nvSpPr>
        <p:spPr>
          <a:xfrm>
            <a:off x="804672" y="5120640"/>
            <a:ext cx="3474720" cy="0"/>
          </a:xfrm>
          <a:prstGeom prst="line">
            <a:avLst/>
          </a:prstGeom>
          <a:noFill/>
          <a:ln w="9525">
            <a:solidFill>
              <a:srgbClr val="2C4560"/>
            </a:solidFill>
            <a:prstDash val="solid"/>
          </a:ln>
        </p:spPr>
        <p:txBody>
          <a:bodyPr/>
          <a:lstStyle/>
          <a:p>
            <a:endParaRPr lang="en-US"/>
          </a:p>
        </p:txBody>
      </p:sp>
      <p:sp>
        <p:nvSpPr>
          <p:cNvPr id="17" name="Text 12"/>
          <p:cNvSpPr txBox="1"/>
          <p:nvPr/>
        </p:nvSpPr>
        <p:spPr>
          <a:xfrm>
            <a:off x="804672" y="5212080"/>
            <a:ext cx="3520440" cy="822960"/>
          </a:xfrm>
          <a:prstGeom prst="rect">
            <a:avLst/>
          </a:prstGeom>
          <a:noFill/>
          <a:ln/>
        </p:spPr>
        <p:txBody>
          <a:bodyPr wrap="square" lIns="0" tIns="0" rIns="0" bIns="0" rtlCol="0" anchor="t"/>
          <a:lstStyle/>
          <a:p>
            <a:pPr marL="0" indent="0">
              <a:buNone/>
            </a:pPr>
            <a:r>
              <a:rPr lang="en-US" sz="1200" i="1" dirty="0">
                <a:solidFill>
                  <a:srgbClr val="E39A16"/>
                </a:solidFill>
                <a:latin typeface="Cambria" pitchFamily="34" charset="0"/>
                <a:ea typeface="Cambria" pitchFamily="34" charset="-122"/>
                <a:cs typeface="Cambria" pitchFamily="34" charset="-120"/>
              </a:rPr>
              <a:t>DORA 2025: AI is an amplifier — it magnifies a team’s strengths and its dysfunctions.</a:t>
            </a:r>
            <a:endParaRPr lang="en-US" sz="1200" dirty="0"/>
          </a:p>
        </p:txBody>
      </p:sp>
      <p:sp>
        <p:nvSpPr>
          <p:cNvPr id="18" name="Shape 13"/>
          <p:cNvSpPr/>
          <p:nvPr/>
        </p:nvSpPr>
        <p:spPr>
          <a:xfrm>
            <a:off x="4800600" y="896112"/>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4"/>
          <p:cNvSpPr/>
          <p:nvPr/>
        </p:nvSpPr>
        <p:spPr>
          <a:xfrm>
            <a:off x="5074920" y="1188720"/>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225796" y="1339596"/>
            <a:ext cx="301752" cy="301752"/>
          </a:xfrm>
          <a:prstGeom prst="rect">
            <a:avLst/>
          </a:prstGeom>
        </p:spPr>
      </p:pic>
      <p:sp>
        <p:nvSpPr>
          <p:cNvPr id="21" name="Text 15"/>
          <p:cNvSpPr txBox="1"/>
          <p:nvPr/>
        </p:nvSpPr>
        <p:spPr>
          <a:xfrm>
            <a:off x="5943600" y="1115568"/>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Write the team’s AGENTS.md</a:t>
            </a:r>
            <a:endParaRPr lang="en-US" sz="2100" dirty="0"/>
          </a:p>
        </p:txBody>
      </p:sp>
      <p:sp>
        <p:nvSpPr>
          <p:cNvPr id="22" name="Text 16"/>
          <p:cNvSpPr txBox="1"/>
          <p:nvPr/>
        </p:nvSpPr>
        <p:spPr>
          <a:xfrm>
            <a:off x="5943600" y="1554480"/>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Stack · commands · conventions · a “Never” list.</a:t>
            </a:r>
            <a:endParaRPr lang="en-US" sz="1350" dirty="0"/>
          </a:p>
        </p:txBody>
      </p:sp>
      <p:sp>
        <p:nvSpPr>
          <p:cNvPr id="23" name="Text 17"/>
          <p:cNvSpPr txBox="1"/>
          <p:nvPr/>
        </p:nvSpPr>
        <p:spPr>
          <a:xfrm>
            <a:off x="10332720" y="1078992"/>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05</a:t>
            </a:r>
            <a:endParaRPr lang="en-US" sz="4200" dirty="0"/>
          </a:p>
        </p:txBody>
      </p:sp>
      <p:sp>
        <p:nvSpPr>
          <p:cNvPr id="24" name="Shape 18"/>
          <p:cNvSpPr/>
          <p:nvPr/>
        </p:nvSpPr>
        <p:spPr>
          <a:xfrm>
            <a:off x="4800600" y="2212848"/>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19"/>
          <p:cNvSpPr/>
          <p:nvPr/>
        </p:nvSpPr>
        <p:spPr>
          <a:xfrm>
            <a:off x="5074920" y="2505456"/>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225796" y="2656332"/>
            <a:ext cx="301752" cy="301752"/>
          </a:xfrm>
          <a:prstGeom prst="rect">
            <a:avLst/>
          </a:prstGeom>
        </p:spPr>
      </p:pic>
      <p:sp>
        <p:nvSpPr>
          <p:cNvPr id="27" name="Text 20"/>
          <p:cNvSpPr txBox="1"/>
          <p:nvPr/>
        </p:nvSpPr>
        <p:spPr>
          <a:xfrm>
            <a:off x="5943600" y="2432304"/>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Make architecture discoverable</a:t>
            </a:r>
            <a:endParaRPr lang="en-US" sz="2100" dirty="0"/>
          </a:p>
        </p:txBody>
      </p:sp>
      <p:sp>
        <p:nvSpPr>
          <p:cNvPr id="28" name="Text 21"/>
          <p:cNvSpPr txBox="1"/>
          <p:nvPr/>
        </p:nvSpPr>
        <p:spPr>
          <a:xfrm>
            <a:off x="5943600" y="2871216"/>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ADRs, runbooks and API contracts in docs/.</a:t>
            </a:r>
            <a:endParaRPr lang="en-US" sz="1350" dirty="0"/>
          </a:p>
        </p:txBody>
      </p:sp>
      <p:sp>
        <p:nvSpPr>
          <p:cNvPr id="29" name="Text 22"/>
          <p:cNvSpPr txBox="1"/>
          <p:nvPr/>
        </p:nvSpPr>
        <p:spPr>
          <a:xfrm>
            <a:off x="10332720" y="2395728"/>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06</a:t>
            </a:r>
            <a:endParaRPr lang="en-US" sz="4200" dirty="0"/>
          </a:p>
        </p:txBody>
      </p:sp>
      <p:sp>
        <p:nvSpPr>
          <p:cNvPr id="30" name="Shape 23"/>
          <p:cNvSpPr/>
          <p:nvPr/>
        </p:nvSpPr>
        <p:spPr>
          <a:xfrm>
            <a:off x="4800600" y="3529584"/>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4"/>
          <p:cNvSpPr/>
          <p:nvPr/>
        </p:nvSpPr>
        <p:spPr>
          <a:xfrm>
            <a:off x="5074920" y="3822192"/>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5225796" y="3973068"/>
            <a:ext cx="301752" cy="301752"/>
          </a:xfrm>
          <a:prstGeom prst="rect">
            <a:avLst/>
          </a:prstGeom>
        </p:spPr>
      </p:pic>
      <p:sp>
        <p:nvSpPr>
          <p:cNvPr id="33" name="Text 25"/>
          <p:cNvSpPr txBox="1"/>
          <p:nvPr/>
        </p:nvSpPr>
        <p:spPr>
          <a:xfrm>
            <a:off x="5943600" y="3749040"/>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Plans live in .md, not in chat</a:t>
            </a:r>
            <a:endParaRPr lang="en-US" sz="2100" dirty="0"/>
          </a:p>
        </p:txBody>
      </p:sp>
      <p:sp>
        <p:nvSpPr>
          <p:cNvPr id="34" name="Text 26"/>
          <p:cNvSpPr txBox="1"/>
          <p:nvPr/>
        </p:nvSpPr>
        <p:spPr>
          <a:xfrm>
            <a:off x="5943600" y="4187952"/>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Memory belongs in the repo, not the session.</a:t>
            </a:r>
            <a:endParaRPr lang="en-US" sz="1350" dirty="0"/>
          </a:p>
        </p:txBody>
      </p:sp>
      <p:sp>
        <p:nvSpPr>
          <p:cNvPr id="35" name="Text 27"/>
          <p:cNvSpPr txBox="1"/>
          <p:nvPr/>
        </p:nvSpPr>
        <p:spPr>
          <a:xfrm>
            <a:off x="10332720" y="3712464"/>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07</a:t>
            </a:r>
            <a:endParaRPr lang="en-US" sz="4200" dirty="0"/>
          </a:p>
        </p:txBody>
      </p:sp>
      <p:sp>
        <p:nvSpPr>
          <p:cNvPr id="36" name="Shape 28"/>
          <p:cNvSpPr/>
          <p:nvPr/>
        </p:nvSpPr>
        <p:spPr>
          <a:xfrm>
            <a:off x="4800600" y="4846320"/>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29"/>
          <p:cNvSpPr/>
          <p:nvPr/>
        </p:nvSpPr>
        <p:spPr>
          <a:xfrm>
            <a:off x="5074920" y="513892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5225796" y="5289804"/>
            <a:ext cx="301752" cy="301752"/>
          </a:xfrm>
          <a:prstGeom prst="rect">
            <a:avLst/>
          </a:prstGeom>
        </p:spPr>
      </p:pic>
      <p:sp>
        <p:nvSpPr>
          <p:cNvPr id="39" name="Text 30"/>
          <p:cNvSpPr txBox="1"/>
          <p:nvPr/>
        </p:nvSpPr>
        <p:spPr>
          <a:xfrm>
            <a:off x="5943600" y="5065776"/>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Version the agent setup in Git</a:t>
            </a:r>
            <a:endParaRPr lang="en-US" sz="2100" dirty="0"/>
          </a:p>
        </p:txBody>
      </p:sp>
      <p:sp>
        <p:nvSpPr>
          <p:cNvPr id="40" name="Text 31"/>
          <p:cNvSpPr txBox="1"/>
          <p:nvPr/>
        </p:nvSpPr>
        <p:spPr>
          <a:xfrm>
            <a:off x="5943600" y="5504688"/>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Settings, hooks, skills — CODEOWNERS-protected.</a:t>
            </a:r>
            <a:endParaRPr lang="en-US" sz="1350" dirty="0"/>
          </a:p>
        </p:txBody>
      </p:sp>
      <p:sp>
        <p:nvSpPr>
          <p:cNvPr id="41" name="Text 32"/>
          <p:cNvSpPr txBox="1"/>
          <p:nvPr/>
        </p:nvSpPr>
        <p:spPr>
          <a:xfrm>
            <a:off x="10332720" y="5029200"/>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08</a:t>
            </a:r>
            <a:endParaRPr lang="en-US" sz="4200" dirty="0"/>
          </a:p>
        </p:txBody>
      </p:sp>
      <p:sp>
        <p:nvSpPr>
          <p:cNvPr id="42" name="Text 33"/>
          <p:cNvSpPr txBox="1"/>
          <p:nvPr/>
        </p:nvSpPr>
        <p:spPr>
          <a:xfrm>
            <a:off x="548640" y="6236208"/>
            <a:ext cx="1106424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Source: DORA, State of AI-assisted Software Development, Sep 2025</a:t>
            </a:r>
            <a:endParaRPr lang="en-US" sz="700" dirty="0"/>
          </a:p>
        </p:txBody>
      </p:sp>
      <p:sp>
        <p:nvSpPr>
          <p:cNvPr id="43" name="Text 34"/>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4" name="Text 35"/>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II  ·  CONTEXT</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COPY THIS  ·  PHOTOGRAPH IT</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The repo is the agent’s operating manual</a:t>
            </a:r>
            <a:endParaRPr lang="en-US" sz="3200" dirty="0"/>
          </a:p>
        </p:txBody>
      </p:sp>
      <p:sp>
        <p:nvSpPr>
          <p:cNvPr id="6" name="Shape 3"/>
          <p:cNvSpPr/>
          <p:nvPr/>
        </p:nvSpPr>
        <p:spPr>
          <a:xfrm>
            <a:off x="548640" y="1572768"/>
            <a:ext cx="6309360" cy="4224528"/>
          </a:xfrm>
          <a:prstGeom prst="rect">
            <a:avLst/>
          </a:prstGeom>
          <a:solidFill>
            <a:srgbClr val="132038"/>
          </a:solidFill>
          <a:ln w="12700">
            <a:solidFill>
              <a:srgbClr val="132038"/>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4"/>
          <p:cNvSpPr/>
          <p:nvPr/>
        </p:nvSpPr>
        <p:spPr>
          <a:xfrm>
            <a:off x="548640" y="1572768"/>
            <a:ext cx="6309360" cy="310896"/>
          </a:xfrm>
          <a:prstGeom prst="rect">
            <a:avLst/>
          </a:prstGeom>
          <a:solidFill>
            <a:srgbClr val="0E1829"/>
          </a:solidFill>
          <a:ln w="12700">
            <a:solidFill>
              <a:srgbClr val="0E1829"/>
            </a:solidFill>
            <a:prstDash val="solid"/>
          </a:ln>
        </p:spPr>
        <p:txBody>
          <a:bodyPr/>
          <a:lstStyle/>
          <a:p>
            <a:endParaRPr lang="en-US"/>
          </a:p>
        </p:txBody>
      </p:sp>
      <p:sp>
        <p:nvSpPr>
          <p:cNvPr id="8" name="Shape 5"/>
          <p:cNvSpPr/>
          <p:nvPr/>
        </p:nvSpPr>
        <p:spPr>
          <a:xfrm>
            <a:off x="694944" y="1673352"/>
            <a:ext cx="109728" cy="109728"/>
          </a:xfrm>
          <a:prstGeom prst="ellipse">
            <a:avLst/>
          </a:prstGeom>
          <a:solidFill>
            <a:srgbClr val="B5443A"/>
          </a:solidFill>
          <a:ln w="12700">
            <a:solidFill>
              <a:srgbClr val="B5443A"/>
            </a:solidFill>
            <a:prstDash val="solid"/>
          </a:ln>
        </p:spPr>
        <p:txBody>
          <a:bodyPr/>
          <a:lstStyle/>
          <a:p>
            <a:endParaRPr lang="en-US"/>
          </a:p>
        </p:txBody>
      </p:sp>
      <p:sp>
        <p:nvSpPr>
          <p:cNvPr id="9" name="Shape 6"/>
          <p:cNvSpPr/>
          <p:nvPr/>
        </p:nvSpPr>
        <p:spPr>
          <a:xfrm>
            <a:off x="877824" y="1673352"/>
            <a:ext cx="109728" cy="109728"/>
          </a:xfrm>
          <a:prstGeom prst="ellipse">
            <a:avLst/>
          </a:prstGeom>
          <a:solidFill>
            <a:srgbClr val="E39A16"/>
          </a:solidFill>
          <a:ln w="12700">
            <a:solidFill>
              <a:srgbClr val="E39A16"/>
            </a:solidFill>
            <a:prstDash val="solid"/>
          </a:ln>
        </p:spPr>
        <p:txBody>
          <a:bodyPr/>
          <a:lstStyle/>
          <a:p>
            <a:endParaRPr lang="en-US"/>
          </a:p>
        </p:txBody>
      </p:sp>
      <p:sp>
        <p:nvSpPr>
          <p:cNvPr id="10" name="Shape 7"/>
          <p:cNvSpPr/>
          <p:nvPr/>
        </p:nvSpPr>
        <p:spPr>
          <a:xfrm>
            <a:off x="1060704" y="1673352"/>
            <a:ext cx="109728" cy="109728"/>
          </a:xfrm>
          <a:prstGeom prst="ellipse">
            <a:avLst/>
          </a:prstGeom>
          <a:solidFill>
            <a:srgbClr val="2E7D5B"/>
          </a:solidFill>
          <a:ln w="12700">
            <a:solidFill>
              <a:srgbClr val="2E7D5B"/>
            </a:solidFill>
            <a:prstDash val="solid"/>
          </a:ln>
        </p:spPr>
        <p:txBody>
          <a:bodyPr/>
          <a:lstStyle/>
          <a:p>
            <a:endParaRPr lang="en-US"/>
          </a:p>
        </p:txBody>
      </p:sp>
      <p:sp>
        <p:nvSpPr>
          <p:cNvPr id="11" name="Text 8"/>
          <p:cNvSpPr txBox="1"/>
          <p:nvPr/>
        </p:nvSpPr>
        <p:spPr>
          <a:xfrm>
            <a:off x="1325880" y="1645920"/>
            <a:ext cx="5394960" cy="182880"/>
          </a:xfrm>
          <a:prstGeom prst="rect">
            <a:avLst/>
          </a:prstGeom>
          <a:noFill/>
          <a:ln/>
        </p:spPr>
        <p:txBody>
          <a:bodyPr wrap="square" lIns="0" tIns="0" rIns="0" bIns="0" rtlCol="0" anchor="t"/>
          <a:lstStyle/>
          <a:p>
            <a:pPr marL="0" indent="0">
              <a:buNone/>
            </a:pPr>
            <a:r>
              <a:rPr lang="en-US" sz="850" dirty="0">
                <a:solidFill>
                  <a:srgbClr val="8E9BAA"/>
                </a:solidFill>
                <a:latin typeface="Courier New" pitchFamily="34" charset="0"/>
                <a:ea typeface="Courier New" pitchFamily="34" charset="-122"/>
                <a:cs typeface="Courier New" pitchFamily="34" charset="-120"/>
              </a:rPr>
              <a:t>tree checkout-service</a:t>
            </a:r>
            <a:endParaRPr lang="en-US" sz="850" dirty="0"/>
          </a:p>
        </p:txBody>
      </p:sp>
      <p:sp>
        <p:nvSpPr>
          <p:cNvPr id="12" name="Text 9"/>
          <p:cNvSpPr txBox="1"/>
          <p:nvPr/>
        </p:nvSpPr>
        <p:spPr>
          <a:xfrm>
            <a:off x="749808" y="2011680"/>
            <a:ext cx="5943600" cy="3675888"/>
          </a:xfrm>
          <a:prstGeom prst="rect">
            <a:avLst/>
          </a:prstGeom>
          <a:noFill/>
          <a:ln/>
        </p:spPr>
        <p:txBody>
          <a:bodyPr wrap="square" lIns="0" tIns="0" rIns="0" bIns="0" rtlCol="0" anchor="t"/>
          <a:lstStyle/>
          <a:p>
            <a:pPr marL="0" indent="0">
              <a:lnSpc>
                <a:spcPct val="108000"/>
              </a:lnSpc>
              <a:buNone/>
            </a:pPr>
            <a:r>
              <a:rPr lang="en-US" sz="1050" b="1" dirty="0">
                <a:solidFill>
                  <a:srgbClr val="E39A16"/>
                </a:solidFill>
                <a:latin typeface="Courier New" pitchFamily="34" charset="0"/>
                <a:ea typeface="Courier New" pitchFamily="34" charset="-122"/>
                <a:cs typeface="Courier New" pitchFamily="34" charset="-120"/>
              </a:rPr>
              <a:t>checkout-service/</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a:t>
            </a:r>
            <a:r>
              <a:rPr lang="en-US" sz="1050" b="1" dirty="0">
                <a:solidFill>
                  <a:srgbClr val="FFFFFF"/>
                </a:solidFill>
                <a:latin typeface="Courier New" pitchFamily="34" charset="0"/>
                <a:ea typeface="Courier New" pitchFamily="34" charset="-122"/>
                <a:cs typeface="Courier New" pitchFamily="34" charset="-120"/>
              </a:rPr>
              <a:t>AGENTS.md</a:t>
            </a:r>
            <a:r>
              <a:rPr lang="en-US" sz="1050" dirty="0">
                <a:solidFill>
                  <a:srgbClr val="8E9BAA"/>
                </a:solidFill>
                <a:latin typeface="Courier New" pitchFamily="34" charset="0"/>
                <a:ea typeface="Courier New" pitchFamily="34" charset="-122"/>
                <a:cs typeface="Courier New" pitchFamily="34" charset="-120"/>
              </a:rPr>
              <a:t>              # rules every agent reads</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a:t>
            </a:r>
            <a:r>
              <a:rPr lang="en-US" sz="1050" b="1" dirty="0">
                <a:solidFill>
                  <a:srgbClr val="FFFFFF"/>
                </a:solidFill>
                <a:latin typeface="Courier New" pitchFamily="34" charset="0"/>
                <a:ea typeface="Courier New" pitchFamily="34" charset="-122"/>
                <a:cs typeface="Courier New" pitchFamily="34" charset="-120"/>
              </a:rPr>
              <a:t>CLAUDE.md</a:t>
            </a:r>
            <a:r>
              <a:rPr lang="en-US" sz="1050" dirty="0">
                <a:solidFill>
                  <a:srgbClr val="8E9BAA"/>
                </a:solidFill>
                <a:latin typeface="Courier New" pitchFamily="34" charset="0"/>
                <a:ea typeface="Courier New" pitchFamily="34" charset="-122"/>
                <a:cs typeface="Courier New" pitchFamily="34" charset="-120"/>
              </a:rPr>
              <a:t>              # @AGENTS.md + Claude specifics</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a:t>
            </a:r>
            <a:r>
              <a:rPr lang="en-US" sz="1050" b="1" dirty="0">
                <a:solidFill>
                  <a:srgbClr val="E39A16"/>
                </a:solidFill>
                <a:latin typeface="Courier New" pitchFamily="34" charset="0"/>
                <a:ea typeface="Courier New" pitchFamily="34" charset="-122"/>
                <a:cs typeface="Courier New" pitchFamily="34" charset="-120"/>
              </a:rPr>
              <a:t>.claude/</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 settings.json</a:t>
            </a:r>
            <a:r>
              <a:rPr lang="en-US" sz="1050" dirty="0">
                <a:solidFill>
                  <a:srgbClr val="8E9BAA"/>
                </a:solidFill>
                <a:latin typeface="Courier New" pitchFamily="34" charset="0"/>
                <a:ea typeface="Courier New" pitchFamily="34" charset="-122"/>
                <a:cs typeface="Courier New" pitchFamily="34" charset="-120"/>
              </a:rPr>
              <a:t>       # permissions + hooks</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 settings.local.json</a:t>
            </a:r>
            <a:r>
              <a:rPr lang="en-US" sz="1050" dirty="0">
                <a:solidFill>
                  <a:srgbClr val="8E9BAA"/>
                </a:solidFill>
                <a:latin typeface="Courier New" pitchFamily="34" charset="0"/>
                <a:ea typeface="Courier New" pitchFamily="34" charset="-122"/>
                <a:cs typeface="Courier New" pitchFamily="34" charset="-120"/>
              </a:rPr>
              <a:t> # personal · gitignored</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 hooks/</a:t>
            </a:r>
            <a:r>
              <a:rPr lang="en-US" sz="1050" dirty="0">
                <a:solidFill>
                  <a:srgbClr val="8E9BAA"/>
                </a:solidFill>
                <a:latin typeface="Courier New" pitchFamily="34" charset="0"/>
                <a:ea typeface="Courier New" pitchFamily="34" charset="-122"/>
                <a:cs typeface="Courier New" pitchFamily="34" charset="-120"/>
              </a:rPr>
              <a:t>              # prod-guard, audit-log …</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 skills/plan-feature/</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 agents/oncall-triage.md</a:t>
            </a:r>
            <a:r>
              <a:rPr lang="en-US" sz="1050" dirty="0">
                <a:solidFill>
                  <a:srgbClr val="8E9BAA"/>
                </a:solidFill>
                <a:latin typeface="Courier New" pitchFamily="34" charset="0"/>
                <a:ea typeface="Courier New" pitchFamily="34" charset="-122"/>
                <a:cs typeface="Courier New" pitchFamily="34" charset="-120"/>
              </a:rPr>
              <a:t> # read-only</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a:t>
            </a:r>
            <a:r>
              <a:rPr lang="en-US" sz="1050" b="1" dirty="0">
                <a:solidFill>
                  <a:srgbClr val="E39A16"/>
                </a:solidFill>
                <a:latin typeface="Courier New" pitchFamily="34" charset="0"/>
                <a:ea typeface="Courier New" pitchFamily="34" charset="-122"/>
                <a:cs typeface="Courier New" pitchFamily="34" charset="-120"/>
              </a:rPr>
              <a:t>docs/</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 specs/PAY-142.md</a:t>
            </a:r>
            <a:r>
              <a:rPr lang="en-US" sz="1050" dirty="0">
                <a:solidFill>
                  <a:srgbClr val="8E9BAA"/>
                </a:solidFill>
                <a:latin typeface="Courier New" pitchFamily="34" charset="0"/>
                <a:ea typeface="Courier New" pitchFamily="34" charset="-122"/>
                <a:cs typeface="Courier New" pitchFamily="34" charset="-120"/>
              </a:rPr>
              <a:t>    # the plan it wrote</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 adr/  runbooks/</a:t>
            </a:r>
            <a:r>
              <a:rPr lang="en-US" sz="1050" dirty="0">
                <a:solidFill>
                  <a:srgbClr val="8E9BAA"/>
                </a:solidFill>
                <a:latin typeface="Courier New" pitchFamily="34" charset="0"/>
                <a:ea typeface="Courier New" pitchFamily="34" charset="-122"/>
                <a:cs typeface="Courier New" pitchFamily="34" charset="-120"/>
              </a:rPr>
              <a:t>     # decisions, procedures</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scripts/test-hooks.sh</a:t>
            </a:r>
            <a:r>
              <a:rPr lang="en-US" sz="1050" dirty="0">
                <a:solidFill>
                  <a:srgbClr val="8E9BAA"/>
                </a:solidFill>
                <a:latin typeface="Courier New" pitchFamily="34" charset="0"/>
                <a:ea typeface="Courier New" pitchFamily="34" charset="-122"/>
                <a:cs typeface="Courier New" pitchFamily="34" charset="-120"/>
              </a:rPr>
              <a:t>  # guardrails tested in CI</a:t>
            </a:r>
            <a:endParaRPr lang="en-US" sz="1050" dirty="0"/>
          </a:p>
          <a:p>
            <a:pPr marL="0" indent="0">
              <a:lnSpc>
                <a:spcPct val="108000"/>
              </a:lnSpc>
              <a:buNone/>
            </a:pPr>
            <a:r>
              <a:rPr lang="en-US" sz="1050" dirty="0">
                <a:solidFill>
                  <a:srgbClr val="E7E2D8"/>
                </a:solidFill>
                <a:latin typeface="Courier New" pitchFamily="34" charset="0"/>
                <a:ea typeface="Courier New" pitchFamily="34" charset="-122"/>
                <a:cs typeface="Courier New" pitchFamily="34" charset="-120"/>
              </a:rPr>
              <a:t>└─ .github/</a:t>
            </a:r>
            <a:r>
              <a:rPr lang="en-US" sz="1050" b="1" dirty="0">
                <a:solidFill>
                  <a:srgbClr val="FFFFFF"/>
                </a:solidFill>
                <a:latin typeface="Courier New" pitchFamily="34" charset="0"/>
                <a:ea typeface="Courier New" pitchFamily="34" charset="-122"/>
                <a:cs typeface="Courier New" pitchFamily="34" charset="-120"/>
              </a:rPr>
              <a:t>CODEOWNERS</a:t>
            </a:r>
            <a:r>
              <a:rPr lang="en-US" sz="1050" dirty="0">
                <a:solidFill>
                  <a:srgbClr val="8E9BAA"/>
                </a:solidFill>
                <a:latin typeface="Courier New" pitchFamily="34" charset="0"/>
                <a:ea typeface="Courier New" pitchFamily="34" charset="-122"/>
                <a:cs typeface="Courier New" pitchFamily="34" charset="-120"/>
              </a:rPr>
              <a:t>     # platform owns .claude/</a:t>
            </a:r>
            <a:endParaRPr lang="en-US" sz="1050" dirty="0"/>
          </a:p>
        </p:txBody>
      </p:sp>
      <p:sp>
        <p:nvSpPr>
          <p:cNvPr id="13" name="Shape 10"/>
          <p:cNvSpPr/>
          <p:nvPr/>
        </p:nvSpPr>
        <p:spPr>
          <a:xfrm>
            <a:off x="7132320" y="1572768"/>
            <a:ext cx="4480560" cy="4224528"/>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1"/>
          <p:cNvSpPr/>
          <p:nvPr/>
        </p:nvSpPr>
        <p:spPr>
          <a:xfrm>
            <a:off x="7132320" y="1572768"/>
            <a:ext cx="4480560" cy="54864"/>
          </a:xfrm>
          <a:prstGeom prst="rect">
            <a:avLst/>
          </a:prstGeom>
          <a:solidFill>
            <a:srgbClr val="E39A16"/>
          </a:solidFill>
          <a:ln w="12700">
            <a:solidFill>
              <a:srgbClr val="E39A16"/>
            </a:solidFill>
            <a:prstDash val="solid"/>
          </a:ln>
        </p:spPr>
        <p:txBody>
          <a:bodyPr/>
          <a:lstStyle/>
          <a:p>
            <a:endParaRPr lang="en-US"/>
          </a:p>
        </p:txBody>
      </p:sp>
      <p:sp>
        <p:nvSpPr>
          <p:cNvPr id="15" name="Text 12"/>
          <p:cNvSpPr txBox="1"/>
          <p:nvPr/>
        </p:nvSpPr>
        <p:spPr>
          <a:xfrm>
            <a:off x="7406640" y="1783080"/>
            <a:ext cx="3931920" cy="182880"/>
          </a:xfrm>
          <a:prstGeom prst="rect">
            <a:avLst/>
          </a:prstGeom>
          <a:noFill/>
          <a:ln/>
        </p:spPr>
        <p:txBody>
          <a:bodyPr wrap="square" lIns="0" tIns="0" rIns="0" bIns="0" rtlCol="0" anchor="t"/>
          <a:lstStyle/>
          <a:p>
            <a:pPr marL="0" indent="0">
              <a:buNone/>
            </a:pPr>
            <a:r>
              <a:rPr lang="en-US" sz="900" b="1" kern="0" spc="200" dirty="0">
                <a:solidFill>
                  <a:srgbClr val="1D6F8B"/>
                </a:solidFill>
                <a:latin typeface="Courier New" pitchFamily="34" charset="0"/>
                <a:ea typeface="Courier New" pitchFamily="34" charset="-122"/>
                <a:cs typeface="Courier New" pitchFamily="34" charset="-120"/>
              </a:rPr>
              <a:t>AGENTS.md  ·  EXCERPT</a:t>
            </a:r>
            <a:endParaRPr lang="en-US" sz="900" dirty="0"/>
          </a:p>
        </p:txBody>
      </p:sp>
      <p:sp>
        <p:nvSpPr>
          <p:cNvPr id="16" name="Text 13"/>
          <p:cNvSpPr txBox="1"/>
          <p:nvPr/>
        </p:nvSpPr>
        <p:spPr>
          <a:xfrm>
            <a:off x="7406640" y="2103120"/>
            <a:ext cx="4023360" cy="3566160"/>
          </a:xfrm>
          <a:prstGeom prst="rect">
            <a:avLst/>
          </a:prstGeom>
          <a:noFill/>
          <a:ln/>
        </p:spPr>
        <p:txBody>
          <a:bodyPr wrap="square" lIns="0" tIns="0" rIns="0" bIns="0" rtlCol="0" anchor="t"/>
          <a:lstStyle/>
          <a:p>
            <a:pPr marL="0" indent="0">
              <a:lnSpc>
                <a:spcPct val="110000"/>
              </a:lnSpc>
              <a:buNone/>
            </a:pPr>
            <a:r>
              <a:rPr lang="en-US" sz="1050" b="1" dirty="0">
                <a:solidFill>
                  <a:srgbClr val="1D6F8B"/>
                </a:solidFill>
                <a:latin typeface="Courier New" pitchFamily="34" charset="0"/>
                <a:ea typeface="Courier New" pitchFamily="34" charset="-122"/>
                <a:cs typeface="Courier New" pitchFamily="34" charset="-120"/>
              </a:rPr>
              <a:t>## How we work</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1. Plan first: docs/specs/&lt;ticket&gt;.md</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2. One task = one branch: agent/&lt;ticket&gt;-&lt;slug&gt;</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3. Small diffs. Tests with every change.</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 </a:t>
            </a:r>
            <a:endParaRPr lang="en-US" sz="1050" dirty="0"/>
          </a:p>
          <a:p>
            <a:pPr marL="0" indent="0">
              <a:lnSpc>
                <a:spcPct val="110000"/>
              </a:lnSpc>
              <a:buNone/>
            </a:pPr>
            <a:r>
              <a:rPr lang="en-US" sz="1050" b="1" dirty="0">
                <a:solidFill>
                  <a:srgbClr val="B0730A"/>
                </a:solidFill>
                <a:latin typeface="Courier New" pitchFamily="34" charset="0"/>
                <a:ea typeface="Courier New" pitchFamily="34" charset="-122"/>
                <a:cs typeface="Courier New" pitchFamily="34" charset="-120"/>
              </a:rPr>
              <a:t>## Stop and ask when</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 You would need to guess</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 Production, secrets or deletes are involved</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 </a:t>
            </a:r>
            <a:endParaRPr lang="en-US" sz="1050" dirty="0"/>
          </a:p>
          <a:p>
            <a:pPr marL="0" indent="0">
              <a:lnSpc>
                <a:spcPct val="110000"/>
              </a:lnSpc>
              <a:buNone/>
            </a:pPr>
            <a:r>
              <a:rPr lang="en-US" sz="1050" b="1" dirty="0">
                <a:solidFill>
                  <a:srgbClr val="B5443A"/>
                </a:solidFill>
                <a:latin typeface="Courier New" pitchFamily="34" charset="0"/>
                <a:ea typeface="Courier New" pitchFamily="34" charset="-122"/>
                <a:cs typeface="Courier New" pitchFamily="34" charset="-120"/>
              </a:rPr>
              <a:t>## Never</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 Read .env or secrets/</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 Skip a failing test to turn CI green</a:t>
            </a:r>
            <a:endParaRPr lang="en-US" sz="1050" dirty="0"/>
          </a:p>
          <a:p>
            <a:pPr marL="0" indent="0">
              <a:lnSpc>
                <a:spcPct val="110000"/>
              </a:lnSpc>
              <a:buNone/>
            </a:pPr>
            <a:r>
              <a:rPr lang="en-US" sz="1050" dirty="0">
                <a:solidFill>
                  <a:srgbClr val="132038"/>
                </a:solidFill>
                <a:latin typeface="Courier New" pitchFamily="34" charset="0"/>
                <a:ea typeface="Courier New" pitchFamily="34" charset="-122"/>
                <a:cs typeface="Courier New" pitchFamily="34" charset="-120"/>
              </a:rPr>
              <a:t>- Use a token you found in a file</a:t>
            </a:r>
            <a:endParaRPr lang="en-US" sz="1050" dirty="0"/>
          </a:p>
        </p:txBody>
      </p:sp>
      <p:sp>
        <p:nvSpPr>
          <p:cNvPr id="17" name="Shape 14"/>
          <p:cNvSpPr/>
          <p:nvPr/>
        </p:nvSpPr>
        <p:spPr>
          <a:xfrm>
            <a:off x="548640" y="5943600"/>
            <a:ext cx="3566160" cy="384048"/>
          </a:xfrm>
          <a:prstGeom prst="rect">
            <a:avLst/>
          </a:prstGeom>
          <a:solidFill>
            <a:srgbClr val="F1EBE0"/>
          </a:solidFill>
          <a:ln w="12700">
            <a:solidFill>
              <a:srgbClr val="F1EBE0"/>
            </a:solidFill>
            <a:prstDash val="solid"/>
          </a:ln>
        </p:spPr>
        <p:txBody>
          <a:bodyPr/>
          <a:lstStyle/>
          <a:p>
            <a:endParaRPr lang="en-US"/>
          </a:p>
        </p:txBody>
      </p:sp>
      <p:sp>
        <p:nvSpPr>
          <p:cNvPr id="18" name="Text 15"/>
          <p:cNvSpPr txBox="1"/>
          <p:nvPr/>
        </p:nvSpPr>
        <p:spPr>
          <a:xfrm>
            <a:off x="685800" y="5943600"/>
            <a:ext cx="3383280" cy="384048"/>
          </a:xfrm>
          <a:prstGeom prst="rect">
            <a:avLst/>
          </a:prstGeom>
          <a:noFill/>
          <a:ln/>
        </p:spPr>
        <p:txBody>
          <a:bodyPr wrap="square" lIns="0" tIns="0" rIns="0" bIns="0" rtlCol="0" anchor="ctr"/>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SHARED  </a:t>
            </a:r>
            <a:r>
              <a:rPr lang="en-US" sz="1100" dirty="0">
                <a:solidFill>
                  <a:srgbClr val="132038"/>
                </a:solidFill>
                <a:latin typeface="Calibri" pitchFamily="34" charset="0"/>
                <a:ea typeface="Calibri" pitchFamily="34" charset="-122"/>
                <a:cs typeface="Calibri" pitchFamily="34" charset="-120"/>
              </a:rPr>
              <a:t>AGENTS.md · settings.json · hooks · skills</a:t>
            </a:r>
            <a:endParaRPr lang="en-US" sz="900" dirty="0"/>
          </a:p>
        </p:txBody>
      </p:sp>
      <p:sp>
        <p:nvSpPr>
          <p:cNvPr id="19" name="Shape 16"/>
          <p:cNvSpPr/>
          <p:nvPr/>
        </p:nvSpPr>
        <p:spPr>
          <a:xfrm>
            <a:off x="4270248" y="5943600"/>
            <a:ext cx="3566160" cy="384048"/>
          </a:xfrm>
          <a:prstGeom prst="rect">
            <a:avLst/>
          </a:prstGeom>
          <a:solidFill>
            <a:srgbClr val="F1EBE0"/>
          </a:solidFill>
          <a:ln w="12700">
            <a:solidFill>
              <a:srgbClr val="F1EBE0"/>
            </a:solidFill>
            <a:prstDash val="solid"/>
          </a:ln>
        </p:spPr>
        <p:txBody>
          <a:bodyPr/>
          <a:lstStyle/>
          <a:p>
            <a:endParaRPr lang="en-US"/>
          </a:p>
        </p:txBody>
      </p:sp>
      <p:sp>
        <p:nvSpPr>
          <p:cNvPr id="20" name="Text 17"/>
          <p:cNvSpPr txBox="1"/>
          <p:nvPr/>
        </p:nvSpPr>
        <p:spPr>
          <a:xfrm>
            <a:off x="4407408" y="5943600"/>
            <a:ext cx="3383280" cy="384048"/>
          </a:xfrm>
          <a:prstGeom prst="rect">
            <a:avLst/>
          </a:prstGeom>
          <a:noFill/>
          <a:ln/>
        </p:spPr>
        <p:txBody>
          <a:bodyPr wrap="square" lIns="0" tIns="0" rIns="0" bIns="0" rtlCol="0" anchor="ctr"/>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PERSONAL  </a:t>
            </a:r>
            <a:r>
              <a:rPr lang="en-US" sz="1100" dirty="0">
                <a:solidFill>
                  <a:srgbClr val="132038"/>
                </a:solidFill>
                <a:latin typeface="Calibri" pitchFamily="34" charset="0"/>
                <a:ea typeface="Calibri" pitchFamily="34" charset="-122"/>
                <a:cs typeface="Calibri" pitchFamily="34" charset="-120"/>
              </a:rPr>
              <a:t>settings.local.json · CLAUDE.local.md</a:t>
            </a:r>
            <a:endParaRPr lang="en-US" sz="900" dirty="0"/>
          </a:p>
        </p:txBody>
      </p:sp>
      <p:sp>
        <p:nvSpPr>
          <p:cNvPr id="21" name="Shape 18"/>
          <p:cNvSpPr/>
          <p:nvPr/>
        </p:nvSpPr>
        <p:spPr>
          <a:xfrm>
            <a:off x="7991856" y="5943600"/>
            <a:ext cx="3566160" cy="384048"/>
          </a:xfrm>
          <a:prstGeom prst="rect">
            <a:avLst/>
          </a:prstGeom>
          <a:solidFill>
            <a:srgbClr val="F1EBE0"/>
          </a:solidFill>
          <a:ln w="12700">
            <a:solidFill>
              <a:srgbClr val="F1EBE0"/>
            </a:solidFill>
            <a:prstDash val="solid"/>
          </a:ln>
        </p:spPr>
        <p:txBody>
          <a:bodyPr/>
          <a:lstStyle/>
          <a:p>
            <a:endParaRPr lang="en-US"/>
          </a:p>
        </p:txBody>
      </p:sp>
      <p:sp>
        <p:nvSpPr>
          <p:cNvPr id="22" name="Text 19"/>
          <p:cNvSpPr txBox="1"/>
          <p:nvPr/>
        </p:nvSpPr>
        <p:spPr>
          <a:xfrm>
            <a:off x="8129016" y="5943600"/>
            <a:ext cx="3383280" cy="384048"/>
          </a:xfrm>
          <a:prstGeom prst="rect">
            <a:avLst/>
          </a:prstGeom>
          <a:noFill/>
          <a:ln/>
        </p:spPr>
        <p:txBody>
          <a:bodyPr wrap="square" lIns="0" tIns="0" rIns="0" bIns="0" rtlCol="0" anchor="ctr"/>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PROTECTED  </a:t>
            </a:r>
            <a:r>
              <a:rPr lang="en-US" sz="1100" dirty="0">
                <a:solidFill>
                  <a:srgbClr val="132038"/>
                </a:solidFill>
                <a:latin typeface="Calibri" pitchFamily="34" charset="0"/>
                <a:ea typeface="Calibri" pitchFamily="34" charset="-122"/>
                <a:cs typeface="Calibri" pitchFamily="34" charset="-120"/>
              </a:rPr>
              <a:t>CODEOWNERS + CI runs the hook tests</a:t>
            </a:r>
            <a:endParaRPr lang="en-US" sz="900" dirty="0"/>
          </a:p>
        </p:txBody>
      </p:sp>
      <p:sp>
        <p:nvSpPr>
          <p:cNvPr id="23" name="Text 20"/>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24" name="Text 21"/>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II  ·  IN PRACTICE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EF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GATE III  ·  ISOLATE  ·  RULES 09–12</a:t>
            </a:r>
            <a:endParaRPr lang="en-US" sz="1050" dirty="0"/>
          </a:p>
        </p:txBody>
      </p:sp>
      <p:sp>
        <p:nvSpPr>
          <p:cNvPr id="5" name="Text 2"/>
          <p:cNvSpPr txBox="1"/>
          <p:nvPr/>
        </p:nvSpPr>
        <p:spPr>
          <a:xfrm>
            <a:off x="548640" y="914400"/>
            <a:ext cx="4023360" cy="822960"/>
          </a:xfrm>
          <a:prstGeom prst="rect">
            <a:avLst/>
          </a:prstGeom>
          <a:noFill/>
          <a:ln/>
        </p:spPr>
        <p:txBody>
          <a:bodyPr wrap="square" lIns="0" tIns="0" rIns="0" bIns="0" rtlCol="0" anchor="b"/>
          <a:lstStyle/>
          <a:p>
            <a:pPr marL="0" indent="0">
              <a:buNone/>
            </a:pPr>
            <a:r>
              <a:rPr lang="en-US" sz="3400" b="1" dirty="0">
                <a:solidFill>
                  <a:srgbClr val="132038"/>
                </a:solidFill>
                <a:latin typeface="Calibri" pitchFamily="34" charset="0"/>
                <a:ea typeface="Calibri" pitchFamily="34" charset="-122"/>
                <a:cs typeface="Calibri" pitchFamily="34" charset="-120"/>
              </a:rPr>
              <a:t>Isolate the work</a:t>
            </a:r>
            <a:endParaRPr lang="en-US" sz="3400" dirty="0"/>
          </a:p>
        </p:txBody>
      </p:sp>
      <p:sp>
        <p:nvSpPr>
          <p:cNvPr id="6" name="Text 3"/>
          <p:cNvSpPr txBox="1"/>
          <p:nvPr/>
        </p:nvSpPr>
        <p:spPr>
          <a:xfrm>
            <a:off x="548640" y="1810512"/>
            <a:ext cx="4023360" cy="365760"/>
          </a:xfrm>
          <a:prstGeom prst="rect">
            <a:avLst/>
          </a:prstGeom>
          <a:noFill/>
          <a:ln/>
        </p:spPr>
        <p:txBody>
          <a:bodyPr wrap="square" lIns="0" tIns="0" rIns="0" bIns="0" rtlCol="0" anchor="t"/>
          <a:lstStyle/>
          <a:p>
            <a:pPr marL="0" indent="0">
              <a:buNone/>
            </a:pPr>
            <a:r>
              <a:rPr lang="en-US" sz="1800" i="1" dirty="0">
                <a:solidFill>
                  <a:srgbClr val="B0730A"/>
                </a:solidFill>
                <a:latin typeface="Cambria" pitchFamily="34" charset="0"/>
                <a:ea typeface="Cambria" pitchFamily="34" charset="-122"/>
                <a:cs typeface="Cambria" pitchFamily="34" charset="-120"/>
              </a:rPr>
              <a:t>Where does its work land?</a:t>
            </a:r>
            <a:endParaRPr lang="en-US" sz="1800" dirty="0"/>
          </a:p>
        </p:txBody>
      </p:sp>
      <p:sp>
        <p:nvSpPr>
          <p:cNvPr id="7" name="Shape 4"/>
          <p:cNvSpPr/>
          <p:nvPr/>
        </p:nvSpPr>
        <p:spPr>
          <a:xfrm>
            <a:off x="548640" y="2487168"/>
            <a:ext cx="3977640" cy="3657600"/>
          </a:xfrm>
          <a:prstGeom prst="rect">
            <a:avLst/>
          </a:prstGeom>
          <a:solidFill>
            <a:srgbClr val="16283A"/>
          </a:solidFill>
          <a:ln w="12700">
            <a:solidFill>
              <a:srgbClr val="16283A"/>
            </a:solidFill>
            <a:prstDash val="solid"/>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804672" y="2706624"/>
            <a:ext cx="3566160" cy="182880"/>
          </a:xfrm>
          <a:prstGeom prst="rect">
            <a:avLst/>
          </a:prstGeom>
          <a:noFill/>
          <a:ln/>
        </p:spPr>
        <p:txBody>
          <a:bodyPr wrap="square" lIns="0" tIns="0" rIns="0" bIns="0" rtlCol="0" anchor="t"/>
          <a:lstStyle/>
          <a:p>
            <a:pPr marL="0" indent="0">
              <a:buNone/>
            </a:pPr>
            <a:r>
              <a:rPr lang="en-US" sz="950" b="1" kern="0" spc="200" dirty="0">
                <a:solidFill>
                  <a:srgbClr val="E39A16"/>
                </a:solidFill>
                <a:latin typeface="Courier New" pitchFamily="34" charset="0"/>
                <a:ea typeface="Courier New" pitchFamily="34" charset="-122"/>
                <a:cs typeface="Courier New" pitchFamily="34" charset="-120"/>
              </a:rPr>
              <a:t>SCENARIO  ·  A POISONED PULL REQUEST</a:t>
            </a:r>
            <a:endParaRPr lang="en-US" sz="950" dirty="0"/>
          </a:p>
        </p:txBody>
      </p:sp>
      <p:sp>
        <p:nvSpPr>
          <p:cNvPr id="9" name="Text 6"/>
          <p:cNvSpPr txBox="1"/>
          <p:nvPr/>
        </p:nvSpPr>
        <p:spPr>
          <a:xfrm>
            <a:off x="804672" y="2980944"/>
            <a:ext cx="3520440" cy="658368"/>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Jul 2025: a merged PR slipped a wipe-the-machine prompt into Amazon Q.</a:t>
            </a:r>
            <a:endParaRPr lang="en-US" sz="1650" dirty="0"/>
          </a:p>
        </p:txBody>
      </p:sp>
      <p:sp>
        <p:nvSpPr>
          <p:cNvPr id="10" name="Shape 7"/>
          <p:cNvSpPr/>
          <p:nvPr/>
        </p:nvSpPr>
        <p:spPr>
          <a:xfrm>
            <a:off x="804672" y="3749040"/>
            <a:ext cx="310896" cy="310896"/>
          </a:xfrm>
          <a:prstGeom prst="ellipse">
            <a:avLst/>
          </a:prstGeom>
          <a:solidFill>
            <a:srgbClr val="2E7D5B"/>
          </a:solidFill>
          <a:ln w="12700">
            <a:solidFill>
              <a:srgbClr val="2E7D5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82396" y="3826764"/>
            <a:ext cx="155448" cy="155448"/>
          </a:xfrm>
          <a:prstGeom prst="rect">
            <a:avLst/>
          </a:prstGeom>
        </p:spPr>
      </p:pic>
      <p:sp>
        <p:nvSpPr>
          <p:cNvPr id="12" name="Text 8"/>
          <p:cNvSpPr txBox="1"/>
          <p:nvPr/>
        </p:nvSpPr>
        <p:spPr>
          <a:xfrm>
            <a:off x="1243584" y="3721608"/>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PR text, tickets and logs are evidence: quoted, flagged, never obeyed.</a:t>
            </a:r>
            <a:endParaRPr lang="en-US" sz="1250" dirty="0"/>
          </a:p>
        </p:txBody>
      </p:sp>
      <p:sp>
        <p:nvSpPr>
          <p:cNvPr id="13" name="Shape 9"/>
          <p:cNvSpPr/>
          <p:nvPr/>
        </p:nvSpPr>
        <p:spPr>
          <a:xfrm>
            <a:off x="804672" y="4407408"/>
            <a:ext cx="310896" cy="310896"/>
          </a:xfrm>
          <a:prstGeom prst="ellipse">
            <a:avLst/>
          </a:prstGeom>
          <a:solidFill>
            <a:srgbClr val="B5443A"/>
          </a:solidFill>
          <a:ln w="12700">
            <a:solidFill>
              <a:srgbClr val="B5443A"/>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82396" y="4485132"/>
            <a:ext cx="155448" cy="155448"/>
          </a:xfrm>
          <a:prstGeom prst="rect">
            <a:avLst/>
          </a:prstGeom>
        </p:spPr>
      </p:pic>
      <p:sp>
        <p:nvSpPr>
          <p:cNvPr id="15" name="Text 10"/>
          <p:cNvSpPr txBox="1"/>
          <p:nvPr/>
        </p:nvSpPr>
        <p:spPr>
          <a:xfrm>
            <a:off x="1243584" y="4379976"/>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Any text the agent reads becomes an instruction.</a:t>
            </a:r>
            <a:endParaRPr lang="en-US" sz="1250" dirty="0"/>
          </a:p>
        </p:txBody>
      </p:sp>
      <p:sp>
        <p:nvSpPr>
          <p:cNvPr id="16" name="Shape 11"/>
          <p:cNvSpPr/>
          <p:nvPr/>
        </p:nvSpPr>
        <p:spPr>
          <a:xfrm>
            <a:off x="804672" y="5120640"/>
            <a:ext cx="3474720" cy="0"/>
          </a:xfrm>
          <a:prstGeom prst="line">
            <a:avLst/>
          </a:prstGeom>
          <a:noFill/>
          <a:ln w="9525">
            <a:solidFill>
              <a:srgbClr val="2C4560"/>
            </a:solidFill>
            <a:prstDash val="solid"/>
          </a:ln>
        </p:spPr>
        <p:txBody>
          <a:bodyPr/>
          <a:lstStyle/>
          <a:p>
            <a:endParaRPr lang="en-US"/>
          </a:p>
        </p:txBody>
      </p:sp>
      <p:sp>
        <p:nvSpPr>
          <p:cNvPr id="17" name="Text 12"/>
          <p:cNvSpPr txBox="1"/>
          <p:nvPr/>
        </p:nvSpPr>
        <p:spPr>
          <a:xfrm>
            <a:off x="804672" y="5212080"/>
            <a:ext cx="3520440" cy="822960"/>
          </a:xfrm>
          <a:prstGeom prst="rect">
            <a:avLst/>
          </a:prstGeom>
          <a:noFill/>
          <a:ln/>
        </p:spPr>
        <p:txBody>
          <a:bodyPr wrap="square" lIns="0" tIns="0" rIns="0" bIns="0" rtlCol="0" anchor="t"/>
          <a:lstStyle/>
          <a:p>
            <a:pPr marL="0" indent="0">
              <a:buNone/>
            </a:pPr>
            <a:r>
              <a:rPr lang="en-US" sz="1200" i="1" dirty="0">
                <a:solidFill>
                  <a:srgbClr val="E39A16"/>
                </a:solidFill>
                <a:latin typeface="Cambria" pitchFamily="34" charset="0"/>
                <a:ea typeface="Cambria" pitchFamily="34" charset="-122"/>
                <a:cs typeface="Cambria" pitchFamily="34" charset="-120"/>
              </a:rPr>
              <a:t>Private data + untrusted text + a way out = the “lethal trifecta.” — Simon Willison, 2025</a:t>
            </a:r>
            <a:endParaRPr lang="en-US" sz="1200" dirty="0"/>
          </a:p>
        </p:txBody>
      </p:sp>
      <p:sp>
        <p:nvSpPr>
          <p:cNvPr id="18" name="Shape 13"/>
          <p:cNvSpPr/>
          <p:nvPr/>
        </p:nvSpPr>
        <p:spPr>
          <a:xfrm>
            <a:off x="4800600" y="896112"/>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4"/>
          <p:cNvSpPr/>
          <p:nvPr/>
        </p:nvSpPr>
        <p:spPr>
          <a:xfrm>
            <a:off x="5074920" y="1188720"/>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225796" y="1339596"/>
            <a:ext cx="301752" cy="301752"/>
          </a:xfrm>
          <a:prstGeom prst="rect">
            <a:avLst/>
          </a:prstGeom>
        </p:spPr>
      </p:pic>
      <p:sp>
        <p:nvSpPr>
          <p:cNvPr id="21" name="Text 15"/>
          <p:cNvSpPr txBox="1"/>
          <p:nvPr/>
        </p:nvSpPr>
        <p:spPr>
          <a:xfrm>
            <a:off x="5943600" y="1115568"/>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One task, one branch, one worktree</a:t>
            </a:r>
            <a:endParaRPr lang="en-US" sz="2100" dirty="0"/>
          </a:p>
        </p:txBody>
      </p:sp>
      <p:sp>
        <p:nvSpPr>
          <p:cNvPr id="22" name="Text 16"/>
          <p:cNvSpPr txBox="1"/>
          <p:nvPr/>
        </p:nvSpPr>
        <p:spPr>
          <a:xfrm>
            <a:off x="5943600" y="1554480"/>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agent/PAY-142-retry. Never main.</a:t>
            </a:r>
            <a:endParaRPr lang="en-US" sz="1350" dirty="0"/>
          </a:p>
        </p:txBody>
      </p:sp>
      <p:sp>
        <p:nvSpPr>
          <p:cNvPr id="23" name="Text 17"/>
          <p:cNvSpPr txBox="1"/>
          <p:nvPr/>
        </p:nvSpPr>
        <p:spPr>
          <a:xfrm>
            <a:off x="10332720" y="1078992"/>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09</a:t>
            </a:r>
            <a:endParaRPr lang="en-US" sz="4200" dirty="0"/>
          </a:p>
        </p:txBody>
      </p:sp>
      <p:sp>
        <p:nvSpPr>
          <p:cNvPr id="24" name="Shape 18"/>
          <p:cNvSpPr/>
          <p:nvPr/>
        </p:nvSpPr>
        <p:spPr>
          <a:xfrm>
            <a:off x="4800600" y="2212848"/>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19"/>
          <p:cNvSpPr/>
          <p:nvPr/>
        </p:nvSpPr>
        <p:spPr>
          <a:xfrm>
            <a:off x="5074920" y="2505456"/>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225796" y="2656332"/>
            <a:ext cx="301752" cy="301752"/>
          </a:xfrm>
          <a:prstGeom prst="rect">
            <a:avLst/>
          </a:prstGeom>
        </p:spPr>
      </p:pic>
      <p:sp>
        <p:nvSpPr>
          <p:cNvPr id="27" name="Text 20"/>
          <p:cNvSpPr txBox="1"/>
          <p:nvPr/>
        </p:nvSpPr>
        <p:spPr>
          <a:xfrm>
            <a:off x="5943600" y="2432304"/>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Main is protected. Agents open PRs.</a:t>
            </a:r>
            <a:endParaRPr lang="en-US" sz="2100" dirty="0"/>
          </a:p>
        </p:txBody>
      </p:sp>
      <p:sp>
        <p:nvSpPr>
          <p:cNvPr id="28" name="Text 21"/>
          <p:cNvSpPr txBox="1"/>
          <p:nvPr/>
        </p:nvSpPr>
        <p:spPr>
          <a:xfrm>
            <a:off x="5943600" y="2871216"/>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CI + one human approval. Agents can’t push.</a:t>
            </a:r>
            <a:endParaRPr lang="en-US" sz="1350" dirty="0"/>
          </a:p>
        </p:txBody>
      </p:sp>
      <p:sp>
        <p:nvSpPr>
          <p:cNvPr id="29" name="Text 22"/>
          <p:cNvSpPr txBox="1"/>
          <p:nvPr/>
        </p:nvSpPr>
        <p:spPr>
          <a:xfrm>
            <a:off x="10332720" y="2395728"/>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10</a:t>
            </a:r>
            <a:endParaRPr lang="en-US" sz="4200" dirty="0"/>
          </a:p>
        </p:txBody>
      </p:sp>
      <p:sp>
        <p:nvSpPr>
          <p:cNvPr id="30" name="Shape 23"/>
          <p:cNvSpPr/>
          <p:nvPr/>
        </p:nvSpPr>
        <p:spPr>
          <a:xfrm>
            <a:off x="4800600" y="3529584"/>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4"/>
          <p:cNvSpPr/>
          <p:nvPr/>
        </p:nvSpPr>
        <p:spPr>
          <a:xfrm>
            <a:off x="5074920" y="3822192"/>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5225796" y="3973068"/>
            <a:ext cx="301752" cy="301752"/>
          </a:xfrm>
          <a:prstGeom prst="rect">
            <a:avLst/>
          </a:prstGeom>
        </p:spPr>
      </p:pic>
      <p:sp>
        <p:nvSpPr>
          <p:cNvPr id="33" name="Text 25"/>
          <p:cNvSpPr txBox="1"/>
          <p:nvPr/>
        </p:nvSpPr>
        <p:spPr>
          <a:xfrm>
            <a:off x="5943600" y="3749040"/>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It never grades its own homework</a:t>
            </a:r>
            <a:endParaRPr lang="en-US" sz="2100" dirty="0"/>
          </a:p>
        </p:txBody>
      </p:sp>
      <p:sp>
        <p:nvSpPr>
          <p:cNvPr id="34" name="Text 26"/>
          <p:cNvSpPr txBox="1"/>
          <p:nvPr/>
        </p:nvSpPr>
        <p:spPr>
          <a:xfrm>
            <a:off x="5943600" y="4187952"/>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Independent CI, tests, security scan.</a:t>
            </a:r>
            <a:endParaRPr lang="en-US" sz="1350" dirty="0"/>
          </a:p>
        </p:txBody>
      </p:sp>
      <p:sp>
        <p:nvSpPr>
          <p:cNvPr id="35" name="Text 27"/>
          <p:cNvSpPr txBox="1"/>
          <p:nvPr/>
        </p:nvSpPr>
        <p:spPr>
          <a:xfrm>
            <a:off x="10332720" y="3712464"/>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11</a:t>
            </a:r>
            <a:endParaRPr lang="en-US" sz="4200" dirty="0"/>
          </a:p>
        </p:txBody>
      </p:sp>
      <p:sp>
        <p:nvSpPr>
          <p:cNvPr id="36" name="Shape 28"/>
          <p:cNvSpPr/>
          <p:nvPr/>
        </p:nvSpPr>
        <p:spPr>
          <a:xfrm>
            <a:off x="4800600" y="4846320"/>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29"/>
          <p:cNvSpPr/>
          <p:nvPr/>
        </p:nvSpPr>
        <p:spPr>
          <a:xfrm>
            <a:off x="5074920" y="513892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5225796" y="5289804"/>
            <a:ext cx="301752" cy="301752"/>
          </a:xfrm>
          <a:prstGeom prst="rect">
            <a:avLst/>
          </a:prstGeom>
        </p:spPr>
      </p:pic>
      <p:sp>
        <p:nvSpPr>
          <p:cNvPr id="39" name="Text 30"/>
          <p:cNvSpPr txBox="1"/>
          <p:nvPr/>
        </p:nvSpPr>
        <p:spPr>
          <a:xfrm>
            <a:off x="5943600" y="5065776"/>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Everything it reads is untrusted</a:t>
            </a:r>
            <a:endParaRPr lang="en-US" sz="2100" dirty="0"/>
          </a:p>
        </p:txBody>
      </p:sp>
      <p:sp>
        <p:nvSpPr>
          <p:cNvPr id="40" name="Text 31"/>
          <p:cNvSpPr txBox="1"/>
          <p:nvPr/>
        </p:nvSpPr>
        <p:spPr>
          <a:xfrm>
            <a:off x="5943600" y="5504688"/>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Tickets, logs, PRs: evidence — never orders.</a:t>
            </a:r>
            <a:endParaRPr lang="en-US" sz="1350" dirty="0"/>
          </a:p>
        </p:txBody>
      </p:sp>
      <p:sp>
        <p:nvSpPr>
          <p:cNvPr id="41" name="Text 32"/>
          <p:cNvSpPr txBox="1"/>
          <p:nvPr/>
        </p:nvSpPr>
        <p:spPr>
          <a:xfrm>
            <a:off x="10332720" y="5029200"/>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12</a:t>
            </a:r>
            <a:endParaRPr lang="en-US" sz="4200" dirty="0"/>
          </a:p>
        </p:txBody>
      </p:sp>
      <p:sp>
        <p:nvSpPr>
          <p:cNvPr id="42" name="Text 33"/>
          <p:cNvSpPr txBox="1"/>
          <p:nvPr/>
        </p:nvSpPr>
        <p:spPr>
          <a:xfrm>
            <a:off x="548640" y="6236208"/>
            <a:ext cx="1106424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Sources: Tom’s Hardware / SC Media on Amazon Q Developer extension, Jul 2025 · Simon Willison, “The lethal trifecta”, Jun 2025</a:t>
            </a:r>
            <a:endParaRPr lang="en-US" sz="700" dirty="0"/>
          </a:p>
        </p:txBody>
      </p:sp>
      <p:sp>
        <p:nvSpPr>
          <p:cNvPr id="43" name="Text 34"/>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4" name="Text 35"/>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III  ·  ISOLATE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RULES 09 – 11 IN PRACTICE  ·  BRANCHING WITH AGENTS</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One task. One worktree. One PR. One human merge.</a:t>
            </a:r>
            <a:endParaRPr lang="en-US" sz="3200" dirty="0"/>
          </a:p>
        </p:txBody>
      </p:sp>
      <p:sp>
        <p:nvSpPr>
          <p:cNvPr id="6" name="Shape 3"/>
          <p:cNvSpPr/>
          <p:nvPr/>
        </p:nvSpPr>
        <p:spPr>
          <a:xfrm>
            <a:off x="731520" y="4343400"/>
            <a:ext cx="10698480" cy="0"/>
          </a:xfrm>
          <a:prstGeom prst="line">
            <a:avLst/>
          </a:prstGeom>
          <a:noFill/>
          <a:ln w="38100">
            <a:solidFill>
              <a:srgbClr val="132038"/>
            </a:solidFill>
            <a:prstDash val="solid"/>
          </a:ln>
        </p:spPr>
        <p:txBody>
          <a:bodyPr/>
          <a:lstStyle/>
          <a:p>
            <a:endParaRPr lang="en-US"/>
          </a:p>
        </p:txBody>
      </p:sp>
      <p:sp>
        <p:nvSpPr>
          <p:cNvPr id="7" name="Text 4"/>
          <p:cNvSpPr txBox="1"/>
          <p:nvPr/>
        </p:nvSpPr>
        <p:spPr>
          <a:xfrm>
            <a:off x="548640" y="4453128"/>
            <a:ext cx="914400" cy="228600"/>
          </a:xfrm>
          <a:prstGeom prst="rect">
            <a:avLst/>
          </a:prstGeom>
          <a:noFill/>
          <a:ln/>
        </p:spPr>
        <p:txBody>
          <a:bodyPr wrap="square" lIns="0" tIns="0" rIns="0" bIns="0" rtlCol="0" anchor="t"/>
          <a:lstStyle/>
          <a:p>
            <a:pPr marL="0" indent="0">
              <a:buNone/>
            </a:pPr>
            <a:r>
              <a:rPr lang="en-US" sz="1100" b="1" dirty="0">
                <a:solidFill>
                  <a:srgbClr val="132038"/>
                </a:solidFill>
                <a:latin typeface="Courier New" pitchFamily="34" charset="0"/>
                <a:ea typeface="Courier New" pitchFamily="34" charset="-122"/>
                <a:cs typeface="Courier New" pitchFamily="34" charset="-120"/>
              </a:rPr>
              <a:t>main</a:t>
            </a:r>
            <a:endParaRPr lang="en-US" sz="1100" dirty="0"/>
          </a:p>
        </p:txBody>
      </p:sp>
      <p:sp>
        <p:nvSpPr>
          <p:cNvPr id="8" name="Text 5"/>
          <p:cNvSpPr txBox="1"/>
          <p:nvPr/>
        </p:nvSpPr>
        <p:spPr>
          <a:xfrm>
            <a:off x="5669280" y="4453128"/>
            <a:ext cx="5760720" cy="228600"/>
          </a:xfrm>
          <a:prstGeom prst="rect">
            <a:avLst/>
          </a:prstGeom>
          <a:noFill/>
          <a:ln/>
        </p:spPr>
        <p:txBody>
          <a:bodyPr wrap="square" lIns="0" tIns="0" rIns="0" bIns="0" rtlCol="0" anchor="t"/>
          <a:lstStyle/>
          <a:p>
            <a:pPr marL="0" indent="0" algn="r">
              <a:buNone/>
            </a:pPr>
            <a:r>
              <a:rPr lang="en-US" sz="950" dirty="0">
                <a:solidFill>
                  <a:srgbClr val="9C8E76"/>
                </a:solidFill>
                <a:latin typeface="Courier New" pitchFamily="34" charset="0"/>
                <a:ea typeface="Courier New" pitchFamily="34" charset="-122"/>
                <a:cs typeface="Courier New" pitchFamily="34" charset="-120"/>
              </a:rPr>
              <a:t>protected: PR + CI + 1 human approval  ·  agents can’t push</a:t>
            </a:r>
            <a:endParaRPr lang="en-US" sz="950" dirty="0"/>
          </a:p>
        </p:txBody>
      </p:sp>
      <p:sp>
        <p:nvSpPr>
          <p:cNvPr id="9" name="Shape 6"/>
          <p:cNvSpPr/>
          <p:nvPr/>
        </p:nvSpPr>
        <p:spPr>
          <a:xfrm>
            <a:off x="1280160" y="3611880"/>
            <a:ext cx="0" cy="731520"/>
          </a:xfrm>
          <a:prstGeom prst="line">
            <a:avLst/>
          </a:prstGeom>
          <a:noFill/>
          <a:ln w="25400">
            <a:solidFill>
              <a:srgbClr val="E39A16"/>
            </a:solidFill>
            <a:prstDash val="dash"/>
          </a:ln>
        </p:spPr>
        <p:txBody>
          <a:bodyPr/>
          <a:lstStyle/>
          <a:p>
            <a:endParaRPr lang="en-US"/>
          </a:p>
        </p:txBody>
      </p:sp>
      <p:sp>
        <p:nvSpPr>
          <p:cNvPr id="10" name="Shape 7"/>
          <p:cNvSpPr/>
          <p:nvPr/>
        </p:nvSpPr>
        <p:spPr>
          <a:xfrm>
            <a:off x="1280160" y="3611880"/>
            <a:ext cx="2926080" cy="0"/>
          </a:xfrm>
          <a:prstGeom prst="line">
            <a:avLst/>
          </a:prstGeom>
          <a:noFill/>
          <a:ln w="31750">
            <a:solidFill>
              <a:srgbClr val="E39A16"/>
            </a:solidFill>
            <a:prstDash val="solid"/>
          </a:ln>
        </p:spPr>
        <p:txBody>
          <a:bodyPr/>
          <a:lstStyle/>
          <a:p>
            <a:endParaRPr lang="en-US"/>
          </a:p>
        </p:txBody>
      </p:sp>
      <p:sp>
        <p:nvSpPr>
          <p:cNvPr id="11" name="Shape 8"/>
          <p:cNvSpPr/>
          <p:nvPr/>
        </p:nvSpPr>
        <p:spPr>
          <a:xfrm>
            <a:off x="4206240" y="3611880"/>
            <a:ext cx="0" cy="731520"/>
          </a:xfrm>
          <a:prstGeom prst="line">
            <a:avLst/>
          </a:prstGeom>
          <a:noFill/>
          <a:ln w="31750">
            <a:solidFill>
              <a:srgbClr val="E39A16"/>
            </a:solidFill>
            <a:prstDash val="solid"/>
          </a:ln>
        </p:spPr>
        <p:txBody>
          <a:bodyPr/>
          <a:lstStyle/>
          <a:p>
            <a:endParaRPr lang="en-US"/>
          </a:p>
        </p:txBody>
      </p:sp>
      <p:sp>
        <p:nvSpPr>
          <p:cNvPr id="12" name="Shape 9"/>
          <p:cNvSpPr/>
          <p:nvPr/>
        </p:nvSpPr>
        <p:spPr>
          <a:xfrm>
            <a:off x="1947672" y="3547872"/>
            <a:ext cx="128016" cy="128016"/>
          </a:xfrm>
          <a:prstGeom prst="ellipse">
            <a:avLst/>
          </a:prstGeom>
          <a:solidFill>
            <a:srgbClr val="FFFFFF"/>
          </a:solidFill>
          <a:ln w="19050">
            <a:solidFill>
              <a:srgbClr val="E39A16"/>
            </a:solidFill>
            <a:prstDash val="solid"/>
          </a:ln>
        </p:spPr>
        <p:txBody>
          <a:bodyPr/>
          <a:lstStyle/>
          <a:p>
            <a:endParaRPr lang="en-US"/>
          </a:p>
        </p:txBody>
      </p:sp>
      <p:sp>
        <p:nvSpPr>
          <p:cNvPr id="13" name="Shape 10"/>
          <p:cNvSpPr/>
          <p:nvPr/>
        </p:nvSpPr>
        <p:spPr>
          <a:xfrm>
            <a:off x="2679192" y="3547872"/>
            <a:ext cx="128016" cy="128016"/>
          </a:xfrm>
          <a:prstGeom prst="ellipse">
            <a:avLst/>
          </a:prstGeom>
          <a:solidFill>
            <a:srgbClr val="FFFFFF"/>
          </a:solidFill>
          <a:ln w="19050">
            <a:solidFill>
              <a:srgbClr val="E39A16"/>
            </a:solidFill>
            <a:prstDash val="solid"/>
          </a:ln>
        </p:spPr>
        <p:txBody>
          <a:bodyPr/>
          <a:lstStyle/>
          <a:p>
            <a:endParaRPr lang="en-US"/>
          </a:p>
        </p:txBody>
      </p:sp>
      <p:sp>
        <p:nvSpPr>
          <p:cNvPr id="14" name="Shape 11"/>
          <p:cNvSpPr/>
          <p:nvPr/>
        </p:nvSpPr>
        <p:spPr>
          <a:xfrm>
            <a:off x="3410712" y="3547872"/>
            <a:ext cx="128016" cy="128016"/>
          </a:xfrm>
          <a:prstGeom prst="ellipse">
            <a:avLst/>
          </a:prstGeom>
          <a:solidFill>
            <a:srgbClr val="FFFFFF"/>
          </a:solidFill>
          <a:ln w="19050">
            <a:solidFill>
              <a:srgbClr val="E39A16"/>
            </a:solidFill>
            <a:prstDash val="solid"/>
          </a:ln>
        </p:spPr>
        <p:txBody>
          <a:bodyPr/>
          <a:lstStyle/>
          <a:p>
            <a:endParaRPr lang="en-US"/>
          </a:p>
        </p:txBody>
      </p:sp>
      <p:sp>
        <p:nvSpPr>
          <p:cNvPr id="15" name="Shape 12"/>
          <p:cNvSpPr/>
          <p:nvPr/>
        </p:nvSpPr>
        <p:spPr>
          <a:xfrm>
            <a:off x="1197864" y="4261104"/>
            <a:ext cx="164592" cy="164592"/>
          </a:xfrm>
          <a:prstGeom prst="ellipse">
            <a:avLst/>
          </a:prstGeom>
          <a:solidFill>
            <a:srgbClr val="132038"/>
          </a:solidFill>
          <a:ln w="12700">
            <a:solidFill>
              <a:srgbClr val="132038"/>
            </a:solidFill>
            <a:prstDash val="solid"/>
          </a:ln>
        </p:spPr>
        <p:txBody>
          <a:bodyPr/>
          <a:lstStyle/>
          <a:p>
            <a:endParaRPr lang="en-US"/>
          </a:p>
        </p:txBody>
      </p:sp>
      <p:sp>
        <p:nvSpPr>
          <p:cNvPr id="16" name="Shape 13"/>
          <p:cNvSpPr/>
          <p:nvPr/>
        </p:nvSpPr>
        <p:spPr>
          <a:xfrm>
            <a:off x="4114800" y="4251960"/>
            <a:ext cx="182880" cy="182880"/>
          </a:xfrm>
          <a:prstGeom prst="ellipse">
            <a:avLst/>
          </a:prstGeom>
          <a:solidFill>
            <a:srgbClr val="E39A16"/>
          </a:solidFill>
          <a:ln w="19050">
            <a:solidFill>
              <a:srgbClr val="132038"/>
            </a:solidFill>
            <a:prstDash val="solid"/>
          </a:ln>
        </p:spPr>
        <p:txBody>
          <a:bodyPr/>
          <a:lstStyle/>
          <a:p>
            <a:endParaRPr lang="en-US"/>
          </a:p>
        </p:txBody>
      </p:sp>
      <p:sp>
        <p:nvSpPr>
          <p:cNvPr id="17" name="Text 14"/>
          <p:cNvSpPr txBox="1"/>
          <p:nvPr/>
        </p:nvSpPr>
        <p:spPr>
          <a:xfrm>
            <a:off x="1371600" y="3310128"/>
            <a:ext cx="2560320" cy="201168"/>
          </a:xfrm>
          <a:prstGeom prst="rect">
            <a:avLst/>
          </a:prstGeom>
          <a:noFill/>
          <a:ln/>
        </p:spPr>
        <p:txBody>
          <a:bodyPr wrap="square" lIns="0" tIns="0" rIns="0" bIns="0" rtlCol="0" anchor="t"/>
          <a:lstStyle/>
          <a:p>
            <a:pPr marL="0" indent="0">
              <a:buNone/>
            </a:pPr>
            <a:r>
              <a:rPr lang="en-US" sz="1000" b="1" dirty="0">
                <a:solidFill>
                  <a:srgbClr val="132038"/>
                </a:solidFill>
                <a:latin typeface="Courier New" pitchFamily="34" charset="0"/>
                <a:ea typeface="Courier New" pitchFamily="34" charset="-122"/>
                <a:cs typeface="Courier New" pitchFamily="34" charset="-120"/>
              </a:rPr>
              <a:t>agent/PAY-142-retry</a:t>
            </a:r>
            <a:endParaRPr lang="en-US" sz="1000" dirty="0"/>
          </a:p>
        </p:txBody>
      </p:sp>
      <p:sp>
        <p:nvSpPr>
          <p:cNvPr id="18" name="Text 15"/>
          <p:cNvSpPr txBox="1"/>
          <p:nvPr/>
        </p:nvSpPr>
        <p:spPr>
          <a:xfrm>
            <a:off x="1371600" y="3703320"/>
            <a:ext cx="2011680" cy="182880"/>
          </a:xfrm>
          <a:prstGeom prst="rect">
            <a:avLst/>
          </a:prstGeom>
          <a:noFill/>
          <a:ln/>
        </p:spPr>
        <p:txBody>
          <a:bodyPr wrap="square" lIns="0" tIns="0" rIns="0" bIns="0" rtlCol="0" anchor="t"/>
          <a:lstStyle/>
          <a:p>
            <a:pPr marL="0" indent="0">
              <a:buNone/>
            </a:pPr>
            <a:r>
              <a:rPr lang="en-US" sz="900" dirty="0">
                <a:solidFill>
                  <a:srgbClr val="9C8E76"/>
                </a:solidFill>
                <a:latin typeface="Courier New" pitchFamily="34" charset="0"/>
                <a:ea typeface="Courier New" pitchFamily="34" charset="-122"/>
                <a:cs typeface="Courier New" pitchFamily="34" charset="-120"/>
              </a:rPr>
              <a:t>claude -w PAY-142</a:t>
            </a:r>
            <a:endParaRPr lang="en-US" sz="900" dirty="0"/>
          </a:p>
        </p:txBody>
      </p:sp>
      <p:sp>
        <p:nvSpPr>
          <p:cNvPr id="19" name="Shape 16"/>
          <p:cNvSpPr/>
          <p:nvPr/>
        </p:nvSpPr>
        <p:spPr>
          <a:xfrm>
            <a:off x="3200400" y="3456432"/>
            <a:ext cx="1097280" cy="310896"/>
          </a:xfrm>
          <a:prstGeom prst="roundRect">
            <a:avLst>
              <a:gd name="adj" fmla="val 14706"/>
            </a:avLst>
          </a:prstGeom>
          <a:solidFill>
            <a:srgbClr val="E39A16"/>
          </a:solidFill>
          <a:ln w="12700">
            <a:solidFill>
              <a:srgbClr val="E39A16"/>
            </a:solidFill>
            <a:prstDash val="solid"/>
          </a:ln>
        </p:spPr>
        <p:txBody>
          <a:bodyPr/>
          <a:lstStyle/>
          <a:p>
            <a:endParaRPr lang="en-US"/>
          </a:p>
        </p:txBody>
      </p:sp>
      <p:sp>
        <p:nvSpPr>
          <p:cNvPr id="20" name="Text 17"/>
          <p:cNvSpPr txBox="1"/>
          <p:nvPr/>
        </p:nvSpPr>
        <p:spPr>
          <a:xfrm>
            <a:off x="3200400" y="3456432"/>
            <a:ext cx="109728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merged</a:t>
            </a:r>
            <a:endParaRPr lang="en-US" sz="950" dirty="0"/>
          </a:p>
        </p:txBody>
      </p:sp>
      <p:sp>
        <p:nvSpPr>
          <p:cNvPr id="21" name="Shape 18"/>
          <p:cNvSpPr/>
          <p:nvPr/>
        </p:nvSpPr>
        <p:spPr>
          <a:xfrm>
            <a:off x="3657600" y="2926080"/>
            <a:ext cx="0" cy="1417320"/>
          </a:xfrm>
          <a:prstGeom prst="line">
            <a:avLst/>
          </a:prstGeom>
          <a:noFill/>
          <a:ln w="25400">
            <a:solidFill>
              <a:srgbClr val="1D6F8B"/>
            </a:solidFill>
            <a:prstDash val="dash"/>
          </a:ln>
        </p:spPr>
        <p:txBody>
          <a:bodyPr/>
          <a:lstStyle/>
          <a:p>
            <a:endParaRPr lang="en-US"/>
          </a:p>
        </p:txBody>
      </p:sp>
      <p:sp>
        <p:nvSpPr>
          <p:cNvPr id="22" name="Shape 19"/>
          <p:cNvSpPr/>
          <p:nvPr/>
        </p:nvSpPr>
        <p:spPr>
          <a:xfrm>
            <a:off x="3657600" y="2926080"/>
            <a:ext cx="3657600" cy="0"/>
          </a:xfrm>
          <a:prstGeom prst="line">
            <a:avLst/>
          </a:prstGeom>
          <a:noFill/>
          <a:ln w="31750">
            <a:solidFill>
              <a:srgbClr val="1D6F8B"/>
            </a:solidFill>
            <a:prstDash val="solid"/>
          </a:ln>
        </p:spPr>
        <p:txBody>
          <a:bodyPr/>
          <a:lstStyle/>
          <a:p>
            <a:endParaRPr lang="en-US"/>
          </a:p>
        </p:txBody>
      </p:sp>
      <p:sp>
        <p:nvSpPr>
          <p:cNvPr id="23" name="Shape 20"/>
          <p:cNvSpPr/>
          <p:nvPr/>
        </p:nvSpPr>
        <p:spPr>
          <a:xfrm>
            <a:off x="4507992" y="2862072"/>
            <a:ext cx="128016" cy="128016"/>
          </a:xfrm>
          <a:prstGeom prst="ellipse">
            <a:avLst/>
          </a:prstGeom>
          <a:solidFill>
            <a:srgbClr val="FFFFFF"/>
          </a:solidFill>
          <a:ln w="19050">
            <a:solidFill>
              <a:srgbClr val="1D6F8B"/>
            </a:solidFill>
            <a:prstDash val="solid"/>
          </a:ln>
        </p:spPr>
        <p:txBody>
          <a:bodyPr/>
          <a:lstStyle/>
          <a:p>
            <a:endParaRPr lang="en-US"/>
          </a:p>
        </p:txBody>
      </p:sp>
      <p:sp>
        <p:nvSpPr>
          <p:cNvPr id="24" name="Shape 21"/>
          <p:cNvSpPr/>
          <p:nvPr/>
        </p:nvSpPr>
        <p:spPr>
          <a:xfrm>
            <a:off x="5422392" y="2862072"/>
            <a:ext cx="128016" cy="128016"/>
          </a:xfrm>
          <a:prstGeom prst="ellipse">
            <a:avLst/>
          </a:prstGeom>
          <a:solidFill>
            <a:srgbClr val="FFFFFF"/>
          </a:solidFill>
          <a:ln w="19050">
            <a:solidFill>
              <a:srgbClr val="1D6F8B"/>
            </a:solidFill>
            <a:prstDash val="solid"/>
          </a:ln>
        </p:spPr>
        <p:txBody>
          <a:bodyPr/>
          <a:lstStyle/>
          <a:p>
            <a:endParaRPr lang="en-US"/>
          </a:p>
        </p:txBody>
      </p:sp>
      <p:sp>
        <p:nvSpPr>
          <p:cNvPr id="25" name="Shape 22"/>
          <p:cNvSpPr/>
          <p:nvPr/>
        </p:nvSpPr>
        <p:spPr>
          <a:xfrm>
            <a:off x="6336792" y="2862072"/>
            <a:ext cx="128016" cy="128016"/>
          </a:xfrm>
          <a:prstGeom prst="ellipse">
            <a:avLst/>
          </a:prstGeom>
          <a:solidFill>
            <a:srgbClr val="FFFFFF"/>
          </a:solidFill>
          <a:ln w="19050">
            <a:solidFill>
              <a:srgbClr val="1D6F8B"/>
            </a:solidFill>
            <a:prstDash val="solid"/>
          </a:ln>
        </p:spPr>
        <p:txBody>
          <a:bodyPr/>
          <a:lstStyle/>
          <a:p>
            <a:endParaRPr lang="en-US"/>
          </a:p>
        </p:txBody>
      </p:sp>
      <p:sp>
        <p:nvSpPr>
          <p:cNvPr id="26" name="Shape 23"/>
          <p:cNvSpPr/>
          <p:nvPr/>
        </p:nvSpPr>
        <p:spPr>
          <a:xfrm>
            <a:off x="3575304" y="4261104"/>
            <a:ext cx="164592" cy="164592"/>
          </a:xfrm>
          <a:prstGeom prst="ellipse">
            <a:avLst/>
          </a:prstGeom>
          <a:solidFill>
            <a:srgbClr val="132038"/>
          </a:solidFill>
          <a:ln w="12700">
            <a:solidFill>
              <a:srgbClr val="132038"/>
            </a:solidFill>
            <a:prstDash val="solid"/>
          </a:ln>
        </p:spPr>
        <p:txBody>
          <a:bodyPr/>
          <a:lstStyle/>
          <a:p>
            <a:endParaRPr lang="en-US"/>
          </a:p>
        </p:txBody>
      </p:sp>
      <p:sp>
        <p:nvSpPr>
          <p:cNvPr id="27" name="Text 24"/>
          <p:cNvSpPr txBox="1"/>
          <p:nvPr/>
        </p:nvSpPr>
        <p:spPr>
          <a:xfrm>
            <a:off x="3749040" y="2624328"/>
            <a:ext cx="2560320" cy="201168"/>
          </a:xfrm>
          <a:prstGeom prst="rect">
            <a:avLst/>
          </a:prstGeom>
          <a:noFill/>
          <a:ln/>
        </p:spPr>
        <p:txBody>
          <a:bodyPr wrap="square" lIns="0" tIns="0" rIns="0" bIns="0" rtlCol="0" anchor="t"/>
          <a:lstStyle/>
          <a:p>
            <a:pPr marL="0" indent="0">
              <a:buNone/>
            </a:pPr>
            <a:r>
              <a:rPr lang="en-US" sz="1000" b="1" dirty="0">
                <a:solidFill>
                  <a:srgbClr val="132038"/>
                </a:solidFill>
                <a:latin typeface="Courier New" pitchFamily="34" charset="0"/>
                <a:ea typeface="Courier New" pitchFamily="34" charset="-122"/>
                <a:cs typeface="Courier New" pitchFamily="34" charset="-120"/>
              </a:rPr>
              <a:t>agent/PAY-150-logs</a:t>
            </a:r>
            <a:endParaRPr lang="en-US" sz="1000" dirty="0"/>
          </a:p>
        </p:txBody>
      </p:sp>
      <p:sp>
        <p:nvSpPr>
          <p:cNvPr id="28" name="Text 25"/>
          <p:cNvSpPr txBox="1"/>
          <p:nvPr/>
        </p:nvSpPr>
        <p:spPr>
          <a:xfrm>
            <a:off x="3749040" y="3017520"/>
            <a:ext cx="2011680" cy="182880"/>
          </a:xfrm>
          <a:prstGeom prst="rect">
            <a:avLst/>
          </a:prstGeom>
          <a:noFill/>
          <a:ln/>
        </p:spPr>
        <p:txBody>
          <a:bodyPr wrap="square" lIns="0" tIns="0" rIns="0" bIns="0" rtlCol="0" anchor="t"/>
          <a:lstStyle/>
          <a:p>
            <a:pPr marL="0" indent="0">
              <a:buNone/>
            </a:pPr>
            <a:r>
              <a:rPr lang="en-US" sz="900" dirty="0">
                <a:solidFill>
                  <a:srgbClr val="9C8E76"/>
                </a:solidFill>
                <a:latin typeface="Courier New" pitchFamily="34" charset="0"/>
                <a:ea typeface="Courier New" pitchFamily="34" charset="-122"/>
                <a:cs typeface="Courier New" pitchFamily="34" charset="-120"/>
              </a:rPr>
              <a:t>claude -w PAY-150</a:t>
            </a:r>
            <a:endParaRPr lang="en-US" sz="900" dirty="0"/>
          </a:p>
        </p:txBody>
      </p:sp>
      <p:sp>
        <p:nvSpPr>
          <p:cNvPr id="29" name="Shape 26"/>
          <p:cNvSpPr/>
          <p:nvPr/>
        </p:nvSpPr>
        <p:spPr>
          <a:xfrm>
            <a:off x="6309360" y="2770632"/>
            <a:ext cx="1097280" cy="310896"/>
          </a:xfrm>
          <a:prstGeom prst="roundRect">
            <a:avLst>
              <a:gd name="adj" fmla="val 14706"/>
            </a:avLst>
          </a:prstGeom>
          <a:solidFill>
            <a:srgbClr val="1D6F8B"/>
          </a:solidFill>
          <a:ln w="12700">
            <a:solidFill>
              <a:srgbClr val="1D6F8B"/>
            </a:solidFill>
            <a:prstDash val="solid"/>
          </a:ln>
        </p:spPr>
        <p:txBody>
          <a:bodyPr/>
          <a:lstStyle/>
          <a:p>
            <a:endParaRPr lang="en-US"/>
          </a:p>
        </p:txBody>
      </p:sp>
      <p:sp>
        <p:nvSpPr>
          <p:cNvPr id="30" name="Text 27"/>
          <p:cNvSpPr txBox="1"/>
          <p:nvPr/>
        </p:nvSpPr>
        <p:spPr>
          <a:xfrm>
            <a:off x="6309360" y="2770632"/>
            <a:ext cx="109728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in review</a:t>
            </a:r>
            <a:endParaRPr lang="en-US" sz="950" dirty="0"/>
          </a:p>
        </p:txBody>
      </p:sp>
      <p:sp>
        <p:nvSpPr>
          <p:cNvPr id="31" name="Shape 28"/>
          <p:cNvSpPr/>
          <p:nvPr/>
        </p:nvSpPr>
        <p:spPr>
          <a:xfrm>
            <a:off x="6583680" y="2240280"/>
            <a:ext cx="0" cy="2103120"/>
          </a:xfrm>
          <a:prstGeom prst="line">
            <a:avLst/>
          </a:prstGeom>
          <a:noFill/>
          <a:ln w="25400">
            <a:solidFill>
              <a:srgbClr val="B5443A"/>
            </a:solidFill>
            <a:prstDash val="dash"/>
          </a:ln>
        </p:spPr>
        <p:txBody>
          <a:bodyPr/>
          <a:lstStyle/>
          <a:p>
            <a:endParaRPr lang="en-US"/>
          </a:p>
        </p:txBody>
      </p:sp>
      <p:sp>
        <p:nvSpPr>
          <p:cNvPr id="32" name="Shape 29"/>
          <p:cNvSpPr/>
          <p:nvPr/>
        </p:nvSpPr>
        <p:spPr>
          <a:xfrm>
            <a:off x="6583680" y="2240280"/>
            <a:ext cx="3657600" cy="0"/>
          </a:xfrm>
          <a:prstGeom prst="line">
            <a:avLst/>
          </a:prstGeom>
          <a:noFill/>
          <a:ln w="31750">
            <a:solidFill>
              <a:srgbClr val="B5443A"/>
            </a:solidFill>
            <a:prstDash val="solid"/>
          </a:ln>
        </p:spPr>
        <p:txBody>
          <a:bodyPr/>
          <a:lstStyle/>
          <a:p>
            <a:endParaRPr lang="en-US"/>
          </a:p>
        </p:txBody>
      </p:sp>
      <p:sp>
        <p:nvSpPr>
          <p:cNvPr id="33" name="Shape 30"/>
          <p:cNvSpPr/>
          <p:nvPr/>
        </p:nvSpPr>
        <p:spPr>
          <a:xfrm>
            <a:off x="7434072" y="2176272"/>
            <a:ext cx="128016" cy="128016"/>
          </a:xfrm>
          <a:prstGeom prst="ellipse">
            <a:avLst/>
          </a:prstGeom>
          <a:solidFill>
            <a:srgbClr val="FFFFFF"/>
          </a:solidFill>
          <a:ln w="19050">
            <a:solidFill>
              <a:srgbClr val="B5443A"/>
            </a:solidFill>
            <a:prstDash val="solid"/>
          </a:ln>
        </p:spPr>
        <p:txBody>
          <a:bodyPr/>
          <a:lstStyle/>
          <a:p>
            <a:endParaRPr lang="en-US"/>
          </a:p>
        </p:txBody>
      </p:sp>
      <p:sp>
        <p:nvSpPr>
          <p:cNvPr id="34" name="Shape 31"/>
          <p:cNvSpPr/>
          <p:nvPr/>
        </p:nvSpPr>
        <p:spPr>
          <a:xfrm>
            <a:off x="8348472" y="2176272"/>
            <a:ext cx="128016" cy="128016"/>
          </a:xfrm>
          <a:prstGeom prst="ellipse">
            <a:avLst/>
          </a:prstGeom>
          <a:solidFill>
            <a:srgbClr val="FFFFFF"/>
          </a:solidFill>
          <a:ln w="19050">
            <a:solidFill>
              <a:srgbClr val="B5443A"/>
            </a:solidFill>
            <a:prstDash val="solid"/>
          </a:ln>
        </p:spPr>
        <p:txBody>
          <a:bodyPr/>
          <a:lstStyle/>
          <a:p>
            <a:endParaRPr lang="en-US"/>
          </a:p>
        </p:txBody>
      </p:sp>
      <p:sp>
        <p:nvSpPr>
          <p:cNvPr id="35" name="Shape 32"/>
          <p:cNvSpPr/>
          <p:nvPr/>
        </p:nvSpPr>
        <p:spPr>
          <a:xfrm>
            <a:off x="9262872" y="2176272"/>
            <a:ext cx="128016" cy="128016"/>
          </a:xfrm>
          <a:prstGeom prst="ellipse">
            <a:avLst/>
          </a:prstGeom>
          <a:solidFill>
            <a:srgbClr val="FFFFFF"/>
          </a:solidFill>
          <a:ln w="19050">
            <a:solidFill>
              <a:srgbClr val="B5443A"/>
            </a:solidFill>
            <a:prstDash val="solid"/>
          </a:ln>
        </p:spPr>
        <p:txBody>
          <a:bodyPr/>
          <a:lstStyle/>
          <a:p>
            <a:endParaRPr lang="en-US"/>
          </a:p>
        </p:txBody>
      </p:sp>
      <p:sp>
        <p:nvSpPr>
          <p:cNvPr id="36" name="Shape 33"/>
          <p:cNvSpPr/>
          <p:nvPr/>
        </p:nvSpPr>
        <p:spPr>
          <a:xfrm>
            <a:off x="6501384" y="4261104"/>
            <a:ext cx="164592" cy="164592"/>
          </a:xfrm>
          <a:prstGeom prst="ellipse">
            <a:avLst/>
          </a:prstGeom>
          <a:solidFill>
            <a:srgbClr val="132038"/>
          </a:solidFill>
          <a:ln w="12700">
            <a:solidFill>
              <a:srgbClr val="132038"/>
            </a:solidFill>
            <a:prstDash val="solid"/>
          </a:ln>
        </p:spPr>
        <p:txBody>
          <a:bodyPr/>
          <a:lstStyle/>
          <a:p>
            <a:endParaRPr lang="en-US"/>
          </a:p>
        </p:txBody>
      </p:sp>
      <p:sp>
        <p:nvSpPr>
          <p:cNvPr id="37" name="Text 34"/>
          <p:cNvSpPr txBox="1"/>
          <p:nvPr/>
        </p:nvSpPr>
        <p:spPr>
          <a:xfrm>
            <a:off x="6675120" y="1938528"/>
            <a:ext cx="2560320" cy="201168"/>
          </a:xfrm>
          <a:prstGeom prst="rect">
            <a:avLst/>
          </a:prstGeom>
          <a:noFill/>
          <a:ln/>
        </p:spPr>
        <p:txBody>
          <a:bodyPr wrap="square" lIns="0" tIns="0" rIns="0" bIns="0" rtlCol="0" anchor="t"/>
          <a:lstStyle/>
          <a:p>
            <a:pPr marL="0" indent="0">
              <a:buNone/>
            </a:pPr>
            <a:r>
              <a:rPr lang="en-US" sz="1000" b="1" dirty="0">
                <a:solidFill>
                  <a:srgbClr val="132038"/>
                </a:solidFill>
                <a:latin typeface="Courier New" pitchFamily="34" charset="0"/>
                <a:ea typeface="Courier New" pitchFamily="34" charset="-122"/>
                <a:cs typeface="Courier New" pitchFamily="34" charset="-120"/>
              </a:rPr>
              <a:t>agent/INC-88-fix</a:t>
            </a:r>
            <a:endParaRPr lang="en-US" sz="1000" dirty="0"/>
          </a:p>
        </p:txBody>
      </p:sp>
      <p:sp>
        <p:nvSpPr>
          <p:cNvPr id="38" name="Text 35"/>
          <p:cNvSpPr txBox="1"/>
          <p:nvPr/>
        </p:nvSpPr>
        <p:spPr>
          <a:xfrm>
            <a:off x="6675120" y="2331720"/>
            <a:ext cx="2011680" cy="182880"/>
          </a:xfrm>
          <a:prstGeom prst="rect">
            <a:avLst/>
          </a:prstGeom>
          <a:noFill/>
          <a:ln/>
        </p:spPr>
        <p:txBody>
          <a:bodyPr wrap="square" lIns="0" tIns="0" rIns="0" bIns="0" rtlCol="0" anchor="t"/>
          <a:lstStyle/>
          <a:p>
            <a:pPr marL="0" indent="0">
              <a:buNone/>
            </a:pPr>
            <a:r>
              <a:rPr lang="en-US" sz="900" dirty="0">
                <a:solidFill>
                  <a:srgbClr val="9C8E76"/>
                </a:solidFill>
                <a:latin typeface="Courier New" pitchFamily="34" charset="0"/>
                <a:ea typeface="Courier New" pitchFamily="34" charset="-122"/>
                <a:cs typeface="Courier New" pitchFamily="34" charset="-120"/>
              </a:rPr>
              <a:t>claude -w INC-88</a:t>
            </a:r>
            <a:endParaRPr lang="en-US" sz="900" dirty="0"/>
          </a:p>
        </p:txBody>
      </p:sp>
      <p:sp>
        <p:nvSpPr>
          <p:cNvPr id="39" name="Shape 36"/>
          <p:cNvSpPr/>
          <p:nvPr/>
        </p:nvSpPr>
        <p:spPr>
          <a:xfrm>
            <a:off x="9235440" y="2084832"/>
            <a:ext cx="1097280" cy="310896"/>
          </a:xfrm>
          <a:prstGeom prst="roundRect">
            <a:avLst>
              <a:gd name="adj" fmla="val 14706"/>
            </a:avLst>
          </a:prstGeom>
          <a:solidFill>
            <a:srgbClr val="B5443A"/>
          </a:solidFill>
          <a:ln w="12700">
            <a:solidFill>
              <a:srgbClr val="B5443A"/>
            </a:solidFill>
            <a:prstDash val="solid"/>
          </a:ln>
        </p:spPr>
        <p:txBody>
          <a:bodyPr/>
          <a:lstStyle/>
          <a:p>
            <a:endParaRPr lang="en-US"/>
          </a:p>
        </p:txBody>
      </p:sp>
      <p:sp>
        <p:nvSpPr>
          <p:cNvPr id="40" name="Text 37"/>
          <p:cNvSpPr txBox="1"/>
          <p:nvPr/>
        </p:nvSpPr>
        <p:spPr>
          <a:xfrm>
            <a:off x="9235440" y="2084832"/>
            <a:ext cx="109728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draft PR</a:t>
            </a:r>
            <a:endParaRPr lang="en-US" sz="950" dirty="0"/>
          </a:p>
        </p:txBody>
      </p:sp>
      <p:sp>
        <p:nvSpPr>
          <p:cNvPr id="41" name="Shape 38"/>
          <p:cNvSpPr/>
          <p:nvPr/>
        </p:nvSpPr>
        <p:spPr>
          <a:xfrm>
            <a:off x="548640" y="5074920"/>
            <a:ext cx="2103120" cy="868680"/>
          </a:xfrm>
          <a:prstGeom prst="rect">
            <a:avLst/>
          </a:prstGeom>
          <a:solidFill>
            <a:srgbClr val="F1EBE0"/>
          </a:solidFill>
          <a:ln w="12700">
            <a:solidFill>
              <a:srgbClr val="F1EBE0"/>
            </a:solidFill>
            <a:prstDash val="solid"/>
          </a:ln>
        </p:spPr>
        <p:txBody>
          <a:bodyPr/>
          <a:lstStyle/>
          <a:p>
            <a:endParaRPr lang="en-US"/>
          </a:p>
        </p:txBody>
      </p:sp>
      <p:sp>
        <p:nvSpPr>
          <p:cNvPr id="42" name="Text 39"/>
          <p:cNvSpPr txBox="1"/>
          <p:nvPr/>
        </p:nvSpPr>
        <p:spPr>
          <a:xfrm>
            <a:off x="713232" y="5193792"/>
            <a:ext cx="1828800" cy="274320"/>
          </a:xfrm>
          <a:prstGeom prst="rect">
            <a:avLst/>
          </a:prstGeom>
          <a:noFill/>
          <a:ln/>
        </p:spPr>
        <p:txBody>
          <a:bodyPr wrap="square" lIns="0" tIns="0" rIns="0" bIns="0" rtlCol="0" anchor="t"/>
          <a:lstStyle/>
          <a:p>
            <a:pPr marL="0" indent="0">
              <a:buNone/>
            </a:pPr>
            <a:r>
              <a:rPr lang="en-US" sz="1400" b="1" dirty="0">
                <a:solidFill>
                  <a:srgbClr val="132038"/>
                </a:solidFill>
                <a:latin typeface="Calibri" pitchFamily="34" charset="0"/>
                <a:ea typeface="Calibri" pitchFamily="34" charset="-122"/>
                <a:cs typeface="Calibri" pitchFamily="34" charset="-120"/>
              </a:rPr>
              <a:t>Branch per task</a:t>
            </a:r>
            <a:endParaRPr lang="en-US" sz="1400" dirty="0"/>
          </a:p>
        </p:txBody>
      </p:sp>
      <p:sp>
        <p:nvSpPr>
          <p:cNvPr id="43" name="Text 40"/>
          <p:cNvSpPr txBox="1"/>
          <p:nvPr/>
        </p:nvSpPr>
        <p:spPr>
          <a:xfrm>
            <a:off x="713232" y="5486400"/>
            <a:ext cx="1874520" cy="36576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agent/&lt;ticket&gt;-&lt;slug&gt;</a:t>
            </a:r>
            <a:endParaRPr lang="en-US" sz="1150" dirty="0"/>
          </a:p>
        </p:txBody>
      </p:sp>
      <p:sp>
        <p:nvSpPr>
          <p:cNvPr id="44" name="Shape 41"/>
          <p:cNvSpPr/>
          <p:nvPr/>
        </p:nvSpPr>
        <p:spPr>
          <a:xfrm>
            <a:off x="2798064" y="5074920"/>
            <a:ext cx="2103120" cy="868680"/>
          </a:xfrm>
          <a:prstGeom prst="rect">
            <a:avLst/>
          </a:prstGeom>
          <a:solidFill>
            <a:srgbClr val="F1EBE0"/>
          </a:solidFill>
          <a:ln w="12700">
            <a:solidFill>
              <a:srgbClr val="F1EBE0"/>
            </a:solidFill>
            <a:prstDash val="solid"/>
          </a:ln>
        </p:spPr>
        <p:txBody>
          <a:bodyPr/>
          <a:lstStyle/>
          <a:p>
            <a:endParaRPr lang="en-US"/>
          </a:p>
        </p:txBody>
      </p:sp>
      <p:sp>
        <p:nvSpPr>
          <p:cNvPr id="45" name="Text 42"/>
          <p:cNvSpPr txBox="1"/>
          <p:nvPr/>
        </p:nvSpPr>
        <p:spPr>
          <a:xfrm>
            <a:off x="2962656" y="5193792"/>
            <a:ext cx="1828800" cy="274320"/>
          </a:xfrm>
          <a:prstGeom prst="rect">
            <a:avLst/>
          </a:prstGeom>
          <a:noFill/>
          <a:ln/>
        </p:spPr>
        <p:txBody>
          <a:bodyPr wrap="square" lIns="0" tIns="0" rIns="0" bIns="0" rtlCol="0" anchor="t"/>
          <a:lstStyle/>
          <a:p>
            <a:pPr marL="0" indent="0">
              <a:buNone/>
            </a:pPr>
            <a:r>
              <a:rPr lang="en-US" sz="1400" b="1" dirty="0">
                <a:solidFill>
                  <a:srgbClr val="132038"/>
                </a:solidFill>
                <a:latin typeface="Calibri" pitchFamily="34" charset="0"/>
                <a:ea typeface="Calibri" pitchFamily="34" charset="-122"/>
                <a:cs typeface="Calibri" pitchFamily="34" charset="-120"/>
              </a:rPr>
              <a:t>Worktree per agent</a:t>
            </a:r>
            <a:endParaRPr lang="en-US" sz="1400" dirty="0"/>
          </a:p>
        </p:txBody>
      </p:sp>
      <p:sp>
        <p:nvSpPr>
          <p:cNvPr id="46" name="Text 43"/>
          <p:cNvSpPr txBox="1"/>
          <p:nvPr/>
        </p:nvSpPr>
        <p:spPr>
          <a:xfrm>
            <a:off x="2962656" y="5486400"/>
            <a:ext cx="1874520" cy="36576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parallel, never colliding</a:t>
            </a:r>
            <a:endParaRPr lang="en-US" sz="1150" dirty="0"/>
          </a:p>
        </p:txBody>
      </p:sp>
      <p:sp>
        <p:nvSpPr>
          <p:cNvPr id="47" name="Shape 44"/>
          <p:cNvSpPr/>
          <p:nvPr/>
        </p:nvSpPr>
        <p:spPr>
          <a:xfrm>
            <a:off x="5047488" y="5074920"/>
            <a:ext cx="2103120" cy="868680"/>
          </a:xfrm>
          <a:prstGeom prst="rect">
            <a:avLst/>
          </a:prstGeom>
          <a:solidFill>
            <a:srgbClr val="F1EBE0"/>
          </a:solidFill>
          <a:ln w="12700">
            <a:solidFill>
              <a:srgbClr val="F1EBE0"/>
            </a:solidFill>
            <a:prstDash val="solid"/>
          </a:ln>
        </p:spPr>
        <p:txBody>
          <a:bodyPr/>
          <a:lstStyle/>
          <a:p>
            <a:endParaRPr lang="en-US"/>
          </a:p>
        </p:txBody>
      </p:sp>
      <p:sp>
        <p:nvSpPr>
          <p:cNvPr id="48" name="Text 45"/>
          <p:cNvSpPr txBox="1"/>
          <p:nvPr/>
        </p:nvSpPr>
        <p:spPr>
          <a:xfrm>
            <a:off x="5212080" y="5193792"/>
            <a:ext cx="1828800" cy="274320"/>
          </a:xfrm>
          <a:prstGeom prst="rect">
            <a:avLst/>
          </a:prstGeom>
          <a:noFill/>
          <a:ln/>
        </p:spPr>
        <p:txBody>
          <a:bodyPr wrap="square" lIns="0" tIns="0" rIns="0" bIns="0" rtlCol="0" anchor="t"/>
          <a:lstStyle/>
          <a:p>
            <a:pPr marL="0" indent="0">
              <a:buNone/>
            </a:pPr>
            <a:r>
              <a:rPr lang="en-US" sz="1400" b="1" dirty="0">
                <a:solidFill>
                  <a:srgbClr val="132038"/>
                </a:solidFill>
                <a:latin typeface="Calibri" pitchFamily="34" charset="0"/>
                <a:ea typeface="Calibri" pitchFamily="34" charset="-122"/>
                <a:cs typeface="Calibri" pitchFamily="34" charset="-120"/>
              </a:rPr>
              <a:t>Short-lived</a:t>
            </a:r>
            <a:endParaRPr lang="en-US" sz="1400" dirty="0"/>
          </a:p>
        </p:txBody>
      </p:sp>
      <p:sp>
        <p:nvSpPr>
          <p:cNvPr id="49" name="Text 46"/>
          <p:cNvSpPr txBox="1"/>
          <p:nvPr/>
        </p:nvSpPr>
        <p:spPr>
          <a:xfrm>
            <a:off x="5212080" y="5486400"/>
            <a:ext cx="1874520" cy="36576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merge or delete in 1–2 days</a:t>
            </a:r>
            <a:endParaRPr lang="en-US" sz="1150" dirty="0"/>
          </a:p>
        </p:txBody>
      </p:sp>
      <p:sp>
        <p:nvSpPr>
          <p:cNvPr id="50" name="Shape 47"/>
          <p:cNvSpPr/>
          <p:nvPr/>
        </p:nvSpPr>
        <p:spPr>
          <a:xfrm>
            <a:off x="7296912" y="5074920"/>
            <a:ext cx="2103120" cy="868680"/>
          </a:xfrm>
          <a:prstGeom prst="rect">
            <a:avLst/>
          </a:prstGeom>
          <a:solidFill>
            <a:srgbClr val="F1EBE0"/>
          </a:solidFill>
          <a:ln w="12700">
            <a:solidFill>
              <a:srgbClr val="F1EBE0"/>
            </a:solidFill>
            <a:prstDash val="solid"/>
          </a:ln>
        </p:spPr>
        <p:txBody>
          <a:bodyPr/>
          <a:lstStyle/>
          <a:p>
            <a:endParaRPr lang="en-US"/>
          </a:p>
        </p:txBody>
      </p:sp>
      <p:sp>
        <p:nvSpPr>
          <p:cNvPr id="51" name="Text 48"/>
          <p:cNvSpPr txBox="1"/>
          <p:nvPr/>
        </p:nvSpPr>
        <p:spPr>
          <a:xfrm>
            <a:off x="7461504" y="5193792"/>
            <a:ext cx="1828800" cy="274320"/>
          </a:xfrm>
          <a:prstGeom prst="rect">
            <a:avLst/>
          </a:prstGeom>
          <a:noFill/>
          <a:ln/>
        </p:spPr>
        <p:txBody>
          <a:bodyPr wrap="square" lIns="0" tIns="0" rIns="0" bIns="0" rtlCol="0" anchor="t"/>
          <a:lstStyle/>
          <a:p>
            <a:pPr marL="0" indent="0">
              <a:buNone/>
            </a:pPr>
            <a:r>
              <a:rPr lang="en-US" sz="1400" b="1" dirty="0">
                <a:solidFill>
                  <a:srgbClr val="132038"/>
                </a:solidFill>
                <a:latin typeface="Calibri" pitchFamily="34" charset="0"/>
                <a:ea typeface="Calibri" pitchFamily="34" charset="-122"/>
                <a:cs typeface="Calibri" pitchFamily="34" charset="-120"/>
              </a:rPr>
              <a:t>Draft PR + CI</a:t>
            </a:r>
            <a:endParaRPr lang="en-US" sz="1400" dirty="0"/>
          </a:p>
        </p:txBody>
      </p:sp>
      <p:sp>
        <p:nvSpPr>
          <p:cNvPr id="52" name="Text 49"/>
          <p:cNvSpPr txBox="1"/>
          <p:nvPr/>
        </p:nvSpPr>
        <p:spPr>
          <a:xfrm>
            <a:off x="7461504" y="5486400"/>
            <a:ext cx="1874520" cy="36576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tests + the hook tests</a:t>
            </a:r>
            <a:endParaRPr lang="en-US" sz="1150" dirty="0"/>
          </a:p>
        </p:txBody>
      </p:sp>
      <p:sp>
        <p:nvSpPr>
          <p:cNvPr id="53" name="Shape 50"/>
          <p:cNvSpPr/>
          <p:nvPr/>
        </p:nvSpPr>
        <p:spPr>
          <a:xfrm>
            <a:off x="9546336" y="5074920"/>
            <a:ext cx="2103120" cy="868680"/>
          </a:xfrm>
          <a:prstGeom prst="rect">
            <a:avLst/>
          </a:prstGeom>
          <a:solidFill>
            <a:srgbClr val="F1EBE0"/>
          </a:solidFill>
          <a:ln w="12700">
            <a:solidFill>
              <a:srgbClr val="F1EBE0"/>
            </a:solidFill>
            <a:prstDash val="solid"/>
          </a:ln>
        </p:spPr>
        <p:txBody>
          <a:bodyPr/>
          <a:lstStyle/>
          <a:p>
            <a:endParaRPr lang="en-US"/>
          </a:p>
        </p:txBody>
      </p:sp>
      <p:sp>
        <p:nvSpPr>
          <p:cNvPr id="54" name="Text 51"/>
          <p:cNvSpPr txBox="1"/>
          <p:nvPr/>
        </p:nvSpPr>
        <p:spPr>
          <a:xfrm>
            <a:off x="9710928" y="5193792"/>
            <a:ext cx="1828800" cy="274320"/>
          </a:xfrm>
          <a:prstGeom prst="rect">
            <a:avLst/>
          </a:prstGeom>
          <a:noFill/>
          <a:ln/>
        </p:spPr>
        <p:txBody>
          <a:bodyPr wrap="square" lIns="0" tIns="0" rIns="0" bIns="0" rtlCol="0" anchor="t"/>
          <a:lstStyle/>
          <a:p>
            <a:pPr marL="0" indent="0">
              <a:buNone/>
            </a:pPr>
            <a:r>
              <a:rPr lang="en-US" sz="1400" b="1" dirty="0">
                <a:solidFill>
                  <a:srgbClr val="132038"/>
                </a:solidFill>
                <a:latin typeface="Calibri" pitchFamily="34" charset="0"/>
                <a:ea typeface="Calibri" pitchFamily="34" charset="-122"/>
                <a:cs typeface="Calibri" pitchFamily="34" charset="-120"/>
              </a:rPr>
              <a:t>Human merge</a:t>
            </a:r>
            <a:endParaRPr lang="en-US" sz="1400" dirty="0"/>
          </a:p>
        </p:txBody>
      </p:sp>
      <p:sp>
        <p:nvSpPr>
          <p:cNvPr id="55" name="Text 52"/>
          <p:cNvSpPr txBox="1"/>
          <p:nvPr/>
        </p:nvSpPr>
        <p:spPr>
          <a:xfrm>
            <a:off x="9710928" y="5486400"/>
            <a:ext cx="1874520" cy="36576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review intent, diff, evidence</a:t>
            </a:r>
            <a:endParaRPr lang="en-US" sz="1150" dirty="0"/>
          </a:p>
        </p:txBody>
      </p:sp>
      <p:sp>
        <p:nvSpPr>
          <p:cNvPr id="56" name="Text 53"/>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57" name="Text 54"/>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III  ·  IN PRACTICE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6EF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GATE IV  ·  BOUND  ·  RULES 13–16</a:t>
            </a:r>
            <a:endParaRPr lang="en-US" sz="1050" dirty="0"/>
          </a:p>
        </p:txBody>
      </p:sp>
      <p:sp>
        <p:nvSpPr>
          <p:cNvPr id="5" name="Text 2"/>
          <p:cNvSpPr txBox="1"/>
          <p:nvPr/>
        </p:nvSpPr>
        <p:spPr>
          <a:xfrm>
            <a:off x="548640" y="914400"/>
            <a:ext cx="4023360" cy="822960"/>
          </a:xfrm>
          <a:prstGeom prst="rect">
            <a:avLst/>
          </a:prstGeom>
          <a:noFill/>
          <a:ln/>
        </p:spPr>
        <p:txBody>
          <a:bodyPr wrap="square" lIns="0" tIns="0" rIns="0" bIns="0" rtlCol="0" anchor="b"/>
          <a:lstStyle/>
          <a:p>
            <a:pPr marL="0" indent="0">
              <a:buNone/>
            </a:pPr>
            <a:r>
              <a:rPr lang="en-US" sz="3400" b="1" dirty="0">
                <a:solidFill>
                  <a:srgbClr val="132038"/>
                </a:solidFill>
                <a:latin typeface="Calibri" pitchFamily="34" charset="0"/>
                <a:ea typeface="Calibri" pitchFamily="34" charset="-122"/>
                <a:cs typeface="Calibri" pitchFamily="34" charset="-120"/>
              </a:rPr>
              <a:t>Bound the authority</a:t>
            </a:r>
            <a:endParaRPr lang="en-US" sz="3400" dirty="0"/>
          </a:p>
        </p:txBody>
      </p:sp>
      <p:sp>
        <p:nvSpPr>
          <p:cNvPr id="6" name="Text 3"/>
          <p:cNvSpPr txBox="1"/>
          <p:nvPr/>
        </p:nvSpPr>
        <p:spPr>
          <a:xfrm>
            <a:off x="548640" y="1810512"/>
            <a:ext cx="4023360" cy="365760"/>
          </a:xfrm>
          <a:prstGeom prst="rect">
            <a:avLst/>
          </a:prstGeom>
          <a:noFill/>
          <a:ln/>
        </p:spPr>
        <p:txBody>
          <a:bodyPr wrap="square" lIns="0" tIns="0" rIns="0" bIns="0" rtlCol="0" anchor="t"/>
          <a:lstStyle/>
          <a:p>
            <a:pPr marL="0" indent="0">
              <a:buNone/>
            </a:pPr>
            <a:r>
              <a:rPr lang="en-US" sz="1800" i="1" dirty="0">
                <a:solidFill>
                  <a:srgbClr val="B0730A"/>
                </a:solidFill>
                <a:latin typeface="Cambria" pitchFamily="34" charset="0"/>
                <a:ea typeface="Cambria" pitchFamily="34" charset="-122"/>
                <a:cs typeface="Cambria" pitchFamily="34" charset="-120"/>
              </a:rPr>
              <a:t>What can it touch?</a:t>
            </a:r>
            <a:endParaRPr lang="en-US" sz="1800" dirty="0"/>
          </a:p>
        </p:txBody>
      </p:sp>
      <p:sp>
        <p:nvSpPr>
          <p:cNvPr id="7" name="Shape 4"/>
          <p:cNvSpPr/>
          <p:nvPr/>
        </p:nvSpPr>
        <p:spPr>
          <a:xfrm>
            <a:off x="548640" y="2487168"/>
            <a:ext cx="3977640" cy="3657600"/>
          </a:xfrm>
          <a:prstGeom prst="rect">
            <a:avLst/>
          </a:prstGeom>
          <a:solidFill>
            <a:srgbClr val="16283A"/>
          </a:solidFill>
          <a:ln w="12700">
            <a:solidFill>
              <a:srgbClr val="16283A"/>
            </a:solidFill>
            <a:prstDash val="solid"/>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804672" y="2706624"/>
            <a:ext cx="3566160" cy="182880"/>
          </a:xfrm>
          <a:prstGeom prst="rect">
            <a:avLst/>
          </a:prstGeom>
          <a:noFill/>
          <a:ln/>
        </p:spPr>
        <p:txBody>
          <a:bodyPr wrap="square" lIns="0" tIns="0" rIns="0" bIns="0" rtlCol="0" anchor="t"/>
          <a:lstStyle/>
          <a:p>
            <a:pPr marL="0" indent="0">
              <a:buNone/>
            </a:pPr>
            <a:r>
              <a:rPr lang="en-US" sz="950" b="1" kern="0" spc="200" dirty="0">
                <a:solidFill>
                  <a:srgbClr val="E39A16"/>
                </a:solidFill>
                <a:latin typeface="Courier New" pitchFamily="34" charset="0"/>
                <a:ea typeface="Courier New" pitchFamily="34" charset="-122"/>
                <a:cs typeface="Courier New" pitchFamily="34" charset="-120"/>
              </a:rPr>
              <a:t>SCENARIO  ·  CRASH-LOOP IN PROD</a:t>
            </a:r>
            <a:endParaRPr lang="en-US" sz="950" dirty="0"/>
          </a:p>
        </p:txBody>
      </p:sp>
      <p:sp>
        <p:nvSpPr>
          <p:cNvPr id="9" name="Text 6"/>
          <p:cNvSpPr txBox="1"/>
          <p:nvPr/>
        </p:nvSpPr>
        <p:spPr>
          <a:xfrm>
            <a:off x="804672" y="2980944"/>
            <a:ext cx="3520440" cy="658368"/>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It can diagnose it. Should it be able to change it?</a:t>
            </a:r>
            <a:endParaRPr lang="en-US" sz="1650" dirty="0"/>
          </a:p>
        </p:txBody>
      </p:sp>
      <p:sp>
        <p:nvSpPr>
          <p:cNvPr id="10" name="Shape 7"/>
          <p:cNvSpPr/>
          <p:nvPr/>
        </p:nvSpPr>
        <p:spPr>
          <a:xfrm>
            <a:off x="804672" y="3749040"/>
            <a:ext cx="310896" cy="310896"/>
          </a:xfrm>
          <a:prstGeom prst="ellipse">
            <a:avLst/>
          </a:prstGeom>
          <a:solidFill>
            <a:srgbClr val="2E7D5B"/>
          </a:solidFill>
          <a:ln w="12700">
            <a:solidFill>
              <a:srgbClr val="2E7D5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82396" y="3826764"/>
            <a:ext cx="155448" cy="155448"/>
          </a:xfrm>
          <a:prstGeom prst="rect">
            <a:avLst/>
          </a:prstGeom>
        </p:spPr>
      </p:pic>
      <p:sp>
        <p:nvSpPr>
          <p:cNvPr id="12" name="Text 8"/>
          <p:cNvSpPr txBox="1"/>
          <p:nvPr/>
        </p:nvSpPr>
        <p:spPr>
          <a:xfrm>
            <a:off x="1243584" y="3721608"/>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Read logs → propose a rollback → a human or the pipeline applies.</a:t>
            </a:r>
            <a:endParaRPr lang="en-US" sz="1250" dirty="0"/>
          </a:p>
        </p:txBody>
      </p:sp>
      <p:sp>
        <p:nvSpPr>
          <p:cNvPr id="13" name="Shape 9"/>
          <p:cNvSpPr/>
          <p:nvPr/>
        </p:nvSpPr>
        <p:spPr>
          <a:xfrm>
            <a:off x="804672" y="4407408"/>
            <a:ext cx="310896" cy="310896"/>
          </a:xfrm>
          <a:prstGeom prst="ellipse">
            <a:avLst/>
          </a:prstGeom>
          <a:solidFill>
            <a:srgbClr val="B5443A"/>
          </a:solidFill>
          <a:ln w="12700">
            <a:solidFill>
              <a:srgbClr val="B5443A"/>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82396" y="4485132"/>
            <a:ext cx="155448" cy="155448"/>
          </a:xfrm>
          <a:prstGeom prst="rect">
            <a:avLst/>
          </a:prstGeom>
        </p:spPr>
      </p:pic>
      <p:sp>
        <p:nvSpPr>
          <p:cNvPr id="15" name="Text 10"/>
          <p:cNvSpPr txBox="1"/>
          <p:nvPr/>
        </p:nvSpPr>
        <p:spPr>
          <a:xfrm>
            <a:off x="1243584" y="4379976"/>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Standing cloud key + unrestricted kubectl + “be careful” in the prompt.</a:t>
            </a:r>
            <a:endParaRPr lang="en-US" sz="1250" dirty="0"/>
          </a:p>
        </p:txBody>
      </p:sp>
      <p:sp>
        <p:nvSpPr>
          <p:cNvPr id="16" name="Shape 11"/>
          <p:cNvSpPr/>
          <p:nvPr/>
        </p:nvSpPr>
        <p:spPr>
          <a:xfrm>
            <a:off x="804672" y="5120640"/>
            <a:ext cx="3474720" cy="0"/>
          </a:xfrm>
          <a:prstGeom prst="line">
            <a:avLst/>
          </a:prstGeom>
          <a:noFill/>
          <a:ln w="9525">
            <a:solidFill>
              <a:srgbClr val="2C4560"/>
            </a:solidFill>
            <a:prstDash val="solid"/>
          </a:ln>
        </p:spPr>
        <p:txBody>
          <a:bodyPr/>
          <a:lstStyle/>
          <a:p>
            <a:endParaRPr lang="en-US"/>
          </a:p>
        </p:txBody>
      </p:sp>
      <p:sp>
        <p:nvSpPr>
          <p:cNvPr id="17" name="Text 12"/>
          <p:cNvSpPr txBox="1"/>
          <p:nvPr/>
        </p:nvSpPr>
        <p:spPr>
          <a:xfrm>
            <a:off x="804672" y="5212080"/>
            <a:ext cx="3520440" cy="822960"/>
          </a:xfrm>
          <a:prstGeom prst="rect">
            <a:avLst/>
          </a:prstGeom>
          <a:noFill/>
          <a:ln/>
        </p:spPr>
        <p:txBody>
          <a:bodyPr wrap="square" lIns="0" tIns="0" rIns="0" bIns="0" rtlCol="0" anchor="t"/>
          <a:lstStyle/>
          <a:p>
            <a:pPr marL="0" indent="0">
              <a:buNone/>
            </a:pPr>
            <a:r>
              <a:rPr lang="en-US" sz="1200" i="1" dirty="0">
                <a:solidFill>
                  <a:srgbClr val="E39A16"/>
                </a:solidFill>
                <a:latin typeface="Cambria" pitchFamily="34" charset="0"/>
                <a:ea typeface="Cambria" pitchFamily="34" charset="-122"/>
                <a:cs typeface="Cambria" pitchFamily="34" charset="-120"/>
              </a:rPr>
              <a:t>Knight Capital, 2012: $440M lost in 45 minutes. Plain automation. Speed without a brake.</a:t>
            </a:r>
            <a:endParaRPr lang="en-US" sz="1200" dirty="0"/>
          </a:p>
        </p:txBody>
      </p:sp>
      <p:sp>
        <p:nvSpPr>
          <p:cNvPr id="18" name="Shape 13"/>
          <p:cNvSpPr/>
          <p:nvPr/>
        </p:nvSpPr>
        <p:spPr>
          <a:xfrm>
            <a:off x="4800600" y="896112"/>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4"/>
          <p:cNvSpPr/>
          <p:nvPr/>
        </p:nvSpPr>
        <p:spPr>
          <a:xfrm>
            <a:off x="5074920" y="1188720"/>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225796" y="1339596"/>
            <a:ext cx="301752" cy="301752"/>
          </a:xfrm>
          <a:prstGeom prst="rect">
            <a:avLst/>
          </a:prstGeom>
        </p:spPr>
      </p:pic>
      <p:sp>
        <p:nvSpPr>
          <p:cNvPr id="21" name="Text 15"/>
          <p:cNvSpPr txBox="1"/>
          <p:nvPr/>
        </p:nvSpPr>
        <p:spPr>
          <a:xfrm>
            <a:off x="5943600" y="1115568"/>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Read-only first. Short-lived tokens.</a:t>
            </a:r>
            <a:endParaRPr lang="en-US" sz="2100" dirty="0"/>
          </a:p>
        </p:txBody>
      </p:sp>
      <p:sp>
        <p:nvSpPr>
          <p:cNvPr id="22" name="Text 16"/>
          <p:cNvSpPr txBox="1"/>
          <p:nvPr/>
        </p:nvSpPr>
        <p:spPr>
          <a:xfrm>
            <a:off x="5943600" y="1554480"/>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15 min · one namespace · never a token found in a file.</a:t>
            </a:r>
            <a:endParaRPr lang="en-US" sz="1350" dirty="0"/>
          </a:p>
        </p:txBody>
      </p:sp>
      <p:sp>
        <p:nvSpPr>
          <p:cNvPr id="23" name="Text 17"/>
          <p:cNvSpPr txBox="1"/>
          <p:nvPr/>
        </p:nvSpPr>
        <p:spPr>
          <a:xfrm>
            <a:off x="10332720" y="1078992"/>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13</a:t>
            </a:r>
            <a:endParaRPr lang="en-US" sz="4200" dirty="0"/>
          </a:p>
        </p:txBody>
      </p:sp>
      <p:sp>
        <p:nvSpPr>
          <p:cNvPr id="24" name="Shape 18"/>
          <p:cNvSpPr/>
          <p:nvPr/>
        </p:nvSpPr>
        <p:spPr>
          <a:xfrm>
            <a:off x="4800600" y="2212848"/>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19"/>
          <p:cNvSpPr/>
          <p:nvPr/>
        </p:nvSpPr>
        <p:spPr>
          <a:xfrm>
            <a:off x="5074920" y="2505456"/>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225796" y="2656332"/>
            <a:ext cx="301752" cy="301752"/>
          </a:xfrm>
          <a:prstGeom prst="rect">
            <a:avLst/>
          </a:prstGeom>
        </p:spPr>
      </p:pic>
      <p:sp>
        <p:nvSpPr>
          <p:cNvPr id="27" name="Text 20"/>
          <p:cNvSpPr txBox="1"/>
          <p:nvPr/>
        </p:nvSpPr>
        <p:spPr>
          <a:xfrm>
            <a:off x="5943600" y="2432304"/>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Propose, don’t apply</a:t>
            </a:r>
            <a:endParaRPr lang="en-US" sz="2100" dirty="0"/>
          </a:p>
        </p:txBody>
      </p:sp>
      <p:sp>
        <p:nvSpPr>
          <p:cNvPr id="28" name="Text 21"/>
          <p:cNvSpPr txBox="1"/>
          <p:nvPr/>
        </p:nvSpPr>
        <p:spPr>
          <a:xfrm>
            <a:off x="5943600" y="2871216"/>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No tested rollback? Then propose only.</a:t>
            </a:r>
            <a:endParaRPr lang="en-US" sz="1350" dirty="0"/>
          </a:p>
        </p:txBody>
      </p:sp>
      <p:sp>
        <p:nvSpPr>
          <p:cNvPr id="29" name="Text 22"/>
          <p:cNvSpPr txBox="1"/>
          <p:nvPr/>
        </p:nvSpPr>
        <p:spPr>
          <a:xfrm>
            <a:off x="10332720" y="2395728"/>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14</a:t>
            </a:r>
            <a:endParaRPr lang="en-US" sz="4200" dirty="0"/>
          </a:p>
        </p:txBody>
      </p:sp>
      <p:sp>
        <p:nvSpPr>
          <p:cNvPr id="30" name="Shape 23"/>
          <p:cNvSpPr/>
          <p:nvPr/>
        </p:nvSpPr>
        <p:spPr>
          <a:xfrm>
            <a:off x="4800600" y="3529584"/>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4"/>
          <p:cNvSpPr/>
          <p:nvPr/>
        </p:nvSpPr>
        <p:spPr>
          <a:xfrm>
            <a:off x="5074920" y="3822192"/>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5225796" y="3973068"/>
            <a:ext cx="301752" cy="301752"/>
          </a:xfrm>
          <a:prstGeom prst="rect">
            <a:avLst/>
          </a:prstGeom>
        </p:spPr>
      </p:pic>
      <p:sp>
        <p:nvSpPr>
          <p:cNvPr id="33" name="Text 25"/>
          <p:cNvSpPr txBox="1"/>
          <p:nvPr/>
        </p:nvSpPr>
        <p:spPr>
          <a:xfrm>
            <a:off x="5943600" y="3749040"/>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Prompts ask. Hooks decide.</a:t>
            </a:r>
            <a:endParaRPr lang="en-US" sz="2100" dirty="0"/>
          </a:p>
        </p:txBody>
      </p:sp>
      <p:sp>
        <p:nvSpPr>
          <p:cNvPr id="34" name="Text 26"/>
          <p:cNvSpPr txBox="1"/>
          <p:nvPr/>
        </p:nvSpPr>
        <p:spPr>
          <a:xfrm>
            <a:off x="5943600" y="4187952"/>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The Never list, enforced in code before the tool runs.</a:t>
            </a:r>
            <a:endParaRPr lang="en-US" sz="1350" dirty="0"/>
          </a:p>
        </p:txBody>
      </p:sp>
      <p:sp>
        <p:nvSpPr>
          <p:cNvPr id="35" name="Text 27"/>
          <p:cNvSpPr txBox="1"/>
          <p:nvPr/>
        </p:nvSpPr>
        <p:spPr>
          <a:xfrm>
            <a:off x="10332720" y="3712464"/>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15</a:t>
            </a:r>
            <a:endParaRPr lang="en-US" sz="4200" dirty="0"/>
          </a:p>
        </p:txBody>
      </p:sp>
      <p:sp>
        <p:nvSpPr>
          <p:cNvPr id="36" name="Shape 28"/>
          <p:cNvSpPr/>
          <p:nvPr/>
        </p:nvSpPr>
        <p:spPr>
          <a:xfrm>
            <a:off x="4800600" y="4846320"/>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29"/>
          <p:cNvSpPr/>
          <p:nvPr/>
        </p:nvSpPr>
        <p:spPr>
          <a:xfrm>
            <a:off x="5074920" y="513892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5225796" y="5289804"/>
            <a:ext cx="301752" cy="301752"/>
          </a:xfrm>
          <a:prstGeom prst="rect">
            <a:avLst/>
          </a:prstGeom>
        </p:spPr>
      </p:pic>
      <p:sp>
        <p:nvSpPr>
          <p:cNvPr id="39" name="Text 30"/>
          <p:cNvSpPr txBox="1"/>
          <p:nvPr/>
        </p:nvSpPr>
        <p:spPr>
          <a:xfrm>
            <a:off x="5943600" y="5065776"/>
            <a:ext cx="4526280" cy="411480"/>
          </a:xfrm>
          <a:prstGeom prst="rect">
            <a:avLst/>
          </a:prstGeom>
          <a:noFill/>
          <a:ln/>
        </p:spPr>
        <p:txBody>
          <a:bodyPr wrap="square" lIns="0" tIns="0" rIns="0" bIns="0" rtlCol="0" anchor="ctr"/>
          <a:lstStyle/>
          <a:p>
            <a:r>
              <a:rPr lang="en-US" sz="2000" b="1" dirty="0">
                <a:solidFill>
                  <a:srgbClr val="132038"/>
                </a:solidFill>
                <a:latin typeface="Calibri" pitchFamily="34" charset="0"/>
                <a:ea typeface="Calibri" pitchFamily="34" charset="-122"/>
                <a:cs typeface="Calibri" pitchFamily="34" charset="-120"/>
              </a:rPr>
              <a:t>Enforce guardrails in code</a:t>
            </a:r>
            <a:endParaRPr lang="en-US" sz="2000" dirty="0"/>
          </a:p>
        </p:txBody>
      </p:sp>
      <p:sp>
        <p:nvSpPr>
          <p:cNvPr id="40" name="Text 31"/>
          <p:cNvSpPr txBox="1"/>
          <p:nvPr/>
        </p:nvSpPr>
        <p:spPr>
          <a:xfrm>
            <a:off x="5943600" y="5504688"/>
            <a:ext cx="4526280" cy="347472"/>
          </a:xfrm>
          <a:prstGeom prst="rect">
            <a:avLst/>
          </a:prstGeom>
          <a:noFill/>
          <a:ln/>
        </p:spPr>
        <p:txBody>
          <a:bodyPr wrap="square" lIns="0" tIns="0" rIns="0" bIns="0" rtlCol="0" anchor="t"/>
          <a:lstStyle/>
          <a:p>
            <a:r>
              <a:rPr lang="en-US" sz="1200" dirty="0">
                <a:solidFill>
                  <a:srgbClr val="6B7381"/>
                </a:solidFill>
                <a:latin typeface="Calibri" pitchFamily="34" charset="0"/>
                <a:ea typeface="Calibri" pitchFamily="34" charset="-122"/>
                <a:cs typeface="Calibri" pitchFamily="34" charset="-120"/>
              </a:rPr>
              <a:t>Hooks + permissions + IAM + budgets + kill switch.</a:t>
            </a:r>
            <a:endParaRPr lang="en-US" sz="1200" dirty="0"/>
          </a:p>
        </p:txBody>
      </p:sp>
      <p:sp>
        <p:nvSpPr>
          <p:cNvPr id="41" name="Text 32"/>
          <p:cNvSpPr txBox="1"/>
          <p:nvPr/>
        </p:nvSpPr>
        <p:spPr>
          <a:xfrm>
            <a:off x="10332720" y="5029200"/>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16</a:t>
            </a:r>
            <a:endParaRPr lang="en-US" sz="4200" dirty="0"/>
          </a:p>
        </p:txBody>
      </p:sp>
      <p:sp>
        <p:nvSpPr>
          <p:cNvPr id="42" name="Text 33"/>
          <p:cNvSpPr txBox="1"/>
          <p:nvPr/>
        </p:nvSpPr>
        <p:spPr>
          <a:xfrm>
            <a:off x="548640" y="6236208"/>
            <a:ext cx="1106424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Source: SEC press release 2013-222 (Knight Capital)</a:t>
            </a:r>
            <a:endParaRPr lang="en-US" sz="700" dirty="0"/>
          </a:p>
        </p:txBody>
      </p:sp>
      <p:sp>
        <p:nvSpPr>
          <p:cNvPr id="43" name="Text 34"/>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4" name="Text 35"/>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IV  ·  BOUND</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DEMO  ·  CLAUDE CODE HOOKS  ·  RULES 13 · 14 · 15 · 18</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The prompt asks. The hook decides.</a:t>
            </a:r>
            <a:endParaRPr lang="en-US" sz="3200" dirty="0"/>
          </a:p>
        </p:txBody>
      </p:sp>
      <p:sp>
        <p:nvSpPr>
          <p:cNvPr id="6" name="Shape 3"/>
          <p:cNvSpPr/>
          <p:nvPr/>
        </p:nvSpPr>
        <p:spPr>
          <a:xfrm>
            <a:off x="548640" y="1572768"/>
            <a:ext cx="7818120" cy="4434840"/>
          </a:xfrm>
          <a:prstGeom prst="rect">
            <a:avLst/>
          </a:prstGeom>
          <a:solidFill>
            <a:srgbClr val="132038"/>
          </a:solidFill>
          <a:ln w="12700">
            <a:solidFill>
              <a:srgbClr val="132038"/>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4"/>
          <p:cNvSpPr/>
          <p:nvPr/>
        </p:nvSpPr>
        <p:spPr>
          <a:xfrm>
            <a:off x="548640" y="1572768"/>
            <a:ext cx="7818120" cy="310896"/>
          </a:xfrm>
          <a:prstGeom prst="rect">
            <a:avLst/>
          </a:prstGeom>
          <a:solidFill>
            <a:srgbClr val="0E1829"/>
          </a:solidFill>
          <a:ln w="12700">
            <a:solidFill>
              <a:srgbClr val="0E1829"/>
            </a:solidFill>
            <a:prstDash val="solid"/>
          </a:ln>
        </p:spPr>
        <p:txBody>
          <a:bodyPr/>
          <a:lstStyle/>
          <a:p>
            <a:endParaRPr lang="en-US"/>
          </a:p>
        </p:txBody>
      </p:sp>
      <p:sp>
        <p:nvSpPr>
          <p:cNvPr id="8" name="Shape 5"/>
          <p:cNvSpPr/>
          <p:nvPr/>
        </p:nvSpPr>
        <p:spPr>
          <a:xfrm>
            <a:off x="694944" y="1673352"/>
            <a:ext cx="109728" cy="109728"/>
          </a:xfrm>
          <a:prstGeom prst="ellipse">
            <a:avLst/>
          </a:prstGeom>
          <a:solidFill>
            <a:srgbClr val="B5443A"/>
          </a:solidFill>
          <a:ln w="12700">
            <a:solidFill>
              <a:srgbClr val="B5443A"/>
            </a:solidFill>
            <a:prstDash val="solid"/>
          </a:ln>
        </p:spPr>
        <p:txBody>
          <a:bodyPr/>
          <a:lstStyle/>
          <a:p>
            <a:endParaRPr lang="en-US"/>
          </a:p>
        </p:txBody>
      </p:sp>
      <p:sp>
        <p:nvSpPr>
          <p:cNvPr id="9" name="Shape 6"/>
          <p:cNvSpPr/>
          <p:nvPr/>
        </p:nvSpPr>
        <p:spPr>
          <a:xfrm>
            <a:off x="877824" y="1673352"/>
            <a:ext cx="109728" cy="109728"/>
          </a:xfrm>
          <a:prstGeom prst="ellipse">
            <a:avLst/>
          </a:prstGeom>
          <a:solidFill>
            <a:srgbClr val="E39A16"/>
          </a:solidFill>
          <a:ln w="12700">
            <a:solidFill>
              <a:srgbClr val="E39A16"/>
            </a:solidFill>
            <a:prstDash val="solid"/>
          </a:ln>
        </p:spPr>
        <p:txBody>
          <a:bodyPr/>
          <a:lstStyle/>
          <a:p>
            <a:endParaRPr lang="en-US"/>
          </a:p>
        </p:txBody>
      </p:sp>
      <p:sp>
        <p:nvSpPr>
          <p:cNvPr id="10" name="Shape 7"/>
          <p:cNvSpPr/>
          <p:nvPr/>
        </p:nvSpPr>
        <p:spPr>
          <a:xfrm>
            <a:off x="1060704" y="1673352"/>
            <a:ext cx="109728" cy="109728"/>
          </a:xfrm>
          <a:prstGeom prst="ellipse">
            <a:avLst/>
          </a:prstGeom>
          <a:solidFill>
            <a:srgbClr val="2E7D5B"/>
          </a:solidFill>
          <a:ln w="12700">
            <a:solidFill>
              <a:srgbClr val="2E7D5B"/>
            </a:solidFill>
            <a:prstDash val="solid"/>
          </a:ln>
        </p:spPr>
        <p:txBody>
          <a:bodyPr/>
          <a:lstStyle/>
          <a:p>
            <a:endParaRPr lang="en-US"/>
          </a:p>
        </p:txBody>
      </p:sp>
      <p:sp>
        <p:nvSpPr>
          <p:cNvPr id="11" name="Text 8"/>
          <p:cNvSpPr txBox="1"/>
          <p:nvPr/>
        </p:nvSpPr>
        <p:spPr>
          <a:xfrm>
            <a:off x="1325880" y="1645920"/>
            <a:ext cx="6903720" cy="182880"/>
          </a:xfrm>
          <a:prstGeom prst="rect">
            <a:avLst/>
          </a:prstGeom>
          <a:noFill/>
          <a:ln/>
        </p:spPr>
        <p:txBody>
          <a:bodyPr wrap="square" lIns="0" tIns="0" rIns="0" bIns="0" rtlCol="0" anchor="t"/>
          <a:lstStyle/>
          <a:p>
            <a:pPr marL="0" indent="0">
              <a:buNone/>
            </a:pPr>
            <a:r>
              <a:rPr lang="en-US" sz="850" dirty="0">
                <a:solidFill>
                  <a:srgbClr val="8E9BAA"/>
                </a:solidFill>
                <a:latin typeface="Courier New" pitchFamily="34" charset="0"/>
                <a:ea typeface="Courier New" pitchFamily="34" charset="-122"/>
                <a:cs typeface="Courier New" pitchFamily="34" charset="-120"/>
              </a:rPr>
              <a:t>claude  —  ~/checkout-service  (hooks: .claude/settings.json)</a:t>
            </a:r>
            <a:endParaRPr lang="en-US" sz="850" dirty="0"/>
          </a:p>
        </p:txBody>
      </p:sp>
      <p:sp>
        <p:nvSpPr>
          <p:cNvPr id="12" name="Text 9"/>
          <p:cNvSpPr txBox="1"/>
          <p:nvPr/>
        </p:nvSpPr>
        <p:spPr>
          <a:xfrm>
            <a:off x="749808" y="2011680"/>
            <a:ext cx="7452360" cy="3886200"/>
          </a:xfrm>
          <a:prstGeom prst="rect">
            <a:avLst/>
          </a:prstGeom>
          <a:noFill/>
          <a:ln/>
        </p:spPr>
        <p:txBody>
          <a:bodyPr wrap="square" lIns="0" tIns="0" rIns="0" bIns="0" rtlCol="0" anchor="t"/>
          <a:lstStyle/>
          <a:p>
            <a:pPr marL="0" indent="0">
              <a:lnSpc>
                <a:spcPct val="112000"/>
              </a:lnSpc>
              <a:buNone/>
            </a:pPr>
            <a:r>
              <a:rPr lang="en-US" sz="1050" b="1" dirty="0">
                <a:solidFill>
                  <a:srgbClr val="E39A16"/>
                </a:solidFill>
                <a:latin typeface="Courier New" pitchFamily="34" charset="0"/>
                <a:ea typeface="Courier New" pitchFamily="34" charset="-122"/>
                <a:cs typeface="Courier New" pitchFamily="34" charset="-120"/>
              </a:rPr>
              <a:t>&gt; </a:t>
            </a:r>
            <a:r>
              <a:rPr lang="en-US" sz="1050" b="1" dirty="0">
                <a:solidFill>
                  <a:srgbClr val="FFFFFF"/>
                </a:solidFill>
                <a:latin typeface="Courier New" pitchFamily="34" charset="0"/>
                <a:ea typeface="Courier New" pitchFamily="34" charset="-122"/>
                <a:cs typeface="Courier New" pitchFamily="34" charset="-120"/>
              </a:rPr>
              <a:t>checkout-api is crash-looping in prod. Investigate and restore.</a:t>
            </a:r>
            <a:endParaRPr lang="en-US" sz="1050" dirty="0"/>
          </a:p>
          <a:p>
            <a:pPr marL="0" indent="0">
              <a:lnSpc>
                <a:spcPct val="112000"/>
              </a:lnSpc>
              <a:buNone/>
            </a:pPr>
            <a:r>
              <a:rPr lang="en-US" sz="1050" dirty="0">
                <a:solidFill>
                  <a:srgbClr val="E7E2D8"/>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A8D5C2"/>
                </a:solidFill>
                <a:latin typeface="Courier New" pitchFamily="34" charset="0"/>
                <a:ea typeface="Courier New" pitchFamily="34" charset="-122"/>
                <a:cs typeface="Courier New" pitchFamily="34" charset="-120"/>
              </a:rPr>
              <a:t>● Bash </a:t>
            </a:r>
            <a:r>
              <a:rPr lang="en-US" sz="1050" dirty="0">
                <a:solidFill>
                  <a:srgbClr val="E7E2D8"/>
                </a:solidFill>
                <a:latin typeface="Courier New" pitchFamily="34" charset="0"/>
                <a:ea typeface="Courier New" pitchFamily="34" charset="-122"/>
                <a:cs typeface="Courier New" pitchFamily="34" charset="-120"/>
              </a:rPr>
              <a:t>kubectl get pods -n prod                 </a:t>
            </a:r>
            <a:r>
              <a:rPr lang="en-US" sz="1050" dirty="0">
                <a:solidFill>
                  <a:srgbClr val="A8D5C2"/>
                </a:solidFill>
                <a:latin typeface="Courier New" pitchFamily="34" charset="0"/>
                <a:ea typeface="Courier New" pitchFamily="34" charset="-122"/>
                <a:cs typeface="Courier New" pitchFamily="34" charset="-120"/>
              </a:rPr>
              <a:t>✓ allowed</a:t>
            </a:r>
            <a:endParaRPr lang="en-US" sz="1050" dirty="0"/>
          </a:p>
          <a:p>
            <a:pPr marL="0" indent="0">
              <a:lnSpc>
                <a:spcPct val="112000"/>
              </a:lnSpc>
              <a:buNone/>
            </a:pPr>
            <a:r>
              <a:rPr lang="en-US" sz="1050" dirty="0">
                <a:solidFill>
                  <a:srgbClr val="A8D5C2"/>
                </a:solidFill>
                <a:latin typeface="Courier New" pitchFamily="34" charset="0"/>
                <a:ea typeface="Courier New" pitchFamily="34" charset="-122"/>
                <a:cs typeface="Courier New" pitchFamily="34" charset="-120"/>
              </a:rPr>
              <a:t>● Bash </a:t>
            </a:r>
            <a:r>
              <a:rPr lang="en-US" sz="1050" dirty="0">
                <a:solidFill>
                  <a:srgbClr val="E7E2D8"/>
                </a:solidFill>
                <a:latin typeface="Courier New" pitchFamily="34" charset="0"/>
                <a:ea typeface="Courier New" pitchFamily="34" charset="-122"/>
                <a:cs typeface="Courier New" pitchFamily="34" charset="-120"/>
              </a:rPr>
              <a:t>kubectl logs checkout-api-… --previous   </a:t>
            </a:r>
            <a:r>
              <a:rPr lang="en-US" sz="1050" dirty="0">
                <a:solidFill>
                  <a:srgbClr val="A8D5C2"/>
                </a:solidFill>
                <a:latin typeface="Courier New" pitchFamily="34" charset="0"/>
                <a:ea typeface="Courier New" pitchFamily="34" charset="-122"/>
                <a:cs typeface="Courier New" pitchFamily="34" charset="-120"/>
              </a:rPr>
              <a:t>✓ allowed</a:t>
            </a:r>
            <a:endParaRPr lang="en-US" sz="1050" dirty="0"/>
          </a:p>
          <a:p>
            <a:pPr marL="0" indent="0">
              <a:lnSpc>
                <a:spcPct val="112000"/>
              </a:lnSpc>
              <a:buNone/>
            </a:pPr>
            <a:r>
              <a:rPr lang="en-US" sz="1050" dirty="0">
                <a:solidFill>
                  <a:srgbClr val="8E9BAA"/>
                </a:solidFill>
                <a:latin typeface="Courier New" pitchFamily="34" charset="0"/>
                <a:ea typeface="Courier New" pitchFamily="34" charset="-122"/>
                <a:cs typeface="Courier New" pitchFamily="34" charset="-120"/>
              </a:rPr>
              <a:t>    FATAL DB_POOL_SIZE must be &gt; 0 (got "")</a:t>
            </a:r>
            <a:endParaRPr lang="en-US" sz="1050" dirty="0"/>
          </a:p>
          <a:p>
            <a:pPr marL="0" indent="0">
              <a:lnSpc>
                <a:spcPct val="112000"/>
              </a:lnSpc>
              <a:buNone/>
            </a:pPr>
            <a:r>
              <a:rPr lang="en-US" sz="1050" dirty="0">
                <a:solidFill>
                  <a:srgbClr val="A8D5C2"/>
                </a:solidFill>
                <a:latin typeface="Courier New" pitchFamily="34" charset="0"/>
                <a:ea typeface="Courier New" pitchFamily="34" charset="-122"/>
                <a:cs typeface="Courier New" pitchFamily="34" charset="-120"/>
              </a:rPr>
              <a:t>● Bash </a:t>
            </a:r>
            <a:r>
              <a:rPr lang="en-US" sz="1050" dirty="0">
                <a:solidFill>
                  <a:srgbClr val="E7E2D8"/>
                </a:solidFill>
                <a:latin typeface="Courier New" pitchFamily="34" charset="0"/>
                <a:ea typeface="Courier New" pitchFamily="34" charset="-122"/>
                <a:cs typeface="Courier New" pitchFamily="34" charset="-120"/>
              </a:rPr>
              <a:t>kubectl rollout history deploy/checkout  </a:t>
            </a:r>
            <a:r>
              <a:rPr lang="en-US" sz="1050" dirty="0">
                <a:solidFill>
                  <a:srgbClr val="A8D5C2"/>
                </a:solidFill>
                <a:latin typeface="Courier New" pitchFamily="34" charset="0"/>
                <a:ea typeface="Courier New" pitchFamily="34" charset="-122"/>
                <a:cs typeface="Courier New" pitchFamily="34" charset="-120"/>
              </a:rPr>
              <a:t>✓ allowed</a:t>
            </a:r>
            <a:endParaRPr lang="en-US" sz="1050" dirty="0"/>
          </a:p>
          <a:p>
            <a:pPr marL="0" indent="0">
              <a:lnSpc>
                <a:spcPct val="112000"/>
              </a:lnSpc>
              <a:buNone/>
            </a:pPr>
            <a:r>
              <a:rPr lang="en-US" sz="1050" dirty="0">
                <a:solidFill>
                  <a:srgbClr val="FFFFFF"/>
                </a:solidFill>
                <a:latin typeface="Courier New" pitchFamily="34" charset="0"/>
                <a:ea typeface="Courier New" pitchFamily="34" charset="-122"/>
                <a:cs typeface="Courier New" pitchFamily="34" charset="-120"/>
              </a:rPr>
              <a:t>  Root cause: rev 4812 blanked DB_POOL_SIZE. Fix: roll back to 4811.</a:t>
            </a:r>
            <a:endParaRPr lang="en-US" sz="1050" dirty="0"/>
          </a:p>
          <a:p>
            <a:pPr marL="0" indent="0">
              <a:lnSpc>
                <a:spcPct val="112000"/>
              </a:lnSpc>
              <a:buNone/>
            </a:pPr>
            <a:r>
              <a:rPr lang="en-US" sz="1050" dirty="0">
                <a:solidFill>
                  <a:srgbClr val="E7E2D8"/>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E39A16"/>
                </a:solidFill>
                <a:latin typeface="Courier New" pitchFamily="34" charset="0"/>
                <a:ea typeface="Courier New" pitchFamily="34" charset="-122"/>
                <a:cs typeface="Courier New" pitchFamily="34" charset="-120"/>
              </a:rPr>
              <a:t>● Bash </a:t>
            </a:r>
            <a:r>
              <a:rPr lang="en-US" sz="1050" dirty="0">
                <a:solidFill>
                  <a:srgbClr val="E7E2D8"/>
                </a:solidFill>
                <a:latin typeface="Courier New" pitchFamily="34" charset="0"/>
                <a:ea typeface="Courier New" pitchFamily="34" charset="-122"/>
                <a:cs typeface="Courier New" pitchFamily="34" charset="-120"/>
              </a:rPr>
              <a:t>kubectl rollout undo deploy/checkout-api </a:t>
            </a:r>
            <a:r>
              <a:rPr lang="en-US" sz="1050" b="1" dirty="0">
                <a:solidFill>
                  <a:srgbClr val="E39A16"/>
                </a:solidFill>
                <a:latin typeface="Courier New" pitchFamily="34" charset="0"/>
                <a:ea typeface="Courier New" pitchFamily="34" charset="-122"/>
                <a:cs typeface="Courier New" pitchFamily="34" charset="-120"/>
              </a:rPr>
              <a:t>▲ ASK</a:t>
            </a:r>
            <a:endParaRPr lang="en-US" sz="1050" dirty="0"/>
          </a:p>
          <a:p>
            <a:pPr marL="0" indent="0">
              <a:lnSpc>
                <a:spcPct val="112000"/>
              </a:lnSpc>
              <a:buNone/>
            </a:pPr>
            <a:r>
              <a:rPr lang="en-US" sz="1050" dirty="0">
                <a:solidFill>
                  <a:srgbClr val="E39A16"/>
                </a:solidFill>
                <a:latin typeface="Courier New" pitchFamily="34" charset="0"/>
                <a:ea typeface="Courier New" pitchFamily="34" charset="-122"/>
                <a:cs typeface="Courier New" pitchFamily="34" charset="-120"/>
              </a:rPr>
              <a:t>    prod-guard: this changes production. A human must approve.</a:t>
            </a:r>
            <a:endParaRPr lang="en-US" sz="1050" dirty="0"/>
          </a:p>
          <a:p>
            <a:pPr marL="0" indent="0">
              <a:lnSpc>
                <a:spcPct val="112000"/>
              </a:lnSpc>
              <a:buNone/>
            </a:pPr>
            <a:r>
              <a:rPr lang="en-US" sz="1050" dirty="0">
                <a:solidFill>
                  <a:srgbClr val="E7E2D8"/>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E57368"/>
                </a:solidFill>
                <a:latin typeface="Courier New" pitchFamily="34" charset="0"/>
                <a:ea typeface="Courier New" pitchFamily="34" charset="-122"/>
                <a:cs typeface="Courier New" pitchFamily="34" charset="-120"/>
              </a:rPr>
              <a:t>● Bash </a:t>
            </a:r>
            <a:r>
              <a:rPr lang="en-US" sz="1050" dirty="0">
                <a:solidFill>
                  <a:srgbClr val="E7E2D8"/>
                </a:solidFill>
                <a:latin typeface="Courier New" pitchFamily="34" charset="0"/>
                <a:ea typeface="Courier New" pitchFamily="34" charset="-122"/>
                <a:cs typeface="Courier New" pitchFamily="34" charset="-120"/>
              </a:rPr>
              <a:t>kubectl delete namespace prod            </a:t>
            </a:r>
            <a:r>
              <a:rPr lang="en-US" sz="1050" b="1" dirty="0">
                <a:solidFill>
                  <a:srgbClr val="E57368"/>
                </a:solidFill>
                <a:latin typeface="Courier New" pitchFamily="34" charset="0"/>
                <a:ea typeface="Courier New" pitchFamily="34" charset="-122"/>
                <a:cs typeface="Courier New" pitchFamily="34" charset="-120"/>
              </a:rPr>
              <a:t>✕ DENY</a:t>
            </a:r>
            <a:endParaRPr lang="en-US" sz="1050" dirty="0"/>
          </a:p>
          <a:p>
            <a:pPr marL="0" indent="0">
              <a:lnSpc>
                <a:spcPct val="112000"/>
              </a:lnSpc>
              <a:buNone/>
            </a:pPr>
            <a:r>
              <a:rPr lang="en-US" sz="1050" dirty="0">
                <a:solidFill>
                  <a:srgbClr val="E57368"/>
                </a:solidFill>
                <a:latin typeface="Courier New" pitchFamily="34" charset="0"/>
                <a:ea typeface="Courier New" pitchFamily="34" charset="-122"/>
                <a:cs typeface="Courier New" pitchFamily="34" charset="-120"/>
              </a:rPr>
              <a:t>    BLOCKED by prod-guard: irreversible, high blast radius.</a:t>
            </a:r>
            <a:endParaRPr lang="en-US" sz="1050" dirty="0"/>
          </a:p>
        </p:txBody>
      </p:sp>
      <p:sp>
        <p:nvSpPr>
          <p:cNvPr id="13" name="Shape 10"/>
          <p:cNvSpPr/>
          <p:nvPr/>
        </p:nvSpPr>
        <p:spPr>
          <a:xfrm>
            <a:off x="8595360" y="1572768"/>
            <a:ext cx="3017520" cy="1005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1"/>
          <p:cNvSpPr/>
          <p:nvPr/>
        </p:nvSpPr>
        <p:spPr>
          <a:xfrm>
            <a:off x="8778240" y="1801368"/>
            <a:ext cx="548640" cy="548640"/>
          </a:xfrm>
          <a:prstGeom prst="ellipse">
            <a:avLst/>
          </a:prstGeom>
          <a:solidFill>
            <a:srgbClr val="2E7D5B"/>
          </a:solidFill>
          <a:ln w="12700">
            <a:solidFill>
              <a:srgbClr val="2E7D5B"/>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8915400" y="1938528"/>
            <a:ext cx="274320" cy="274320"/>
          </a:xfrm>
          <a:prstGeom prst="rect">
            <a:avLst/>
          </a:prstGeom>
        </p:spPr>
      </p:pic>
      <p:sp>
        <p:nvSpPr>
          <p:cNvPr id="16" name="Text 12"/>
          <p:cNvSpPr txBox="1"/>
          <p:nvPr/>
        </p:nvSpPr>
        <p:spPr>
          <a:xfrm>
            <a:off x="9464040" y="1755648"/>
            <a:ext cx="2103120" cy="320040"/>
          </a:xfrm>
          <a:prstGeom prst="rect">
            <a:avLst/>
          </a:prstGeom>
          <a:noFill/>
          <a:ln/>
        </p:spPr>
        <p:txBody>
          <a:bodyPr wrap="square" lIns="0" tIns="0" rIns="0" bIns="0" rtlCol="0" anchor="ctr"/>
          <a:lstStyle/>
          <a:p>
            <a:pPr marL="0" indent="0">
              <a:buNone/>
            </a:pPr>
            <a:r>
              <a:rPr lang="en-US" sz="1100" b="1" kern="0" spc="100" dirty="0">
                <a:solidFill>
                  <a:srgbClr val="2E7D5B"/>
                </a:solidFill>
                <a:latin typeface="Courier New" pitchFamily="34" charset="0"/>
                <a:ea typeface="Courier New" pitchFamily="34" charset="-122"/>
                <a:cs typeface="Courier New" pitchFamily="34" charset="-120"/>
              </a:rPr>
              <a:t>ALLOW  </a:t>
            </a:r>
            <a:r>
              <a:rPr lang="en-US" sz="1400" b="1" dirty="0">
                <a:solidFill>
                  <a:srgbClr val="132038"/>
                </a:solidFill>
                <a:latin typeface="Calibri" pitchFamily="34" charset="0"/>
                <a:ea typeface="Calibri" pitchFamily="34" charset="-122"/>
                <a:cs typeface="Calibri" pitchFamily="34" charset="-120"/>
              </a:rPr>
              <a:t>Read-only</a:t>
            </a:r>
            <a:endParaRPr lang="en-US" sz="1100" dirty="0"/>
          </a:p>
        </p:txBody>
      </p:sp>
      <p:sp>
        <p:nvSpPr>
          <p:cNvPr id="17" name="Text 13"/>
          <p:cNvSpPr txBox="1"/>
          <p:nvPr/>
        </p:nvSpPr>
        <p:spPr>
          <a:xfrm>
            <a:off x="9464040" y="2103120"/>
            <a:ext cx="2103120" cy="27432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Hook stays silent.  Rule 13</a:t>
            </a:r>
            <a:endParaRPr lang="en-US" sz="1150" dirty="0"/>
          </a:p>
        </p:txBody>
      </p:sp>
      <p:sp>
        <p:nvSpPr>
          <p:cNvPr id="18" name="Shape 14"/>
          <p:cNvSpPr/>
          <p:nvPr/>
        </p:nvSpPr>
        <p:spPr>
          <a:xfrm>
            <a:off x="8595360" y="2706624"/>
            <a:ext cx="3017520" cy="1005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5"/>
          <p:cNvSpPr/>
          <p:nvPr/>
        </p:nvSpPr>
        <p:spPr>
          <a:xfrm>
            <a:off x="8778240" y="2935224"/>
            <a:ext cx="548640" cy="548640"/>
          </a:xfrm>
          <a:prstGeom prst="ellipse">
            <a:avLst/>
          </a:prstGeom>
          <a:solidFill>
            <a:srgbClr val="B0730A"/>
          </a:solidFill>
          <a:ln w="12700">
            <a:solidFill>
              <a:srgbClr val="B0730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915400" y="3072384"/>
            <a:ext cx="274320" cy="274320"/>
          </a:xfrm>
          <a:prstGeom prst="rect">
            <a:avLst/>
          </a:prstGeom>
        </p:spPr>
      </p:pic>
      <p:sp>
        <p:nvSpPr>
          <p:cNvPr id="21" name="Text 16"/>
          <p:cNvSpPr txBox="1"/>
          <p:nvPr/>
        </p:nvSpPr>
        <p:spPr>
          <a:xfrm>
            <a:off x="9464040" y="2889504"/>
            <a:ext cx="2103120" cy="320040"/>
          </a:xfrm>
          <a:prstGeom prst="rect">
            <a:avLst/>
          </a:prstGeom>
          <a:noFill/>
          <a:ln/>
        </p:spPr>
        <p:txBody>
          <a:bodyPr wrap="square" lIns="0" tIns="0" rIns="0" bIns="0" rtlCol="0" anchor="ctr"/>
          <a:lstStyle/>
          <a:p>
            <a:pPr marL="0" indent="0">
              <a:buNone/>
            </a:pPr>
            <a:r>
              <a:rPr lang="en-US" sz="1100" b="1" kern="0" spc="100" dirty="0">
                <a:solidFill>
                  <a:srgbClr val="B0730A"/>
                </a:solidFill>
                <a:latin typeface="Courier New" pitchFamily="34" charset="0"/>
                <a:ea typeface="Courier New" pitchFamily="34" charset="-122"/>
                <a:cs typeface="Courier New" pitchFamily="34" charset="-120"/>
              </a:rPr>
              <a:t>ASK  </a:t>
            </a:r>
            <a:r>
              <a:rPr lang="en-US" sz="1400" b="1" dirty="0">
                <a:solidFill>
                  <a:srgbClr val="132038"/>
                </a:solidFill>
                <a:latin typeface="Calibri" pitchFamily="34" charset="0"/>
                <a:ea typeface="Calibri" pitchFamily="34" charset="-122"/>
                <a:cs typeface="Calibri" pitchFamily="34" charset="-120"/>
              </a:rPr>
              <a:t>Changes prod</a:t>
            </a:r>
            <a:endParaRPr lang="en-US" sz="1100" dirty="0"/>
          </a:p>
        </p:txBody>
      </p:sp>
      <p:sp>
        <p:nvSpPr>
          <p:cNvPr id="22" name="Text 17"/>
          <p:cNvSpPr txBox="1"/>
          <p:nvPr/>
        </p:nvSpPr>
        <p:spPr>
          <a:xfrm>
            <a:off x="9464040" y="3236976"/>
            <a:ext cx="2103120" cy="27432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A human presses it.  Rule 14</a:t>
            </a:r>
            <a:endParaRPr lang="en-US" sz="1150" dirty="0"/>
          </a:p>
        </p:txBody>
      </p:sp>
      <p:sp>
        <p:nvSpPr>
          <p:cNvPr id="23" name="Shape 18"/>
          <p:cNvSpPr/>
          <p:nvPr/>
        </p:nvSpPr>
        <p:spPr>
          <a:xfrm>
            <a:off x="8595360" y="3840480"/>
            <a:ext cx="3017520" cy="1005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4" name="Shape 19"/>
          <p:cNvSpPr/>
          <p:nvPr/>
        </p:nvSpPr>
        <p:spPr>
          <a:xfrm>
            <a:off x="8778240" y="4069080"/>
            <a:ext cx="548640" cy="548640"/>
          </a:xfrm>
          <a:prstGeom prst="ellipse">
            <a:avLst/>
          </a:prstGeom>
          <a:solidFill>
            <a:srgbClr val="B5443A"/>
          </a:solidFill>
          <a:ln w="12700">
            <a:solidFill>
              <a:srgbClr val="B5443A"/>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8915400" y="4206240"/>
            <a:ext cx="274320" cy="274320"/>
          </a:xfrm>
          <a:prstGeom prst="rect">
            <a:avLst/>
          </a:prstGeom>
        </p:spPr>
      </p:pic>
      <p:sp>
        <p:nvSpPr>
          <p:cNvPr id="26" name="Text 20"/>
          <p:cNvSpPr txBox="1"/>
          <p:nvPr/>
        </p:nvSpPr>
        <p:spPr>
          <a:xfrm>
            <a:off x="9464040" y="4023360"/>
            <a:ext cx="2103120" cy="320040"/>
          </a:xfrm>
          <a:prstGeom prst="rect">
            <a:avLst/>
          </a:prstGeom>
          <a:noFill/>
          <a:ln/>
        </p:spPr>
        <p:txBody>
          <a:bodyPr wrap="square" lIns="0" tIns="0" rIns="0" bIns="0" rtlCol="0" anchor="ctr"/>
          <a:lstStyle/>
          <a:p>
            <a:pPr marL="0" indent="0">
              <a:buNone/>
            </a:pPr>
            <a:r>
              <a:rPr lang="en-US" sz="1100" b="1" kern="0" spc="100" dirty="0">
                <a:solidFill>
                  <a:srgbClr val="B5443A"/>
                </a:solidFill>
                <a:latin typeface="Courier New" pitchFamily="34" charset="0"/>
                <a:ea typeface="Courier New" pitchFamily="34" charset="-122"/>
                <a:cs typeface="Courier New" pitchFamily="34" charset="-120"/>
              </a:rPr>
              <a:t>DENY  </a:t>
            </a:r>
            <a:r>
              <a:rPr lang="en-US" sz="1400" b="1" dirty="0">
                <a:solidFill>
                  <a:srgbClr val="132038"/>
                </a:solidFill>
                <a:latin typeface="Calibri" pitchFamily="34" charset="0"/>
                <a:ea typeface="Calibri" pitchFamily="34" charset="-122"/>
                <a:cs typeface="Calibri" pitchFamily="34" charset="-120"/>
              </a:rPr>
              <a:t>Catastrophic</a:t>
            </a:r>
            <a:endParaRPr lang="en-US" sz="1100" dirty="0"/>
          </a:p>
        </p:txBody>
      </p:sp>
      <p:sp>
        <p:nvSpPr>
          <p:cNvPr id="27" name="Text 21"/>
          <p:cNvSpPr txBox="1"/>
          <p:nvPr/>
        </p:nvSpPr>
        <p:spPr>
          <a:xfrm>
            <a:off x="9464040" y="4370832"/>
            <a:ext cx="2103120" cy="27432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Never — even if asked.  Rule 15</a:t>
            </a:r>
            <a:endParaRPr lang="en-US" sz="1150" dirty="0"/>
          </a:p>
        </p:txBody>
      </p:sp>
      <p:sp>
        <p:nvSpPr>
          <p:cNvPr id="28" name="Shape 22"/>
          <p:cNvSpPr/>
          <p:nvPr/>
        </p:nvSpPr>
        <p:spPr>
          <a:xfrm>
            <a:off x="8595360" y="4974336"/>
            <a:ext cx="3017520" cy="1005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9" name="Shape 23"/>
          <p:cNvSpPr/>
          <p:nvPr/>
        </p:nvSpPr>
        <p:spPr>
          <a:xfrm>
            <a:off x="8778240" y="5202936"/>
            <a:ext cx="548640" cy="548640"/>
          </a:xfrm>
          <a:prstGeom prst="ellipse">
            <a:avLst/>
          </a:prstGeom>
          <a:solidFill>
            <a:srgbClr val="1D6F8B"/>
          </a:solidFill>
          <a:ln w="12700">
            <a:solidFill>
              <a:srgbClr val="1D6F8B"/>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915400" y="5340096"/>
            <a:ext cx="274320" cy="274320"/>
          </a:xfrm>
          <a:prstGeom prst="rect">
            <a:avLst/>
          </a:prstGeom>
        </p:spPr>
      </p:pic>
      <p:sp>
        <p:nvSpPr>
          <p:cNvPr id="31" name="Text 24"/>
          <p:cNvSpPr txBox="1"/>
          <p:nvPr/>
        </p:nvSpPr>
        <p:spPr>
          <a:xfrm>
            <a:off x="9464040" y="5157216"/>
            <a:ext cx="2103120" cy="320040"/>
          </a:xfrm>
          <a:prstGeom prst="rect">
            <a:avLst/>
          </a:prstGeom>
          <a:noFill/>
          <a:ln/>
        </p:spPr>
        <p:txBody>
          <a:bodyPr wrap="square" lIns="0" tIns="0" rIns="0" bIns="0" rtlCol="0" anchor="ctr"/>
          <a:lstStyle/>
          <a:p>
            <a:pPr marL="0" indent="0">
              <a:buNone/>
            </a:pPr>
            <a:r>
              <a:rPr lang="en-US" sz="1100" b="1" kern="0" spc="100" dirty="0">
                <a:solidFill>
                  <a:srgbClr val="1D6F8B"/>
                </a:solidFill>
                <a:latin typeface="Courier New" pitchFamily="34" charset="0"/>
                <a:ea typeface="Courier New" pitchFamily="34" charset="-122"/>
                <a:cs typeface="Courier New" pitchFamily="34" charset="-120"/>
              </a:rPr>
              <a:t>LOG  </a:t>
            </a:r>
            <a:r>
              <a:rPr lang="en-US" sz="1400" b="1" dirty="0">
                <a:solidFill>
                  <a:srgbClr val="132038"/>
                </a:solidFill>
                <a:latin typeface="Calibri" pitchFamily="34" charset="0"/>
                <a:ea typeface="Calibri" pitchFamily="34" charset="-122"/>
                <a:cs typeface="Calibri" pitchFamily="34" charset="-120"/>
              </a:rPr>
              <a:t>Every step</a:t>
            </a:r>
            <a:endParaRPr lang="en-US" sz="1100" dirty="0"/>
          </a:p>
        </p:txBody>
      </p:sp>
      <p:sp>
        <p:nvSpPr>
          <p:cNvPr id="32" name="Text 25"/>
          <p:cNvSpPr txBox="1"/>
          <p:nvPr/>
        </p:nvSpPr>
        <p:spPr>
          <a:xfrm>
            <a:off x="9464040" y="5504688"/>
            <a:ext cx="2103120" cy="274320"/>
          </a:xfrm>
          <a:prstGeom prst="rect">
            <a:avLst/>
          </a:prstGeom>
          <a:noFill/>
          <a:ln/>
        </p:spPr>
        <p:txBody>
          <a:bodyPr wrap="square" lIns="0" tIns="0" rIns="0" bIns="0" rtlCol="0" anchor="t"/>
          <a:lstStyle/>
          <a:p>
            <a:pPr marL="0" indent="0">
              <a:buNone/>
            </a:pPr>
            <a:r>
              <a:rPr lang="en-US" sz="1150" dirty="0">
                <a:solidFill>
                  <a:srgbClr val="6B7381"/>
                </a:solidFill>
                <a:latin typeface="Calibri" pitchFamily="34" charset="0"/>
                <a:ea typeface="Calibri" pitchFamily="34" charset="-122"/>
                <a:cs typeface="Calibri" pitchFamily="34" charset="-120"/>
              </a:rPr>
              <a:t>agent-actions.jsonl.  Rule 18</a:t>
            </a:r>
            <a:endParaRPr lang="en-US" sz="1150" dirty="0"/>
          </a:p>
        </p:txBody>
      </p:sp>
      <p:sp>
        <p:nvSpPr>
          <p:cNvPr id="33" name="Text 26"/>
          <p:cNvSpPr txBox="1"/>
          <p:nvPr/>
        </p:nvSpPr>
        <p:spPr>
          <a:xfrm>
            <a:off x="548640" y="6144768"/>
            <a:ext cx="914400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REAL RUN  ·  CLAUDE CODE 2.1  ·  KUBECTL STUBBED  ·  DENY LINE FROM THE KIT’S TEST HARNESS</a:t>
            </a:r>
            <a:endParaRPr lang="en-US" sz="700" dirty="0"/>
          </a:p>
        </p:txBody>
      </p:sp>
      <p:sp>
        <p:nvSpPr>
          <p:cNvPr id="34" name="Text 27"/>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35" name="Text 28"/>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IV  ·  DEMO 1/2</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COPY THIS  ·  TWO FILES, COMMITTED TO THE REPO</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Wire it once. Every session inherits it.</a:t>
            </a:r>
            <a:endParaRPr lang="en-US" sz="3200" dirty="0"/>
          </a:p>
        </p:txBody>
      </p:sp>
      <p:sp>
        <p:nvSpPr>
          <p:cNvPr id="6" name="Shape 3"/>
          <p:cNvSpPr/>
          <p:nvPr/>
        </p:nvSpPr>
        <p:spPr>
          <a:xfrm>
            <a:off x="548640" y="1572768"/>
            <a:ext cx="4160520" cy="3611880"/>
          </a:xfrm>
          <a:prstGeom prst="rect">
            <a:avLst/>
          </a:prstGeom>
          <a:solidFill>
            <a:srgbClr val="132038"/>
          </a:solidFill>
          <a:ln w="12700">
            <a:solidFill>
              <a:srgbClr val="132038"/>
            </a:solidFill>
            <a:prstDash val="solid"/>
          </a:ln>
          <a:effectLst>
            <a:outerShdw blurRad="101600" dist="25400" dir="5400000" algn="bl" rotWithShape="0">
              <a:srgbClr val="000000">
                <a:alpha val="10000"/>
              </a:srgbClr>
            </a:outerShdw>
          </a:effectLst>
        </p:spPr>
        <p:txBody>
          <a:bodyPr/>
          <a:lstStyle/>
          <a:p>
            <a:endParaRPr lang="en-US"/>
          </a:p>
        </p:txBody>
      </p:sp>
      <p:sp>
        <p:nvSpPr>
          <p:cNvPr id="7" name="Shape 4"/>
          <p:cNvSpPr/>
          <p:nvPr/>
        </p:nvSpPr>
        <p:spPr>
          <a:xfrm>
            <a:off x="548640" y="1572768"/>
            <a:ext cx="4160520" cy="310896"/>
          </a:xfrm>
          <a:prstGeom prst="rect">
            <a:avLst/>
          </a:prstGeom>
          <a:solidFill>
            <a:srgbClr val="0E1829"/>
          </a:solidFill>
          <a:ln w="12700">
            <a:solidFill>
              <a:srgbClr val="0E1829"/>
            </a:solidFill>
            <a:prstDash val="solid"/>
          </a:ln>
        </p:spPr>
        <p:txBody>
          <a:bodyPr/>
          <a:lstStyle/>
          <a:p>
            <a:endParaRPr lang="en-US"/>
          </a:p>
        </p:txBody>
      </p:sp>
      <p:sp>
        <p:nvSpPr>
          <p:cNvPr id="8" name="Shape 5"/>
          <p:cNvSpPr/>
          <p:nvPr/>
        </p:nvSpPr>
        <p:spPr>
          <a:xfrm>
            <a:off x="694944" y="1673352"/>
            <a:ext cx="109728" cy="109728"/>
          </a:xfrm>
          <a:prstGeom prst="ellipse">
            <a:avLst/>
          </a:prstGeom>
          <a:solidFill>
            <a:srgbClr val="B5443A"/>
          </a:solidFill>
          <a:ln w="12700">
            <a:solidFill>
              <a:srgbClr val="B5443A"/>
            </a:solidFill>
            <a:prstDash val="solid"/>
          </a:ln>
        </p:spPr>
        <p:txBody>
          <a:bodyPr/>
          <a:lstStyle/>
          <a:p>
            <a:endParaRPr lang="en-US"/>
          </a:p>
        </p:txBody>
      </p:sp>
      <p:sp>
        <p:nvSpPr>
          <p:cNvPr id="9" name="Shape 6"/>
          <p:cNvSpPr/>
          <p:nvPr/>
        </p:nvSpPr>
        <p:spPr>
          <a:xfrm>
            <a:off x="877824" y="1673352"/>
            <a:ext cx="109728" cy="109728"/>
          </a:xfrm>
          <a:prstGeom prst="ellipse">
            <a:avLst/>
          </a:prstGeom>
          <a:solidFill>
            <a:srgbClr val="E39A16"/>
          </a:solidFill>
          <a:ln w="12700">
            <a:solidFill>
              <a:srgbClr val="E39A16"/>
            </a:solidFill>
            <a:prstDash val="solid"/>
          </a:ln>
        </p:spPr>
        <p:txBody>
          <a:bodyPr/>
          <a:lstStyle/>
          <a:p>
            <a:endParaRPr lang="en-US"/>
          </a:p>
        </p:txBody>
      </p:sp>
      <p:sp>
        <p:nvSpPr>
          <p:cNvPr id="10" name="Shape 7"/>
          <p:cNvSpPr/>
          <p:nvPr/>
        </p:nvSpPr>
        <p:spPr>
          <a:xfrm>
            <a:off x="1060704" y="1673352"/>
            <a:ext cx="109728" cy="109728"/>
          </a:xfrm>
          <a:prstGeom prst="ellipse">
            <a:avLst/>
          </a:prstGeom>
          <a:solidFill>
            <a:srgbClr val="2E7D5B"/>
          </a:solidFill>
          <a:ln w="12700">
            <a:solidFill>
              <a:srgbClr val="2E7D5B"/>
            </a:solidFill>
            <a:prstDash val="solid"/>
          </a:ln>
        </p:spPr>
        <p:txBody>
          <a:bodyPr/>
          <a:lstStyle/>
          <a:p>
            <a:endParaRPr lang="en-US"/>
          </a:p>
        </p:txBody>
      </p:sp>
      <p:sp>
        <p:nvSpPr>
          <p:cNvPr id="11" name="Text 8"/>
          <p:cNvSpPr txBox="1"/>
          <p:nvPr/>
        </p:nvSpPr>
        <p:spPr>
          <a:xfrm>
            <a:off x="1325880" y="1645920"/>
            <a:ext cx="3246120" cy="182880"/>
          </a:xfrm>
          <a:prstGeom prst="rect">
            <a:avLst/>
          </a:prstGeom>
          <a:noFill/>
          <a:ln/>
        </p:spPr>
        <p:txBody>
          <a:bodyPr wrap="square" lIns="0" tIns="0" rIns="0" bIns="0" rtlCol="0" anchor="t"/>
          <a:lstStyle/>
          <a:p>
            <a:pPr marL="0" indent="0">
              <a:buNone/>
            </a:pPr>
            <a:r>
              <a:rPr lang="en-US" sz="850" dirty="0">
                <a:solidFill>
                  <a:srgbClr val="8E9BAA"/>
                </a:solidFill>
                <a:latin typeface="Courier New" pitchFamily="34" charset="0"/>
                <a:ea typeface="Courier New" pitchFamily="34" charset="-122"/>
                <a:cs typeface="Courier New" pitchFamily="34" charset="-120"/>
              </a:rPr>
              <a:t>.claude/settings.json</a:t>
            </a:r>
            <a:endParaRPr lang="en-US" sz="850" dirty="0"/>
          </a:p>
        </p:txBody>
      </p:sp>
      <p:sp>
        <p:nvSpPr>
          <p:cNvPr id="12" name="Text 9"/>
          <p:cNvSpPr txBox="1"/>
          <p:nvPr/>
        </p:nvSpPr>
        <p:spPr>
          <a:xfrm>
            <a:off x="749808" y="2011680"/>
            <a:ext cx="3794760" cy="3063240"/>
          </a:xfrm>
          <a:prstGeom prst="rect">
            <a:avLst/>
          </a:prstGeom>
          <a:noFill/>
          <a:ln/>
        </p:spPr>
        <p:txBody>
          <a:bodyPr wrap="square" lIns="0" tIns="0" rIns="0" bIns="0" rtlCol="0" anchor="t"/>
          <a:lstStyle/>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"hooks": {</a:t>
            </a:r>
            <a:endParaRPr lang="en-US" sz="1000" dirty="0"/>
          </a:p>
          <a:p>
            <a:pPr marL="0" indent="0">
              <a:lnSpc>
                <a:spcPct val="105000"/>
              </a:lnSpc>
              <a:buNone/>
            </a:pPr>
            <a:r>
              <a:rPr lang="en-US" sz="1000" dirty="0">
                <a:solidFill>
                  <a:srgbClr val="E39A16"/>
                </a:solidFill>
                <a:latin typeface="Courier New" pitchFamily="34" charset="0"/>
                <a:ea typeface="Courier New" pitchFamily="34" charset="-122"/>
                <a:cs typeface="Courier New" pitchFamily="34" charset="-120"/>
              </a:rPr>
              <a:t>    "PreToolUse":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"matcher": </a:t>
            </a:r>
            <a:r>
              <a:rPr lang="en-US" sz="1000" dirty="0">
                <a:solidFill>
                  <a:srgbClr val="A8D5C2"/>
                </a:solidFill>
                <a:latin typeface="Courier New" pitchFamily="34" charset="0"/>
                <a:ea typeface="Courier New" pitchFamily="34" charset="-122"/>
                <a:cs typeface="Courier New" pitchFamily="34" charset="-120"/>
              </a:rPr>
              <a:t>"Bash"</a:t>
            </a:r>
            <a:r>
              <a:rPr lang="en-US" sz="1000" dirty="0">
                <a:solidFill>
                  <a:srgbClr val="E7E2D8"/>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"hooks":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"type": "command",</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"command":</a:t>
            </a:r>
            <a:endParaRPr lang="en-US" sz="1000" dirty="0"/>
          </a:p>
          <a:p>
            <a:pPr marL="0" indent="0">
              <a:lnSpc>
                <a:spcPct val="105000"/>
              </a:lnSpc>
              <a:buNone/>
            </a:pPr>
            <a:r>
              <a:rPr lang="en-US" sz="1000" dirty="0">
                <a:solidFill>
                  <a:srgbClr val="A8D5C2"/>
                </a:solidFill>
                <a:latin typeface="Courier New" pitchFamily="34" charset="0"/>
                <a:ea typeface="Courier New" pitchFamily="34" charset="-122"/>
                <a:cs typeface="Courier New" pitchFamily="34" charset="-120"/>
              </a:rPr>
              <a:t>         "\"$CLAUDE_PROJECT_DIR\"</a:t>
            </a:r>
            <a:endParaRPr lang="en-US" sz="1000" dirty="0"/>
          </a:p>
          <a:p>
            <a:pPr marL="0" indent="0">
              <a:lnSpc>
                <a:spcPct val="105000"/>
              </a:lnSpc>
              <a:buNone/>
            </a:pPr>
            <a:r>
              <a:rPr lang="en-US" sz="1000" dirty="0">
                <a:solidFill>
                  <a:srgbClr val="A8D5C2"/>
                </a:solidFill>
                <a:latin typeface="Courier New" pitchFamily="34" charset="0"/>
                <a:ea typeface="Courier New" pitchFamily="34" charset="-122"/>
                <a:cs typeface="Courier New" pitchFamily="34" charset="-120"/>
              </a:rPr>
              <a:t>          /.claude/hooks/prod-guard.sh"</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39A16"/>
                </a:solidFill>
                <a:latin typeface="Courier New" pitchFamily="34" charset="0"/>
                <a:ea typeface="Courier New" pitchFamily="34" charset="-122"/>
                <a:cs typeface="Courier New" pitchFamily="34" charset="-120"/>
              </a:rPr>
              <a:t>    "PostToolUse": [ …audit-log.sh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a:t>
            </a:r>
            <a:endParaRPr lang="en-US" sz="1000" dirty="0"/>
          </a:p>
        </p:txBody>
      </p:sp>
      <p:sp>
        <p:nvSpPr>
          <p:cNvPr id="13" name="Shape 10"/>
          <p:cNvSpPr/>
          <p:nvPr/>
        </p:nvSpPr>
        <p:spPr>
          <a:xfrm>
            <a:off x="4937760" y="1572768"/>
            <a:ext cx="6675120" cy="3611880"/>
          </a:xfrm>
          <a:prstGeom prst="rect">
            <a:avLst/>
          </a:prstGeom>
          <a:solidFill>
            <a:srgbClr val="132038"/>
          </a:solidFill>
          <a:ln w="12700">
            <a:solidFill>
              <a:srgbClr val="132038"/>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1"/>
          <p:cNvSpPr/>
          <p:nvPr/>
        </p:nvSpPr>
        <p:spPr>
          <a:xfrm>
            <a:off x="4937760" y="1572768"/>
            <a:ext cx="6675120" cy="310896"/>
          </a:xfrm>
          <a:prstGeom prst="rect">
            <a:avLst/>
          </a:prstGeom>
          <a:solidFill>
            <a:srgbClr val="0E1829"/>
          </a:solidFill>
          <a:ln w="12700">
            <a:solidFill>
              <a:srgbClr val="0E1829"/>
            </a:solidFill>
            <a:prstDash val="solid"/>
          </a:ln>
        </p:spPr>
        <p:txBody>
          <a:bodyPr/>
          <a:lstStyle/>
          <a:p>
            <a:endParaRPr lang="en-US"/>
          </a:p>
        </p:txBody>
      </p:sp>
      <p:sp>
        <p:nvSpPr>
          <p:cNvPr id="15" name="Shape 12"/>
          <p:cNvSpPr/>
          <p:nvPr/>
        </p:nvSpPr>
        <p:spPr>
          <a:xfrm>
            <a:off x="5084064" y="1673352"/>
            <a:ext cx="109728" cy="109728"/>
          </a:xfrm>
          <a:prstGeom prst="ellipse">
            <a:avLst/>
          </a:prstGeom>
          <a:solidFill>
            <a:srgbClr val="B5443A"/>
          </a:solidFill>
          <a:ln w="12700">
            <a:solidFill>
              <a:srgbClr val="B5443A"/>
            </a:solidFill>
            <a:prstDash val="solid"/>
          </a:ln>
        </p:spPr>
        <p:txBody>
          <a:bodyPr/>
          <a:lstStyle/>
          <a:p>
            <a:endParaRPr lang="en-US"/>
          </a:p>
        </p:txBody>
      </p:sp>
      <p:sp>
        <p:nvSpPr>
          <p:cNvPr id="16" name="Shape 13"/>
          <p:cNvSpPr/>
          <p:nvPr/>
        </p:nvSpPr>
        <p:spPr>
          <a:xfrm>
            <a:off x="5266944" y="1673352"/>
            <a:ext cx="109728" cy="109728"/>
          </a:xfrm>
          <a:prstGeom prst="ellipse">
            <a:avLst/>
          </a:prstGeom>
          <a:solidFill>
            <a:srgbClr val="E39A16"/>
          </a:solidFill>
          <a:ln w="12700">
            <a:solidFill>
              <a:srgbClr val="E39A16"/>
            </a:solidFill>
            <a:prstDash val="solid"/>
          </a:ln>
        </p:spPr>
        <p:txBody>
          <a:bodyPr/>
          <a:lstStyle/>
          <a:p>
            <a:endParaRPr lang="en-US"/>
          </a:p>
        </p:txBody>
      </p:sp>
      <p:sp>
        <p:nvSpPr>
          <p:cNvPr id="17" name="Shape 14"/>
          <p:cNvSpPr/>
          <p:nvPr/>
        </p:nvSpPr>
        <p:spPr>
          <a:xfrm>
            <a:off x="5449824" y="1673352"/>
            <a:ext cx="109728" cy="109728"/>
          </a:xfrm>
          <a:prstGeom prst="ellipse">
            <a:avLst/>
          </a:prstGeom>
          <a:solidFill>
            <a:srgbClr val="2E7D5B"/>
          </a:solidFill>
          <a:ln w="12700">
            <a:solidFill>
              <a:srgbClr val="2E7D5B"/>
            </a:solidFill>
            <a:prstDash val="solid"/>
          </a:ln>
        </p:spPr>
        <p:txBody>
          <a:bodyPr/>
          <a:lstStyle/>
          <a:p>
            <a:endParaRPr lang="en-US"/>
          </a:p>
        </p:txBody>
      </p:sp>
      <p:sp>
        <p:nvSpPr>
          <p:cNvPr id="18" name="Text 15"/>
          <p:cNvSpPr txBox="1"/>
          <p:nvPr/>
        </p:nvSpPr>
        <p:spPr>
          <a:xfrm>
            <a:off x="5715000" y="1645920"/>
            <a:ext cx="5760720" cy="182880"/>
          </a:xfrm>
          <a:prstGeom prst="rect">
            <a:avLst/>
          </a:prstGeom>
          <a:noFill/>
          <a:ln/>
        </p:spPr>
        <p:txBody>
          <a:bodyPr wrap="square" lIns="0" tIns="0" rIns="0" bIns="0" rtlCol="0" anchor="t"/>
          <a:lstStyle/>
          <a:p>
            <a:pPr marL="0" indent="0">
              <a:buNone/>
            </a:pPr>
            <a:r>
              <a:rPr lang="en-US" sz="850" dirty="0">
                <a:solidFill>
                  <a:srgbClr val="8E9BAA"/>
                </a:solidFill>
                <a:latin typeface="Courier New" pitchFamily="34" charset="0"/>
                <a:ea typeface="Courier New" pitchFamily="34" charset="-122"/>
                <a:cs typeface="Courier New" pitchFamily="34" charset="-120"/>
              </a:rPr>
              <a:t>.claude/hooks/prod-guard.sh   (PreToolUse · runs before every Bash call)</a:t>
            </a:r>
            <a:endParaRPr lang="en-US" sz="850" dirty="0"/>
          </a:p>
        </p:txBody>
      </p:sp>
      <p:sp>
        <p:nvSpPr>
          <p:cNvPr id="19" name="Text 16"/>
          <p:cNvSpPr txBox="1"/>
          <p:nvPr/>
        </p:nvSpPr>
        <p:spPr>
          <a:xfrm>
            <a:off x="5138928" y="2011680"/>
            <a:ext cx="6309360" cy="3063240"/>
          </a:xfrm>
          <a:prstGeom prst="rect">
            <a:avLst/>
          </a:prstGeom>
          <a:noFill/>
          <a:ln/>
        </p:spPr>
        <p:txBody>
          <a:bodyPr wrap="square" lIns="0" tIns="0" rIns="0" bIns="0" rtlCol="0" anchor="t"/>
          <a:lstStyle/>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cmd=$(jq -r '.tool_input.command')</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b="1" dirty="0">
                <a:solidFill>
                  <a:srgbClr val="E57368"/>
                </a:solidFill>
                <a:latin typeface="Courier New" pitchFamily="34" charset="0"/>
                <a:ea typeface="Courier New" pitchFamily="34" charset="-122"/>
                <a:cs typeface="Courier New" pitchFamily="34" charset="-120"/>
              </a:rPr>
              <a:t>DENY=</a:t>
            </a:r>
            <a:r>
              <a:rPr lang="en-US" sz="1000" dirty="0">
                <a:solidFill>
                  <a:srgbClr val="E57368"/>
                </a:solidFill>
                <a:latin typeface="Courier New" pitchFamily="34" charset="0"/>
                <a:ea typeface="Courier New" pitchFamily="34" charset="-122"/>
                <a:cs typeface="Courier New" pitchFamily="34" charset="-120"/>
              </a:rPr>
              <a:t>'delete (ns|namespace)|terraform destroy|</a:t>
            </a:r>
            <a:endParaRPr lang="en-US" sz="1000" dirty="0"/>
          </a:p>
          <a:p>
            <a:pPr marL="0" indent="0">
              <a:lnSpc>
                <a:spcPct val="105000"/>
              </a:lnSpc>
              <a:buNone/>
            </a:pPr>
            <a:r>
              <a:rPr lang="en-US" sz="1000" dirty="0">
                <a:solidFill>
                  <a:srgbClr val="E57368"/>
                </a:solidFill>
                <a:latin typeface="Courier New" pitchFamily="34" charset="0"/>
                <a:ea typeface="Courier New" pitchFamily="34" charset="-122"/>
                <a:cs typeface="Courier New" pitchFamily="34" charset="-120"/>
              </a:rPr>
              <a:t>      DROP (TABLE|DATABASE)|volumeDelete'</a:t>
            </a:r>
            <a:endParaRPr lang="en-US" sz="1000" dirty="0"/>
          </a:p>
          <a:p>
            <a:pPr marL="0" indent="0">
              <a:lnSpc>
                <a:spcPct val="105000"/>
              </a:lnSpc>
              <a:buNone/>
            </a:pPr>
            <a:r>
              <a:rPr lang="en-US" sz="1000" b="1" dirty="0">
                <a:solidFill>
                  <a:srgbClr val="E39A16"/>
                </a:solidFill>
                <a:latin typeface="Courier New" pitchFamily="34" charset="0"/>
                <a:ea typeface="Courier New" pitchFamily="34" charset="-122"/>
                <a:cs typeface="Courier New" pitchFamily="34" charset="-120"/>
              </a:rPr>
              <a:t>ASK=</a:t>
            </a:r>
            <a:r>
              <a:rPr lang="en-US" sz="1000" dirty="0">
                <a:solidFill>
                  <a:srgbClr val="E39A16"/>
                </a:solidFill>
                <a:latin typeface="Courier New" pitchFamily="34" charset="0"/>
                <a:ea typeface="Courier New" pitchFamily="34" charset="-122"/>
                <a:cs typeface="Courier New" pitchFamily="34" charset="-120"/>
              </a:rPr>
              <a:t>'kubectl (delete|scale|apply|rollout undo)|</a:t>
            </a:r>
            <a:endParaRPr lang="en-US" sz="1000" dirty="0"/>
          </a:p>
          <a:p>
            <a:pPr marL="0" indent="0">
              <a:lnSpc>
                <a:spcPct val="105000"/>
              </a:lnSpc>
              <a:buNone/>
            </a:pPr>
            <a:r>
              <a:rPr lang="en-US" sz="1000" dirty="0">
                <a:solidFill>
                  <a:srgbClr val="E39A16"/>
                </a:solidFill>
                <a:latin typeface="Courier New" pitchFamily="34" charset="0"/>
                <a:ea typeface="Courier New" pitchFamily="34" charset="-122"/>
                <a:cs typeface="Courier New" pitchFamily="34" charset="-120"/>
              </a:rPr>
              <a:t>     terraform apply|helm (upgrade|rollback)'</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decide() { jq -n --arg d "$1" --arg r "$2" '{hookSpecificOutput:</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{hookEventName:"PreToolUse", permissionDecision:$d,</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permissionDecisionReason:$r}}'; exit 0;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grep -qiE "$DENY" &lt;&lt;&lt;"$cmd" &amp;&amp; decide </a:t>
            </a:r>
            <a:r>
              <a:rPr lang="en-US" sz="1000" b="1" dirty="0">
                <a:solidFill>
                  <a:srgbClr val="E57368"/>
                </a:solidFill>
                <a:latin typeface="Courier New" pitchFamily="34" charset="0"/>
                <a:ea typeface="Courier New" pitchFamily="34" charset="-122"/>
                <a:cs typeface="Courier New" pitchFamily="34" charset="-120"/>
              </a:rPr>
              <a:t>deny</a:t>
            </a:r>
            <a:r>
              <a:rPr lang="en-US" sz="1000" dirty="0">
                <a:solidFill>
                  <a:srgbClr val="E7E2D8"/>
                </a:solidFill>
                <a:latin typeface="Courier New" pitchFamily="34" charset="0"/>
                <a:ea typeface="Courier New" pitchFamily="34" charset="-122"/>
                <a:cs typeface="Courier New" pitchFamily="34" charset="-120"/>
              </a:rPr>
              <a:t> "Irreversible."</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grep -qiE "$ASK"  &lt;&lt;&lt;"$cmd" &amp;&amp; decide </a:t>
            </a:r>
            <a:r>
              <a:rPr lang="en-US" sz="1000" b="1" dirty="0">
                <a:solidFill>
                  <a:srgbClr val="E39A16"/>
                </a:solidFill>
                <a:latin typeface="Courier New" pitchFamily="34" charset="0"/>
                <a:ea typeface="Courier New" pitchFamily="34" charset="-122"/>
                <a:cs typeface="Courier New" pitchFamily="34" charset="-120"/>
              </a:rPr>
              <a:t>ask</a:t>
            </a:r>
            <a:r>
              <a:rPr lang="en-US" sz="1000" dirty="0">
                <a:solidFill>
                  <a:srgbClr val="E7E2D8"/>
                </a:solidFill>
                <a:latin typeface="Courier New" pitchFamily="34" charset="0"/>
                <a:ea typeface="Courier New" pitchFamily="34" charset="-122"/>
                <a:cs typeface="Courier New" pitchFamily="34" charset="-120"/>
              </a:rPr>
              <a:t>  "A human approves."</a:t>
            </a:r>
            <a:endParaRPr lang="en-US" sz="1000" dirty="0"/>
          </a:p>
          <a:p>
            <a:pPr marL="0" indent="0">
              <a:lnSpc>
                <a:spcPct val="105000"/>
              </a:lnSpc>
              <a:buNone/>
            </a:pPr>
            <a:r>
              <a:rPr lang="en-US" sz="1000" dirty="0">
                <a:solidFill>
                  <a:srgbClr val="E7E2D8"/>
                </a:solidFill>
                <a:latin typeface="Courier New" pitchFamily="34" charset="0"/>
                <a:ea typeface="Courier New" pitchFamily="34" charset="-122"/>
                <a:cs typeface="Courier New" pitchFamily="34" charset="-120"/>
              </a:rPr>
              <a:t>exit 0   </a:t>
            </a:r>
            <a:r>
              <a:rPr lang="en-US" sz="1000" dirty="0">
                <a:solidFill>
                  <a:srgbClr val="8E9BAA"/>
                </a:solidFill>
                <a:latin typeface="Courier New" pitchFamily="34" charset="0"/>
                <a:ea typeface="Courier New" pitchFamily="34" charset="-122"/>
                <a:cs typeface="Courier New" pitchFamily="34" charset="-120"/>
              </a:rPr>
              <a:t># silent = normal permission flow</a:t>
            </a:r>
            <a:endParaRPr lang="en-US" sz="1000" dirty="0"/>
          </a:p>
        </p:txBody>
      </p:sp>
      <p:sp>
        <p:nvSpPr>
          <p:cNvPr id="20" name="Shape 17"/>
          <p:cNvSpPr/>
          <p:nvPr/>
        </p:nvSpPr>
        <p:spPr>
          <a:xfrm>
            <a:off x="548640" y="5349240"/>
            <a:ext cx="11064240" cy="749808"/>
          </a:xfrm>
          <a:prstGeom prst="rect">
            <a:avLst/>
          </a:prstGeom>
          <a:solidFill>
            <a:srgbClr val="F1EBE0"/>
          </a:solidFill>
          <a:ln w="12700">
            <a:solidFill>
              <a:srgbClr val="F1EBE0"/>
            </a:solidFill>
            <a:prstDash val="solid"/>
          </a:ln>
        </p:spPr>
        <p:txBody>
          <a:bodyPr/>
          <a:lstStyle/>
          <a:p>
            <a:endParaRPr lang="en-US"/>
          </a:p>
        </p:txBody>
      </p:sp>
      <p:sp>
        <p:nvSpPr>
          <p:cNvPr id="21" name="Text 18"/>
          <p:cNvSpPr txBox="1"/>
          <p:nvPr/>
        </p:nvSpPr>
        <p:spPr>
          <a:xfrm>
            <a:off x="777240" y="5413248"/>
            <a:ext cx="10698480" cy="274320"/>
          </a:xfrm>
          <a:prstGeom prst="rect">
            <a:avLst/>
          </a:prstGeom>
          <a:noFill/>
          <a:ln/>
        </p:spPr>
        <p:txBody>
          <a:bodyPr wrap="square" lIns="0" tIns="0" rIns="0" bIns="0" rtlCol="0" anchor="ctr"/>
          <a:lstStyle/>
          <a:p>
            <a:pPr marL="0" indent="0">
              <a:buNone/>
            </a:pPr>
            <a:r>
              <a:rPr lang="en-US" sz="900" b="1" kern="0" spc="100" dirty="0">
                <a:solidFill>
                  <a:srgbClr val="1D6F8B"/>
                </a:solidFill>
                <a:latin typeface="Courier New" pitchFamily="34" charset="0"/>
                <a:ea typeface="Courier New" pitchFamily="34" charset="-122"/>
                <a:cs typeface="Courier New" pitchFamily="34" charset="-120"/>
              </a:rPr>
              <a:t>THE KIT’S OTHER 6 HOOKS   </a:t>
            </a:r>
            <a:r>
              <a:rPr lang="en-US" sz="1050" b="1" dirty="0">
                <a:solidFill>
                  <a:srgbClr val="132038"/>
                </a:solidFill>
                <a:latin typeface="Courier New" pitchFamily="34" charset="0"/>
                <a:ea typeface="Courier New" pitchFamily="34" charset="-122"/>
                <a:cs typeface="Courier New" pitchFamily="34" charset="-120"/>
              </a:rPr>
              <a:t>kill-switch · change-freeze · protect-files · action-budget · audit-log · notify-oncall</a:t>
            </a:r>
            <a:endParaRPr lang="en-US" sz="900" dirty="0"/>
          </a:p>
        </p:txBody>
      </p:sp>
      <p:sp>
        <p:nvSpPr>
          <p:cNvPr id="22" name="Text 19"/>
          <p:cNvSpPr txBox="1"/>
          <p:nvPr/>
        </p:nvSpPr>
        <p:spPr>
          <a:xfrm>
            <a:off x="777240" y="5705856"/>
            <a:ext cx="10698480" cy="310896"/>
          </a:xfrm>
          <a:prstGeom prst="rect">
            <a:avLst/>
          </a:prstGeom>
          <a:noFill/>
          <a:ln/>
        </p:spPr>
        <p:txBody>
          <a:bodyPr wrap="square" lIns="0" tIns="0" rIns="0" bIns="0" rtlCol="0" anchor="ctr"/>
          <a:lstStyle/>
          <a:p>
            <a:pPr marL="0" indent="0">
              <a:buNone/>
            </a:pPr>
            <a:r>
              <a:rPr lang="en-US" sz="1200" i="1" dirty="0">
                <a:solidFill>
                  <a:srgbClr val="132038"/>
                </a:solidFill>
                <a:latin typeface="Cambria" pitchFamily="34" charset="0"/>
                <a:ea typeface="Cambria" pitchFamily="34" charset="-122"/>
                <a:cs typeface="Cambria" pitchFamily="34" charset="-120"/>
              </a:rPr>
              <a:t>“There is no way to enforce a code freeze in vibe coding apps.” — Jason Lemkin, Jul 2025.  </a:t>
            </a:r>
            <a:r>
              <a:rPr lang="en-US" sz="1200" b="1" dirty="0">
                <a:solidFill>
                  <a:srgbClr val="B0730A"/>
                </a:solidFill>
                <a:latin typeface="Calibri" pitchFamily="34" charset="0"/>
                <a:ea typeface="Calibri" pitchFamily="34" charset="-122"/>
                <a:cs typeface="Calibri" pitchFamily="34" charset="-120"/>
              </a:rPr>
              <a:t>Now there is.   </a:t>
            </a:r>
            <a:r>
              <a:rPr lang="en-US" sz="1200" dirty="0">
                <a:solidFill>
                  <a:srgbClr val="6B7381"/>
                </a:solidFill>
                <a:latin typeface="Calibri" pitchFamily="34" charset="0"/>
                <a:ea typeface="Calibri" pitchFamily="34" charset="-122"/>
                <a:cs typeface="Calibri" pitchFamily="34" charset="-120"/>
              </a:rPr>
              <a:t>Seatbelt, not sandbox: the real wall is still IAM.</a:t>
            </a:r>
            <a:endParaRPr lang="en-US" sz="1200" dirty="0"/>
          </a:p>
        </p:txBody>
      </p:sp>
      <p:sp>
        <p:nvSpPr>
          <p:cNvPr id="23" name="Text 20"/>
          <p:cNvSpPr txBox="1"/>
          <p:nvPr/>
        </p:nvSpPr>
        <p:spPr>
          <a:xfrm>
            <a:off x="548640" y="6199632"/>
            <a:ext cx="731520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Condensed for the slide. Full version: 7 hooks + 46 offline tests at github.com/hanygheit/ai-agent-on-call</a:t>
            </a:r>
            <a:endParaRPr lang="en-US" sz="700" dirty="0"/>
          </a:p>
        </p:txBody>
      </p:sp>
      <p:sp>
        <p:nvSpPr>
          <p:cNvPr id="24" name="Text 21"/>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25" name="Text 22"/>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IV  ·  DEMO 2/2</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6EF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GATE V  ·  PROVE  ·  RULES 17–20</a:t>
            </a:r>
            <a:endParaRPr lang="en-US" sz="1050" dirty="0"/>
          </a:p>
        </p:txBody>
      </p:sp>
      <p:sp>
        <p:nvSpPr>
          <p:cNvPr id="5" name="Text 2"/>
          <p:cNvSpPr txBox="1"/>
          <p:nvPr/>
        </p:nvSpPr>
        <p:spPr>
          <a:xfrm>
            <a:off x="548640" y="914400"/>
            <a:ext cx="4023360" cy="822960"/>
          </a:xfrm>
          <a:prstGeom prst="rect">
            <a:avLst/>
          </a:prstGeom>
          <a:noFill/>
          <a:ln/>
        </p:spPr>
        <p:txBody>
          <a:bodyPr wrap="square" lIns="0" tIns="0" rIns="0" bIns="0" rtlCol="0" anchor="b"/>
          <a:lstStyle/>
          <a:p>
            <a:pPr marL="0" indent="0">
              <a:buNone/>
            </a:pPr>
            <a:r>
              <a:rPr lang="en-US" sz="3400" b="1" dirty="0">
                <a:solidFill>
                  <a:srgbClr val="132038"/>
                </a:solidFill>
                <a:latin typeface="Calibri" pitchFamily="34" charset="0"/>
                <a:ea typeface="Calibri" pitchFamily="34" charset="-122"/>
                <a:cs typeface="Calibri" pitchFamily="34" charset="-120"/>
              </a:rPr>
              <a:t>Prove it first</a:t>
            </a:r>
            <a:endParaRPr lang="en-US" sz="3400" dirty="0"/>
          </a:p>
        </p:txBody>
      </p:sp>
      <p:sp>
        <p:nvSpPr>
          <p:cNvPr id="6" name="Text 3"/>
          <p:cNvSpPr txBox="1"/>
          <p:nvPr/>
        </p:nvSpPr>
        <p:spPr>
          <a:xfrm>
            <a:off x="548640" y="1810512"/>
            <a:ext cx="4023360" cy="365760"/>
          </a:xfrm>
          <a:prstGeom prst="rect">
            <a:avLst/>
          </a:prstGeom>
          <a:noFill/>
          <a:ln/>
        </p:spPr>
        <p:txBody>
          <a:bodyPr wrap="square" lIns="0" tIns="0" rIns="0" bIns="0" rtlCol="0" anchor="t"/>
          <a:lstStyle/>
          <a:p>
            <a:pPr marL="0" indent="0">
              <a:buNone/>
            </a:pPr>
            <a:r>
              <a:rPr lang="en-US" sz="1800" i="1" dirty="0">
                <a:solidFill>
                  <a:srgbClr val="B0730A"/>
                </a:solidFill>
                <a:latin typeface="Cambria" pitchFamily="34" charset="0"/>
                <a:ea typeface="Cambria" pitchFamily="34" charset="-122"/>
                <a:cs typeface="Cambria" pitchFamily="34" charset="-120"/>
              </a:rPr>
              <a:t>Has it earned more?</a:t>
            </a:r>
            <a:endParaRPr lang="en-US" sz="1800" dirty="0"/>
          </a:p>
        </p:txBody>
      </p:sp>
      <p:sp>
        <p:nvSpPr>
          <p:cNvPr id="7" name="Shape 4"/>
          <p:cNvSpPr/>
          <p:nvPr/>
        </p:nvSpPr>
        <p:spPr>
          <a:xfrm>
            <a:off x="548640" y="2487168"/>
            <a:ext cx="3977640" cy="3657600"/>
          </a:xfrm>
          <a:prstGeom prst="rect">
            <a:avLst/>
          </a:prstGeom>
          <a:solidFill>
            <a:srgbClr val="16283A"/>
          </a:solidFill>
          <a:ln w="12700">
            <a:solidFill>
              <a:srgbClr val="16283A"/>
            </a:solidFill>
            <a:prstDash val="solid"/>
          </a:ln>
          <a:effectLst>
            <a:outerShdw blurRad="101600" dist="25400" dir="5400000" algn="bl" rotWithShape="0">
              <a:srgbClr val="000000">
                <a:alpha val="10000"/>
              </a:srgbClr>
            </a:outerShdw>
          </a:effectLst>
        </p:spPr>
        <p:txBody>
          <a:bodyPr/>
          <a:lstStyle/>
          <a:p>
            <a:endParaRPr lang="en-US"/>
          </a:p>
        </p:txBody>
      </p:sp>
      <p:sp>
        <p:nvSpPr>
          <p:cNvPr id="8" name="Text 5"/>
          <p:cNvSpPr txBox="1"/>
          <p:nvPr/>
        </p:nvSpPr>
        <p:spPr>
          <a:xfrm>
            <a:off x="804672" y="2706624"/>
            <a:ext cx="3566160" cy="182880"/>
          </a:xfrm>
          <a:prstGeom prst="rect">
            <a:avLst/>
          </a:prstGeom>
          <a:noFill/>
          <a:ln/>
        </p:spPr>
        <p:txBody>
          <a:bodyPr wrap="square" lIns="0" tIns="0" rIns="0" bIns="0" rtlCol="0" anchor="t"/>
          <a:lstStyle/>
          <a:p>
            <a:pPr marL="0" indent="0">
              <a:buNone/>
            </a:pPr>
            <a:r>
              <a:rPr lang="en-US" sz="950" b="1" kern="0" spc="200" dirty="0">
                <a:solidFill>
                  <a:srgbClr val="E39A16"/>
                </a:solidFill>
                <a:latin typeface="Courier New" pitchFamily="34" charset="0"/>
                <a:ea typeface="Courier New" pitchFamily="34" charset="-122"/>
                <a:cs typeface="Courier New" pitchFamily="34" charset="-120"/>
              </a:rPr>
              <a:t>SCENARIO  ·  MAIN IS RED</a:t>
            </a:r>
            <a:endParaRPr lang="en-US" sz="950" dirty="0"/>
          </a:p>
        </p:txBody>
      </p:sp>
      <p:sp>
        <p:nvSpPr>
          <p:cNvPr id="9" name="Text 6"/>
          <p:cNvSpPr txBox="1"/>
          <p:nvPr/>
        </p:nvSpPr>
        <p:spPr>
          <a:xfrm>
            <a:off x="804672" y="2980944"/>
            <a:ext cx="3520440" cy="658368"/>
          </a:xfrm>
          <a:prstGeom prst="rect">
            <a:avLst/>
          </a:prstGeom>
          <a:noFill/>
          <a:ln/>
        </p:spPr>
        <p:txBody>
          <a:bodyPr wrap="square" lIns="0" tIns="0" rIns="0" bIns="0" rtlCol="0" anchor="t"/>
          <a:lstStyle/>
          <a:p>
            <a:pPr marL="0" indent="0">
              <a:buNone/>
            </a:pPr>
            <a:r>
              <a:rPr lang="en-US" sz="1650" b="1" dirty="0">
                <a:solidFill>
                  <a:srgbClr val="FFFFFF"/>
                </a:solidFill>
                <a:latin typeface="Calibri" pitchFamily="34" charset="0"/>
                <a:ea typeface="Calibri" pitchFamily="34" charset="-122"/>
                <a:cs typeface="Calibri" pitchFamily="34" charset="-120"/>
              </a:rPr>
              <a:t>Agent: “Flaky test — just retry it.”</a:t>
            </a:r>
            <a:endParaRPr lang="en-US" sz="1650" dirty="0"/>
          </a:p>
        </p:txBody>
      </p:sp>
      <p:sp>
        <p:nvSpPr>
          <p:cNvPr id="10" name="Shape 7"/>
          <p:cNvSpPr/>
          <p:nvPr/>
        </p:nvSpPr>
        <p:spPr>
          <a:xfrm>
            <a:off x="804672" y="3749040"/>
            <a:ext cx="310896" cy="310896"/>
          </a:xfrm>
          <a:prstGeom prst="ellipse">
            <a:avLst/>
          </a:prstGeom>
          <a:solidFill>
            <a:srgbClr val="2E7D5B"/>
          </a:solidFill>
          <a:ln w="12700">
            <a:solidFill>
              <a:srgbClr val="2E7D5B"/>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882396" y="3826764"/>
            <a:ext cx="155448" cy="155448"/>
          </a:xfrm>
          <a:prstGeom prst="rect">
            <a:avLst/>
          </a:prstGeom>
        </p:spPr>
      </p:pic>
      <p:sp>
        <p:nvSpPr>
          <p:cNvPr id="12" name="Text 8"/>
          <p:cNvSpPr txBox="1"/>
          <p:nvPr/>
        </p:nvSpPr>
        <p:spPr>
          <a:xfrm>
            <a:off x="1243584" y="3721608"/>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Retry — if it cites the failing test, the log line and the last 10 runs.</a:t>
            </a:r>
            <a:endParaRPr lang="en-US" sz="1250" dirty="0"/>
          </a:p>
        </p:txBody>
      </p:sp>
      <p:sp>
        <p:nvSpPr>
          <p:cNvPr id="13" name="Shape 9"/>
          <p:cNvSpPr/>
          <p:nvPr/>
        </p:nvSpPr>
        <p:spPr>
          <a:xfrm>
            <a:off x="804672" y="4407408"/>
            <a:ext cx="310896" cy="310896"/>
          </a:xfrm>
          <a:prstGeom prst="ellipse">
            <a:avLst/>
          </a:prstGeom>
          <a:solidFill>
            <a:srgbClr val="B5443A"/>
          </a:solidFill>
          <a:ln w="12700">
            <a:solidFill>
              <a:srgbClr val="B5443A"/>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882396" y="4485132"/>
            <a:ext cx="155448" cy="155448"/>
          </a:xfrm>
          <a:prstGeom prst="rect">
            <a:avLst/>
          </a:prstGeom>
        </p:spPr>
      </p:pic>
      <p:sp>
        <p:nvSpPr>
          <p:cNvPr id="15" name="Text 10"/>
          <p:cNvSpPr txBox="1"/>
          <p:nvPr/>
        </p:nvSpPr>
        <p:spPr>
          <a:xfrm>
            <a:off x="1243584" y="4379976"/>
            <a:ext cx="3108960" cy="603504"/>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Skip the test to turn CI green.</a:t>
            </a:r>
            <a:endParaRPr lang="en-US" sz="1250" dirty="0"/>
          </a:p>
        </p:txBody>
      </p:sp>
      <p:sp>
        <p:nvSpPr>
          <p:cNvPr id="16" name="Shape 11"/>
          <p:cNvSpPr/>
          <p:nvPr/>
        </p:nvSpPr>
        <p:spPr>
          <a:xfrm>
            <a:off x="804672" y="5120640"/>
            <a:ext cx="3474720" cy="0"/>
          </a:xfrm>
          <a:prstGeom prst="line">
            <a:avLst/>
          </a:prstGeom>
          <a:noFill/>
          <a:ln w="9525">
            <a:solidFill>
              <a:srgbClr val="2C4560"/>
            </a:solidFill>
            <a:prstDash val="solid"/>
          </a:ln>
        </p:spPr>
        <p:txBody>
          <a:bodyPr/>
          <a:lstStyle/>
          <a:p>
            <a:endParaRPr lang="en-US"/>
          </a:p>
        </p:txBody>
      </p:sp>
      <p:sp>
        <p:nvSpPr>
          <p:cNvPr id="17" name="Text 12"/>
          <p:cNvSpPr txBox="1"/>
          <p:nvPr/>
        </p:nvSpPr>
        <p:spPr>
          <a:xfrm>
            <a:off x="804672" y="5212080"/>
            <a:ext cx="3520440" cy="822960"/>
          </a:xfrm>
          <a:prstGeom prst="rect">
            <a:avLst/>
          </a:prstGeom>
          <a:noFill/>
          <a:ln/>
        </p:spPr>
        <p:txBody>
          <a:bodyPr wrap="square" lIns="0" tIns="0" rIns="0" bIns="0" rtlCol="0" anchor="t"/>
          <a:lstStyle/>
          <a:p>
            <a:pPr marL="0" indent="0">
              <a:buNone/>
            </a:pPr>
            <a:r>
              <a:rPr lang="en-US" sz="1200" i="1" dirty="0">
                <a:solidFill>
                  <a:srgbClr val="E39A16"/>
                </a:solidFill>
                <a:latin typeface="Cambria" pitchFamily="34" charset="0"/>
                <a:ea typeface="Cambria" pitchFamily="34" charset="-122"/>
                <a:cs typeface="Cambria" pitchFamily="34" charset="-120"/>
              </a:rPr>
              <a:t>“A computer can never be held accountable. Therefore a computer must never make a management decision.” — IBM, 1979</a:t>
            </a:r>
            <a:endParaRPr lang="en-US" sz="1200" dirty="0"/>
          </a:p>
        </p:txBody>
      </p:sp>
      <p:sp>
        <p:nvSpPr>
          <p:cNvPr id="18" name="Shape 13"/>
          <p:cNvSpPr/>
          <p:nvPr/>
        </p:nvSpPr>
        <p:spPr>
          <a:xfrm>
            <a:off x="4800600" y="896112"/>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4"/>
          <p:cNvSpPr/>
          <p:nvPr/>
        </p:nvSpPr>
        <p:spPr>
          <a:xfrm>
            <a:off x="5074920" y="1188720"/>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225796" y="1339596"/>
            <a:ext cx="301752" cy="301752"/>
          </a:xfrm>
          <a:prstGeom prst="rect">
            <a:avLst/>
          </a:prstGeom>
        </p:spPr>
      </p:pic>
      <p:sp>
        <p:nvSpPr>
          <p:cNvPr id="21" name="Text 15"/>
          <p:cNvSpPr txBox="1"/>
          <p:nvPr/>
        </p:nvSpPr>
        <p:spPr>
          <a:xfrm>
            <a:off x="5943600" y="1115568"/>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No evidence, no action</a:t>
            </a:r>
            <a:endParaRPr lang="en-US" sz="2100" dirty="0"/>
          </a:p>
        </p:txBody>
      </p:sp>
      <p:sp>
        <p:nvSpPr>
          <p:cNvPr id="22" name="Text 16"/>
          <p:cNvSpPr txBox="1"/>
          <p:nvPr/>
        </p:nvSpPr>
        <p:spPr>
          <a:xfrm>
            <a:off x="5943600" y="1554480"/>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Cite the log line, the test, the query, the diff.</a:t>
            </a:r>
            <a:endParaRPr lang="en-US" sz="1350" dirty="0"/>
          </a:p>
        </p:txBody>
      </p:sp>
      <p:sp>
        <p:nvSpPr>
          <p:cNvPr id="23" name="Text 17"/>
          <p:cNvSpPr txBox="1"/>
          <p:nvPr/>
        </p:nvSpPr>
        <p:spPr>
          <a:xfrm>
            <a:off x="10332720" y="1078992"/>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17</a:t>
            </a:r>
            <a:endParaRPr lang="en-US" sz="4200" dirty="0"/>
          </a:p>
        </p:txBody>
      </p:sp>
      <p:sp>
        <p:nvSpPr>
          <p:cNvPr id="24" name="Shape 18"/>
          <p:cNvSpPr/>
          <p:nvPr/>
        </p:nvSpPr>
        <p:spPr>
          <a:xfrm>
            <a:off x="4800600" y="2212848"/>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5" name="Shape 19"/>
          <p:cNvSpPr/>
          <p:nvPr/>
        </p:nvSpPr>
        <p:spPr>
          <a:xfrm>
            <a:off x="5074920" y="2505456"/>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225796" y="2656332"/>
            <a:ext cx="301752" cy="301752"/>
          </a:xfrm>
          <a:prstGeom prst="rect">
            <a:avLst/>
          </a:prstGeom>
        </p:spPr>
      </p:pic>
      <p:sp>
        <p:nvSpPr>
          <p:cNvPr id="27" name="Text 20"/>
          <p:cNvSpPr txBox="1"/>
          <p:nvPr/>
        </p:nvSpPr>
        <p:spPr>
          <a:xfrm>
            <a:off x="5943600" y="2432304"/>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Audit the why. Pin the versions.</a:t>
            </a:r>
            <a:endParaRPr lang="en-US" sz="2100" dirty="0"/>
          </a:p>
        </p:txBody>
      </p:sp>
      <p:sp>
        <p:nvSpPr>
          <p:cNvPr id="28" name="Text 21"/>
          <p:cNvSpPr txBox="1"/>
          <p:nvPr/>
        </p:nvSpPr>
        <p:spPr>
          <a:xfrm>
            <a:off x="5943600" y="2871216"/>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Evidence + decision + model/prompt/policy version.</a:t>
            </a:r>
            <a:endParaRPr lang="en-US" sz="1350" dirty="0"/>
          </a:p>
        </p:txBody>
      </p:sp>
      <p:sp>
        <p:nvSpPr>
          <p:cNvPr id="29" name="Text 22"/>
          <p:cNvSpPr txBox="1"/>
          <p:nvPr/>
        </p:nvSpPr>
        <p:spPr>
          <a:xfrm>
            <a:off x="10332720" y="2395728"/>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18</a:t>
            </a:r>
            <a:endParaRPr lang="en-US" sz="4200" dirty="0"/>
          </a:p>
        </p:txBody>
      </p:sp>
      <p:sp>
        <p:nvSpPr>
          <p:cNvPr id="30" name="Shape 23"/>
          <p:cNvSpPr/>
          <p:nvPr/>
        </p:nvSpPr>
        <p:spPr>
          <a:xfrm>
            <a:off x="4800600" y="3529584"/>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4"/>
          <p:cNvSpPr/>
          <p:nvPr/>
        </p:nvSpPr>
        <p:spPr>
          <a:xfrm>
            <a:off x="5074920" y="3822192"/>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5225796" y="3973068"/>
            <a:ext cx="301752" cy="301752"/>
          </a:xfrm>
          <a:prstGeom prst="rect">
            <a:avLst/>
          </a:prstGeom>
        </p:spPr>
      </p:pic>
      <p:sp>
        <p:nvSpPr>
          <p:cNvPr id="33" name="Text 25"/>
          <p:cNvSpPr txBox="1"/>
          <p:nvPr/>
        </p:nvSpPr>
        <p:spPr>
          <a:xfrm>
            <a:off x="5943600" y="3749040"/>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Earn it in shadow mode</a:t>
            </a:r>
            <a:endParaRPr lang="en-US" sz="2100" dirty="0"/>
          </a:p>
        </p:txBody>
      </p:sp>
      <p:sp>
        <p:nvSpPr>
          <p:cNvPr id="34" name="Text 26"/>
          <p:cNvSpPr txBox="1"/>
          <p:nvPr/>
        </p:nvSpPr>
        <p:spPr>
          <a:xfrm>
            <a:off x="5943600" y="4187952"/>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Replay real pages. Track false-action rate.</a:t>
            </a:r>
            <a:endParaRPr lang="en-US" sz="1350" dirty="0"/>
          </a:p>
        </p:txBody>
      </p:sp>
      <p:sp>
        <p:nvSpPr>
          <p:cNvPr id="35" name="Text 27"/>
          <p:cNvSpPr txBox="1"/>
          <p:nvPr/>
        </p:nvSpPr>
        <p:spPr>
          <a:xfrm>
            <a:off x="10332720" y="3712464"/>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19</a:t>
            </a:r>
            <a:endParaRPr lang="en-US" sz="4200" dirty="0"/>
          </a:p>
        </p:txBody>
      </p:sp>
      <p:sp>
        <p:nvSpPr>
          <p:cNvPr id="36" name="Shape 28"/>
          <p:cNvSpPr/>
          <p:nvPr/>
        </p:nvSpPr>
        <p:spPr>
          <a:xfrm>
            <a:off x="4800600" y="4846320"/>
            <a:ext cx="6839712" cy="118872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7" name="Shape 29"/>
          <p:cNvSpPr/>
          <p:nvPr/>
        </p:nvSpPr>
        <p:spPr>
          <a:xfrm>
            <a:off x="5074920" y="513892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8" name="Image 6" descr="preencoded.png"/>
          <p:cNvPicPr>
            <a:picLocks noChangeAspect="1"/>
          </p:cNvPicPr>
          <p:nvPr/>
        </p:nvPicPr>
        <p:blipFill>
          <a:blip r:embed="rId9"/>
          <a:stretch>
            <a:fillRect/>
          </a:stretch>
        </p:blipFill>
        <p:spPr>
          <a:xfrm>
            <a:off x="5225796" y="5289804"/>
            <a:ext cx="301752" cy="301752"/>
          </a:xfrm>
          <a:prstGeom prst="rect">
            <a:avLst/>
          </a:prstGeom>
        </p:spPr>
      </p:pic>
      <p:sp>
        <p:nvSpPr>
          <p:cNvPr id="39" name="Text 30"/>
          <p:cNvSpPr txBox="1"/>
          <p:nvPr/>
        </p:nvSpPr>
        <p:spPr>
          <a:xfrm>
            <a:off x="5943600" y="5065776"/>
            <a:ext cx="4526280" cy="411480"/>
          </a:xfrm>
          <a:prstGeom prst="rect">
            <a:avLst/>
          </a:prstGeom>
          <a:noFill/>
          <a:ln/>
        </p:spPr>
        <p:txBody>
          <a:bodyPr wrap="square" lIns="0" tIns="0" rIns="0" bIns="0" rtlCol="0" anchor="ctr"/>
          <a:lstStyle/>
          <a:p>
            <a:pPr marL="0" indent="0">
              <a:buNone/>
            </a:pPr>
            <a:r>
              <a:rPr lang="en-US" sz="2100" b="1" dirty="0">
                <a:solidFill>
                  <a:srgbClr val="132038"/>
                </a:solidFill>
                <a:latin typeface="Calibri" pitchFamily="34" charset="0"/>
                <a:ea typeface="Calibri" pitchFamily="34" charset="-122"/>
                <a:cs typeface="Calibri" pitchFamily="34" charset="-120"/>
              </a:rPr>
              <a:t>Autonomy in gears. A human owns it.</a:t>
            </a:r>
            <a:endParaRPr lang="en-US" sz="2100" dirty="0"/>
          </a:p>
        </p:txBody>
      </p:sp>
      <p:sp>
        <p:nvSpPr>
          <p:cNvPr id="40" name="Text 31"/>
          <p:cNvSpPr txBox="1"/>
          <p:nvPr/>
        </p:nvSpPr>
        <p:spPr>
          <a:xfrm>
            <a:off x="5943600" y="5504688"/>
            <a:ext cx="4526280" cy="347472"/>
          </a:xfrm>
          <a:prstGeom prst="rect">
            <a:avLst/>
          </a:prstGeom>
          <a:noFill/>
          <a:ln/>
        </p:spPr>
        <p:txBody>
          <a:bodyPr wrap="square" lIns="0" tIns="0" rIns="0" bIns="0" rtlCol="0" anchor="t"/>
          <a:lstStyle/>
          <a:p>
            <a:pPr marL="0" indent="0">
              <a:buNone/>
            </a:pPr>
            <a:r>
              <a:rPr lang="en-US" sz="1350" dirty="0">
                <a:solidFill>
                  <a:srgbClr val="6B7381"/>
                </a:solidFill>
                <a:latin typeface="Calibri" pitchFamily="34" charset="0"/>
                <a:ea typeface="Calibri" pitchFamily="34" charset="-122"/>
                <a:cs typeface="Calibri" pitchFamily="34" charset="-120"/>
              </a:rPr>
              <a:t>A name on every page. Downshift without shame.</a:t>
            </a:r>
            <a:endParaRPr lang="en-US" sz="1350" dirty="0"/>
          </a:p>
        </p:txBody>
      </p:sp>
      <p:sp>
        <p:nvSpPr>
          <p:cNvPr id="41" name="Text 32"/>
          <p:cNvSpPr txBox="1"/>
          <p:nvPr/>
        </p:nvSpPr>
        <p:spPr>
          <a:xfrm>
            <a:off x="10332720" y="5029200"/>
            <a:ext cx="1097280" cy="822960"/>
          </a:xfrm>
          <a:prstGeom prst="rect">
            <a:avLst/>
          </a:prstGeom>
          <a:noFill/>
          <a:ln/>
        </p:spPr>
        <p:txBody>
          <a:bodyPr wrap="square" lIns="0" tIns="0" rIns="0" bIns="0" rtlCol="0" anchor="ctr"/>
          <a:lstStyle/>
          <a:p>
            <a:pPr marL="0" indent="0" algn="r">
              <a:buNone/>
            </a:pPr>
            <a:r>
              <a:rPr lang="en-US" sz="4200" b="1" dirty="0">
                <a:solidFill>
                  <a:srgbClr val="E7DCC6"/>
                </a:solidFill>
                <a:latin typeface="Cambria" pitchFamily="34" charset="0"/>
                <a:ea typeface="Cambria" pitchFamily="34" charset="-122"/>
                <a:cs typeface="Cambria" pitchFamily="34" charset="-120"/>
              </a:rPr>
              <a:t>20</a:t>
            </a:r>
            <a:endParaRPr lang="en-US" sz="4200" dirty="0"/>
          </a:p>
        </p:txBody>
      </p:sp>
      <p:sp>
        <p:nvSpPr>
          <p:cNvPr id="42" name="Text 33"/>
          <p:cNvSpPr txBox="1"/>
          <p:nvPr/>
        </p:nvSpPr>
        <p:spPr>
          <a:xfrm>
            <a:off x="548640" y="6236208"/>
            <a:ext cx="11064240" cy="146304"/>
          </a:xfrm>
          <a:prstGeom prst="rect">
            <a:avLst/>
          </a:prstGeom>
          <a:noFill/>
          <a:ln/>
        </p:spPr>
        <p:txBody>
          <a:bodyPr wrap="square" lIns="0" tIns="0" rIns="0" bIns="0" rtlCol="0" anchor="t"/>
          <a:lstStyle/>
          <a:p>
            <a:pPr marL="0" indent="0">
              <a:buNone/>
            </a:pPr>
            <a:r>
              <a:rPr lang="en-US" sz="700" dirty="0">
                <a:solidFill>
                  <a:srgbClr val="9C8E76"/>
                </a:solidFill>
                <a:latin typeface="Courier New" pitchFamily="34" charset="0"/>
                <a:ea typeface="Courier New" pitchFamily="34" charset="-122"/>
                <a:cs typeface="Courier New" pitchFamily="34" charset="-120"/>
              </a:rPr>
              <a:t>Source: IBM internal training slide, 1979 (widely reproduced)</a:t>
            </a:r>
            <a:endParaRPr lang="en-US" sz="700" dirty="0"/>
          </a:p>
        </p:txBody>
      </p:sp>
      <p:sp>
        <p:nvSpPr>
          <p:cNvPr id="43" name="Text 34"/>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4" name="Text 35"/>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V  ·  PROVE</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ONE INCIDENT  ·  ALL FIVE GATES</a:t>
            </a:r>
            <a:endParaRPr lang="en-US" sz="1050" dirty="0"/>
          </a:p>
        </p:txBody>
      </p:sp>
      <p:sp>
        <p:nvSpPr>
          <p:cNvPr id="5" name="Text 2"/>
          <p:cNvSpPr txBox="1"/>
          <p:nvPr/>
        </p:nvSpPr>
        <p:spPr>
          <a:xfrm>
            <a:off x="9784080" y="502920"/>
            <a:ext cx="1828800" cy="182880"/>
          </a:xfrm>
          <a:prstGeom prst="rect">
            <a:avLst/>
          </a:prstGeom>
          <a:noFill/>
          <a:ln/>
        </p:spPr>
        <p:txBody>
          <a:bodyPr wrap="square" lIns="0" tIns="0" rIns="0" bIns="0" rtlCol="0" anchor="t"/>
          <a:lstStyle/>
          <a:p>
            <a:pPr marL="0" indent="0" algn="r">
              <a:buNone/>
            </a:pPr>
            <a:r>
              <a:rPr lang="en-US" sz="900" b="1" kern="0" spc="200" dirty="0">
                <a:solidFill>
                  <a:srgbClr val="9C8E76"/>
                </a:solidFill>
                <a:latin typeface="Courier New" pitchFamily="34" charset="0"/>
                <a:ea typeface="Courier New" pitchFamily="34" charset="-122"/>
                <a:cs typeface="Courier New" pitchFamily="34" charset="-120"/>
              </a:rPr>
              <a:t>ILLUSTRATIVE</a:t>
            </a:r>
            <a:endParaRPr lang="en-US" sz="900" dirty="0"/>
          </a:p>
        </p:txBody>
      </p:sp>
      <p:sp>
        <p:nvSpPr>
          <p:cNvPr id="6" name="Text 3"/>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03:07 AM — what a good night looks like</a:t>
            </a:r>
            <a:endParaRPr lang="en-US" sz="3200" dirty="0"/>
          </a:p>
        </p:txBody>
      </p:sp>
      <p:sp>
        <p:nvSpPr>
          <p:cNvPr id="7" name="Shape 4"/>
          <p:cNvSpPr/>
          <p:nvPr/>
        </p:nvSpPr>
        <p:spPr>
          <a:xfrm>
            <a:off x="1097280" y="2057400"/>
            <a:ext cx="9966960" cy="0"/>
          </a:xfrm>
          <a:prstGeom prst="line">
            <a:avLst/>
          </a:prstGeom>
          <a:noFill/>
          <a:ln w="25400">
            <a:solidFill>
              <a:srgbClr val="E6E0D5"/>
            </a:solidFill>
            <a:prstDash val="solid"/>
          </a:ln>
        </p:spPr>
        <p:txBody>
          <a:bodyPr/>
          <a:lstStyle/>
          <a:p>
            <a:endParaRPr lang="en-US"/>
          </a:p>
        </p:txBody>
      </p:sp>
      <p:sp>
        <p:nvSpPr>
          <p:cNvPr id="8" name="Shape 5"/>
          <p:cNvSpPr/>
          <p:nvPr/>
        </p:nvSpPr>
        <p:spPr>
          <a:xfrm>
            <a:off x="1298448" y="175564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449324" y="1906524"/>
            <a:ext cx="301752" cy="301752"/>
          </a:xfrm>
          <a:prstGeom prst="rect">
            <a:avLst/>
          </a:prstGeom>
        </p:spPr>
      </p:pic>
      <p:sp>
        <p:nvSpPr>
          <p:cNvPr id="10" name="Text 6"/>
          <p:cNvSpPr txBox="1"/>
          <p:nvPr/>
        </p:nvSpPr>
        <p:spPr>
          <a:xfrm>
            <a:off x="548640" y="2450592"/>
            <a:ext cx="2103120" cy="201168"/>
          </a:xfrm>
          <a:prstGeom prst="rect">
            <a:avLst/>
          </a:prstGeom>
          <a:noFill/>
          <a:ln/>
        </p:spPr>
        <p:txBody>
          <a:bodyPr wrap="square" lIns="0" tIns="0" rIns="0" bIns="0" rtlCol="0" anchor="t"/>
          <a:lstStyle/>
          <a:p>
            <a:pPr marL="0" indent="0" algn="ctr">
              <a:buNone/>
            </a:pPr>
            <a:r>
              <a:rPr lang="en-US" sz="1000" b="1" dirty="0">
                <a:solidFill>
                  <a:srgbClr val="1D6F8B"/>
                </a:solidFill>
                <a:latin typeface="Courier New" pitchFamily="34" charset="0"/>
                <a:ea typeface="Courier New" pitchFamily="34" charset="-122"/>
                <a:cs typeface="Courier New" pitchFamily="34" charset="-120"/>
              </a:rPr>
              <a:t>03:07:00</a:t>
            </a:r>
            <a:endParaRPr lang="en-US" sz="1000" dirty="0"/>
          </a:p>
        </p:txBody>
      </p:sp>
      <p:sp>
        <p:nvSpPr>
          <p:cNvPr id="11" name="Shape 7"/>
          <p:cNvSpPr/>
          <p:nvPr/>
        </p:nvSpPr>
        <p:spPr>
          <a:xfrm>
            <a:off x="548640" y="2788920"/>
            <a:ext cx="2103120" cy="2148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2" name="Text 8"/>
          <p:cNvSpPr txBox="1"/>
          <p:nvPr/>
        </p:nvSpPr>
        <p:spPr>
          <a:xfrm>
            <a:off x="731520" y="2926080"/>
            <a:ext cx="1783080" cy="320040"/>
          </a:xfrm>
          <a:prstGeom prst="rect">
            <a:avLst/>
          </a:prstGeom>
          <a:noFill/>
          <a:ln/>
        </p:spPr>
        <p:txBody>
          <a:bodyPr wrap="square" lIns="0" tIns="0" rIns="0" bIns="0" rtlCol="0" anchor="t"/>
          <a:lstStyle/>
          <a:p>
            <a:pPr marL="0" indent="0">
              <a:buNone/>
            </a:pPr>
            <a:r>
              <a:rPr lang="en-US" sz="1600" b="1" dirty="0">
                <a:solidFill>
                  <a:srgbClr val="132038"/>
                </a:solidFill>
                <a:latin typeface="Calibri" pitchFamily="34" charset="0"/>
                <a:ea typeface="Calibri" pitchFamily="34" charset="-122"/>
                <a:cs typeface="Calibri" pitchFamily="34" charset="-120"/>
              </a:rPr>
              <a:t>Page fires</a:t>
            </a:r>
            <a:endParaRPr lang="en-US" sz="1600" dirty="0"/>
          </a:p>
        </p:txBody>
      </p:sp>
      <p:sp>
        <p:nvSpPr>
          <p:cNvPr id="13" name="Text 9"/>
          <p:cNvSpPr txBox="1"/>
          <p:nvPr/>
        </p:nvSpPr>
        <p:spPr>
          <a:xfrm>
            <a:off x="731520" y="3291840"/>
            <a:ext cx="1783080" cy="1188720"/>
          </a:xfrm>
          <a:prstGeom prst="rect">
            <a:avLst/>
          </a:prstGeom>
          <a:noFill/>
          <a:ln/>
        </p:spPr>
        <p:txBody>
          <a:bodyPr wrap="square" lIns="0" tIns="0" rIns="0" bIns="0" rtlCol="0" anchor="t"/>
          <a:lstStyle/>
          <a:p>
            <a:pPr marL="0" indent="0">
              <a:buNone/>
            </a:pPr>
            <a:r>
              <a:rPr lang="en-US" sz="1250" dirty="0">
                <a:solidFill>
                  <a:srgbClr val="6B7381"/>
                </a:solidFill>
                <a:latin typeface="Calibri" pitchFamily="34" charset="0"/>
                <a:ea typeface="Calibri" pitchFamily="34" charset="-122"/>
                <a:cs typeface="Calibri" pitchFamily="34" charset="-120"/>
              </a:rPr>
              <a:t>HighErrorRate on checkout-api. Agent gets read-only, 15-min access.</a:t>
            </a:r>
            <a:endParaRPr lang="en-US" sz="1250" dirty="0"/>
          </a:p>
        </p:txBody>
      </p:sp>
      <p:sp>
        <p:nvSpPr>
          <p:cNvPr id="14" name="Text 10"/>
          <p:cNvSpPr txBox="1"/>
          <p:nvPr/>
        </p:nvSpPr>
        <p:spPr>
          <a:xfrm>
            <a:off x="731520" y="4572000"/>
            <a:ext cx="1783080" cy="201168"/>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R13</a:t>
            </a:r>
            <a:endParaRPr lang="en-US" sz="950" dirty="0"/>
          </a:p>
        </p:txBody>
      </p:sp>
      <p:sp>
        <p:nvSpPr>
          <p:cNvPr id="15" name="Shape 11"/>
          <p:cNvSpPr/>
          <p:nvPr/>
        </p:nvSpPr>
        <p:spPr>
          <a:xfrm>
            <a:off x="3547872" y="175564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698748" y="1906524"/>
            <a:ext cx="301752" cy="301752"/>
          </a:xfrm>
          <a:prstGeom prst="rect">
            <a:avLst/>
          </a:prstGeom>
        </p:spPr>
      </p:pic>
      <p:sp>
        <p:nvSpPr>
          <p:cNvPr id="17" name="Text 12"/>
          <p:cNvSpPr txBox="1"/>
          <p:nvPr/>
        </p:nvSpPr>
        <p:spPr>
          <a:xfrm>
            <a:off x="2798064" y="2450592"/>
            <a:ext cx="2103120" cy="201168"/>
          </a:xfrm>
          <a:prstGeom prst="rect">
            <a:avLst/>
          </a:prstGeom>
          <a:noFill/>
          <a:ln/>
        </p:spPr>
        <p:txBody>
          <a:bodyPr wrap="square" lIns="0" tIns="0" rIns="0" bIns="0" rtlCol="0" anchor="t"/>
          <a:lstStyle/>
          <a:p>
            <a:pPr marL="0" indent="0" algn="ctr">
              <a:buNone/>
            </a:pPr>
            <a:r>
              <a:rPr lang="en-US" sz="1000" b="1" dirty="0">
                <a:solidFill>
                  <a:srgbClr val="1D6F8B"/>
                </a:solidFill>
                <a:latin typeface="Courier New" pitchFamily="34" charset="0"/>
                <a:ea typeface="Courier New" pitchFamily="34" charset="-122"/>
                <a:cs typeface="Courier New" pitchFamily="34" charset="-120"/>
              </a:rPr>
              <a:t>03:07:40</a:t>
            </a:r>
            <a:endParaRPr lang="en-US" sz="1000" dirty="0"/>
          </a:p>
        </p:txBody>
      </p:sp>
      <p:sp>
        <p:nvSpPr>
          <p:cNvPr id="18" name="Shape 13"/>
          <p:cNvSpPr/>
          <p:nvPr/>
        </p:nvSpPr>
        <p:spPr>
          <a:xfrm>
            <a:off x="2798064" y="2788920"/>
            <a:ext cx="2103120" cy="2148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9" name="Text 14"/>
          <p:cNvSpPr txBox="1"/>
          <p:nvPr/>
        </p:nvSpPr>
        <p:spPr>
          <a:xfrm>
            <a:off x="2980944" y="2926080"/>
            <a:ext cx="1783080" cy="320040"/>
          </a:xfrm>
          <a:prstGeom prst="rect">
            <a:avLst/>
          </a:prstGeom>
          <a:noFill/>
          <a:ln/>
        </p:spPr>
        <p:txBody>
          <a:bodyPr wrap="square" lIns="0" tIns="0" rIns="0" bIns="0" rtlCol="0" anchor="t"/>
          <a:lstStyle/>
          <a:p>
            <a:pPr marL="0" indent="0">
              <a:buNone/>
            </a:pPr>
            <a:r>
              <a:rPr lang="en-US" sz="1600" b="1" dirty="0">
                <a:solidFill>
                  <a:srgbClr val="132038"/>
                </a:solidFill>
                <a:latin typeface="Calibri" pitchFamily="34" charset="0"/>
                <a:ea typeface="Calibri" pitchFamily="34" charset="-122"/>
                <a:cs typeface="Calibri" pitchFamily="34" charset="-120"/>
              </a:rPr>
              <a:t>Evidence</a:t>
            </a:r>
            <a:endParaRPr lang="en-US" sz="1600" dirty="0"/>
          </a:p>
        </p:txBody>
      </p:sp>
      <p:sp>
        <p:nvSpPr>
          <p:cNvPr id="20" name="Text 15"/>
          <p:cNvSpPr txBox="1"/>
          <p:nvPr/>
        </p:nvSpPr>
        <p:spPr>
          <a:xfrm>
            <a:off x="2980944" y="3291840"/>
            <a:ext cx="1783080" cy="1188720"/>
          </a:xfrm>
          <a:prstGeom prst="rect">
            <a:avLst/>
          </a:prstGeom>
          <a:noFill/>
          <a:ln/>
        </p:spPr>
        <p:txBody>
          <a:bodyPr wrap="square" lIns="0" tIns="0" rIns="0" bIns="0" rtlCol="0" anchor="t"/>
          <a:lstStyle/>
          <a:p>
            <a:pPr marL="0" indent="0">
              <a:buNone/>
            </a:pPr>
            <a:r>
              <a:rPr lang="en-US" sz="1250" dirty="0">
                <a:solidFill>
                  <a:srgbClr val="6B7381"/>
                </a:solidFill>
                <a:latin typeface="Calibri" pitchFamily="34" charset="0"/>
                <a:ea typeface="Calibri" pitchFamily="34" charset="-122"/>
                <a:cs typeface="Calibri" pitchFamily="34" charset="-120"/>
              </a:rPr>
              <a:t>Errors began 2 min after deploy #4812. Cites the log line + diff.</a:t>
            </a:r>
            <a:endParaRPr lang="en-US" sz="1250" dirty="0"/>
          </a:p>
        </p:txBody>
      </p:sp>
      <p:sp>
        <p:nvSpPr>
          <p:cNvPr id="21" name="Text 16"/>
          <p:cNvSpPr txBox="1"/>
          <p:nvPr/>
        </p:nvSpPr>
        <p:spPr>
          <a:xfrm>
            <a:off x="2980944" y="4572000"/>
            <a:ext cx="1783080" cy="201168"/>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R17</a:t>
            </a:r>
            <a:endParaRPr lang="en-US" sz="950" dirty="0"/>
          </a:p>
        </p:txBody>
      </p:sp>
      <p:sp>
        <p:nvSpPr>
          <p:cNvPr id="22" name="Shape 17"/>
          <p:cNvSpPr/>
          <p:nvPr/>
        </p:nvSpPr>
        <p:spPr>
          <a:xfrm>
            <a:off x="5797296" y="175564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5948172" y="1906524"/>
            <a:ext cx="301752" cy="301752"/>
          </a:xfrm>
          <a:prstGeom prst="rect">
            <a:avLst/>
          </a:prstGeom>
        </p:spPr>
      </p:pic>
      <p:sp>
        <p:nvSpPr>
          <p:cNvPr id="24" name="Text 18"/>
          <p:cNvSpPr txBox="1"/>
          <p:nvPr/>
        </p:nvSpPr>
        <p:spPr>
          <a:xfrm>
            <a:off x="5047488" y="2450592"/>
            <a:ext cx="2103120" cy="201168"/>
          </a:xfrm>
          <a:prstGeom prst="rect">
            <a:avLst/>
          </a:prstGeom>
          <a:noFill/>
          <a:ln/>
        </p:spPr>
        <p:txBody>
          <a:bodyPr wrap="square" lIns="0" tIns="0" rIns="0" bIns="0" rtlCol="0" anchor="t"/>
          <a:lstStyle/>
          <a:p>
            <a:pPr marL="0" indent="0" algn="ctr">
              <a:buNone/>
            </a:pPr>
            <a:r>
              <a:rPr lang="en-US" sz="1000" b="1" dirty="0">
                <a:solidFill>
                  <a:srgbClr val="1D6F8B"/>
                </a:solidFill>
                <a:latin typeface="Courier New" pitchFamily="34" charset="0"/>
                <a:ea typeface="Courier New" pitchFamily="34" charset="-122"/>
                <a:cs typeface="Courier New" pitchFamily="34" charset="-120"/>
              </a:rPr>
              <a:t>03:08:30</a:t>
            </a:r>
            <a:endParaRPr lang="en-US" sz="1000" dirty="0"/>
          </a:p>
        </p:txBody>
      </p:sp>
      <p:sp>
        <p:nvSpPr>
          <p:cNvPr id="25" name="Shape 19"/>
          <p:cNvSpPr/>
          <p:nvPr/>
        </p:nvSpPr>
        <p:spPr>
          <a:xfrm>
            <a:off x="5047488" y="2788920"/>
            <a:ext cx="2103120" cy="2148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6" name="Text 20"/>
          <p:cNvSpPr txBox="1"/>
          <p:nvPr/>
        </p:nvSpPr>
        <p:spPr>
          <a:xfrm>
            <a:off x="5230368" y="2926080"/>
            <a:ext cx="1783080" cy="320040"/>
          </a:xfrm>
          <a:prstGeom prst="rect">
            <a:avLst/>
          </a:prstGeom>
          <a:noFill/>
          <a:ln/>
        </p:spPr>
        <p:txBody>
          <a:bodyPr wrap="square" lIns="0" tIns="0" rIns="0" bIns="0" rtlCol="0" anchor="t"/>
          <a:lstStyle/>
          <a:p>
            <a:pPr marL="0" indent="0">
              <a:buNone/>
            </a:pPr>
            <a:r>
              <a:rPr lang="en-US" sz="1600" b="1" dirty="0">
                <a:solidFill>
                  <a:srgbClr val="132038"/>
                </a:solidFill>
                <a:latin typeface="Calibri" pitchFamily="34" charset="0"/>
                <a:ea typeface="Calibri" pitchFamily="34" charset="-122"/>
                <a:cs typeface="Calibri" pitchFamily="34" charset="-120"/>
              </a:rPr>
              <a:t>Proposal</a:t>
            </a:r>
            <a:endParaRPr lang="en-US" sz="1600" dirty="0"/>
          </a:p>
        </p:txBody>
      </p:sp>
      <p:sp>
        <p:nvSpPr>
          <p:cNvPr id="27" name="Text 21"/>
          <p:cNvSpPr txBox="1"/>
          <p:nvPr/>
        </p:nvSpPr>
        <p:spPr>
          <a:xfrm>
            <a:off x="5230368" y="3291840"/>
            <a:ext cx="1783080" cy="1188720"/>
          </a:xfrm>
          <a:prstGeom prst="rect">
            <a:avLst/>
          </a:prstGeom>
          <a:noFill/>
          <a:ln/>
        </p:spPr>
        <p:txBody>
          <a:bodyPr wrap="square" lIns="0" tIns="0" rIns="0" bIns="0" rtlCol="0" anchor="t"/>
          <a:lstStyle/>
          <a:p>
            <a:pPr marL="0" indent="0">
              <a:buNone/>
            </a:pPr>
            <a:r>
              <a:rPr lang="en-US" sz="1250" dirty="0">
                <a:solidFill>
                  <a:srgbClr val="6B7381"/>
                </a:solidFill>
                <a:latin typeface="Calibri" pitchFamily="34" charset="0"/>
                <a:ea typeface="Calibri" pitchFamily="34" charset="-122"/>
                <a:cs typeface="Calibri" pitchFamily="34" charset="-120"/>
              </a:rPr>
              <a:t>Draft rollback PR + rollback plan. Applies nothing.</a:t>
            </a:r>
            <a:endParaRPr lang="en-US" sz="1250" dirty="0"/>
          </a:p>
        </p:txBody>
      </p:sp>
      <p:sp>
        <p:nvSpPr>
          <p:cNvPr id="28" name="Text 22"/>
          <p:cNvSpPr txBox="1"/>
          <p:nvPr/>
        </p:nvSpPr>
        <p:spPr>
          <a:xfrm>
            <a:off x="5230368" y="4572000"/>
            <a:ext cx="1783080" cy="201168"/>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R14</a:t>
            </a:r>
            <a:endParaRPr lang="en-US" sz="950" dirty="0"/>
          </a:p>
        </p:txBody>
      </p:sp>
      <p:sp>
        <p:nvSpPr>
          <p:cNvPr id="29" name="Shape 23"/>
          <p:cNvSpPr/>
          <p:nvPr/>
        </p:nvSpPr>
        <p:spPr>
          <a:xfrm>
            <a:off x="8046720" y="1755648"/>
            <a:ext cx="603504" cy="603504"/>
          </a:xfrm>
          <a:prstGeom prst="ellipse">
            <a:avLst/>
          </a:prstGeom>
          <a:solidFill>
            <a:srgbClr val="132038"/>
          </a:solidFill>
          <a:ln w="12700">
            <a:solidFill>
              <a:srgbClr val="132038"/>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197596" y="1906524"/>
            <a:ext cx="301752" cy="301752"/>
          </a:xfrm>
          <a:prstGeom prst="rect">
            <a:avLst/>
          </a:prstGeom>
        </p:spPr>
      </p:pic>
      <p:sp>
        <p:nvSpPr>
          <p:cNvPr id="31" name="Text 24"/>
          <p:cNvSpPr txBox="1"/>
          <p:nvPr/>
        </p:nvSpPr>
        <p:spPr>
          <a:xfrm>
            <a:off x="7296912" y="2450592"/>
            <a:ext cx="2103120" cy="201168"/>
          </a:xfrm>
          <a:prstGeom prst="rect">
            <a:avLst/>
          </a:prstGeom>
          <a:noFill/>
          <a:ln/>
        </p:spPr>
        <p:txBody>
          <a:bodyPr wrap="square" lIns="0" tIns="0" rIns="0" bIns="0" rtlCol="0" anchor="t"/>
          <a:lstStyle/>
          <a:p>
            <a:pPr marL="0" indent="0" algn="ctr">
              <a:buNone/>
            </a:pPr>
            <a:r>
              <a:rPr lang="en-US" sz="1000" b="1" dirty="0">
                <a:solidFill>
                  <a:srgbClr val="1D6F8B"/>
                </a:solidFill>
                <a:latin typeface="Courier New" pitchFamily="34" charset="0"/>
                <a:ea typeface="Courier New" pitchFamily="34" charset="-122"/>
                <a:cs typeface="Courier New" pitchFamily="34" charset="-120"/>
              </a:rPr>
              <a:t>03:09:10</a:t>
            </a:r>
            <a:endParaRPr lang="en-US" sz="1000" dirty="0"/>
          </a:p>
        </p:txBody>
      </p:sp>
      <p:sp>
        <p:nvSpPr>
          <p:cNvPr id="32" name="Shape 25"/>
          <p:cNvSpPr/>
          <p:nvPr/>
        </p:nvSpPr>
        <p:spPr>
          <a:xfrm>
            <a:off x="7296912" y="2788920"/>
            <a:ext cx="2103120" cy="2148840"/>
          </a:xfrm>
          <a:prstGeom prst="rect">
            <a:avLst/>
          </a:prstGeom>
          <a:solidFill>
            <a:srgbClr val="132038"/>
          </a:solidFill>
          <a:ln w="9525">
            <a:solidFill>
              <a:srgbClr val="132038"/>
            </a:solidFill>
            <a:prstDash val="solid"/>
          </a:ln>
          <a:effectLst>
            <a:outerShdw blurRad="101600" dist="25400" dir="5400000" algn="bl" rotWithShape="0">
              <a:srgbClr val="000000">
                <a:alpha val="10000"/>
              </a:srgbClr>
            </a:outerShdw>
          </a:effectLst>
        </p:spPr>
        <p:txBody>
          <a:bodyPr/>
          <a:lstStyle/>
          <a:p>
            <a:endParaRPr lang="en-US"/>
          </a:p>
        </p:txBody>
      </p:sp>
      <p:sp>
        <p:nvSpPr>
          <p:cNvPr id="33" name="Text 26"/>
          <p:cNvSpPr txBox="1"/>
          <p:nvPr/>
        </p:nvSpPr>
        <p:spPr>
          <a:xfrm>
            <a:off x="7479792" y="2926080"/>
            <a:ext cx="178308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Human decides</a:t>
            </a:r>
            <a:endParaRPr lang="en-US" sz="1600" dirty="0"/>
          </a:p>
        </p:txBody>
      </p:sp>
      <p:sp>
        <p:nvSpPr>
          <p:cNvPr id="34" name="Text 27"/>
          <p:cNvSpPr txBox="1"/>
          <p:nvPr/>
        </p:nvSpPr>
        <p:spPr>
          <a:xfrm>
            <a:off x="7479792" y="3291840"/>
            <a:ext cx="1783080" cy="1188720"/>
          </a:xfrm>
          <a:prstGeom prst="rect">
            <a:avLst/>
          </a:prstGeom>
          <a:noFill/>
          <a:ln/>
        </p:spPr>
        <p:txBody>
          <a:bodyPr wrap="square" lIns="0" tIns="0" rIns="0" bIns="0" rtlCol="0" anchor="t"/>
          <a:lstStyle/>
          <a:p>
            <a:pPr marL="0" indent="0">
              <a:buNone/>
            </a:pPr>
            <a:r>
              <a:rPr lang="en-US" sz="1250" dirty="0">
                <a:solidFill>
                  <a:srgbClr val="E7E2D8"/>
                </a:solidFill>
                <a:latin typeface="Calibri" pitchFamily="34" charset="0"/>
                <a:ea typeface="Calibri" pitchFamily="34" charset="-122"/>
                <a:cs typeface="Calibri" pitchFamily="34" charset="-120"/>
              </a:rPr>
              <a:t>The hook asks. On-call reviews the evidence, taps Approve.</a:t>
            </a:r>
            <a:endParaRPr lang="en-US" sz="1250" dirty="0"/>
          </a:p>
        </p:txBody>
      </p:sp>
      <p:sp>
        <p:nvSpPr>
          <p:cNvPr id="35" name="Text 28"/>
          <p:cNvSpPr txBox="1"/>
          <p:nvPr/>
        </p:nvSpPr>
        <p:spPr>
          <a:xfrm>
            <a:off x="7479792" y="4572000"/>
            <a:ext cx="1783080" cy="201168"/>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R15 · R20</a:t>
            </a:r>
            <a:endParaRPr lang="en-US" sz="950" dirty="0"/>
          </a:p>
        </p:txBody>
      </p:sp>
      <p:sp>
        <p:nvSpPr>
          <p:cNvPr id="36" name="Shape 29"/>
          <p:cNvSpPr/>
          <p:nvPr/>
        </p:nvSpPr>
        <p:spPr>
          <a:xfrm>
            <a:off x="10296144" y="1755648"/>
            <a:ext cx="603504" cy="603504"/>
          </a:xfrm>
          <a:prstGeom prst="ellipse">
            <a:avLst/>
          </a:prstGeom>
          <a:solidFill>
            <a:srgbClr val="E39A16"/>
          </a:solidFill>
          <a:ln w="12700">
            <a:solidFill>
              <a:srgbClr val="E39A16"/>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10447020" y="1906524"/>
            <a:ext cx="301752" cy="301752"/>
          </a:xfrm>
          <a:prstGeom prst="rect">
            <a:avLst/>
          </a:prstGeom>
        </p:spPr>
      </p:pic>
      <p:sp>
        <p:nvSpPr>
          <p:cNvPr id="38" name="Text 30"/>
          <p:cNvSpPr txBox="1"/>
          <p:nvPr/>
        </p:nvSpPr>
        <p:spPr>
          <a:xfrm>
            <a:off x="9546336" y="2450592"/>
            <a:ext cx="2103120" cy="201168"/>
          </a:xfrm>
          <a:prstGeom prst="rect">
            <a:avLst/>
          </a:prstGeom>
          <a:noFill/>
          <a:ln/>
        </p:spPr>
        <p:txBody>
          <a:bodyPr wrap="square" lIns="0" tIns="0" rIns="0" bIns="0" rtlCol="0" anchor="t"/>
          <a:lstStyle/>
          <a:p>
            <a:pPr marL="0" indent="0" algn="ctr">
              <a:buNone/>
            </a:pPr>
            <a:r>
              <a:rPr lang="en-US" sz="1000" b="1" dirty="0">
                <a:solidFill>
                  <a:srgbClr val="1D6F8B"/>
                </a:solidFill>
                <a:latin typeface="Courier New" pitchFamily="34" charset="0"/>
                <a:ea typeface="Courier New" pitchFamily="34" charset="-122"/>
                <a:cs typeface="Courier New" pitchFamily="34" charset="-120"/>
              </a:rPr>
              <a:t>03:11:00</a:t>
            </a:r>
            <a:endParaRPr lang="en-US" sz="1000" dirty="0"/>
          </a:p>
        </p:txBody>
      </p:sp>
      <p:sp>
        <p:nvSpPr>
          <p:cNvPr id="39" name="Shape 31"/>
          <p:cNvSpPr/>
          <p:nvPr/>
        </p:nvSpPr>
        <p:spPr>
          <a:xfrm>
            <a:off x="9546336" y="2788920"/>
            <a:ext cx="2103120" cy="214884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40" name="Text 32"/>
          <p:cNvSpPr txBox="1"/>
          <p:nvPr/>
        </p:nvSpPr>
        <p:spPr>
          <a:xfrm>
            <a:off x="9729216" y="2926080"/>
            <a:ext cx="1783080" cy="320040"/>
          </a:xfrm>
          <a:prstGeom prst="rect">
            <a:avLst/>
          </a:prstGeom>
          <a:noFill/>
          <a:ln/>
        </p:spPr>
        <p:txBody>
          <a:bodyPr wrap="square" lIns="0" tIns="0" rIns="0" bIns="0" rtlCol="0" anchor="t"/>
          <a:lstStyle/>
          <a:p>
            <a:pPr marL="0" indent="0">
              <a:buNone/>
            </a:pPr>
            <a:r>
              <a:rPr lang="en-US" sz="1600" b="1" dirty="0">
                <a:solidFill>
                  <a:srgbClr val="132038"/>
                </a:solidFill>
                <a:latin typeface="Calibri" pitchFamily="34" charset="0"/>
                <a:ea typeface="Calibri" pitchFamily="34" charset="-122"/>
                <a:cs typeface="Calibri" pitchFamily="34" charset="-120"/>
              </a:rPr>
              <a:t>Recovered</a:t>
            </a:r>
            <a:endParaRPr lang="en-US" sz="1600" dirty="0"/>
          </a:p>
        </p:txBody>
      </p:sp>
      <p:sp>
        <p:nvSpPr>
          <p:cNvPr id="41" name="Text 33"/>
          <p:cNvSpPr txBox="1"/>
          <p:nvPr/>
        </p:nvSpPr>
        <p:spPr>
          <a:xfrm>
            <a:off x="9729216" y="3291840"/>
            <a:ext cx="1783080" cy="1188720"/>
          </a:xfrm>
          <a:prstGeom prst="rect">
            <a:avLst/>
          </a:prstGeom>
          <a:noFill/>
          <a:ln/>
        </p:spPr>
        <p:txBody>
          <a:bodyPr wrap="square" lIns="0" tIns="0" rIns="0" bIns="0" rtlCol="0" anchor="t"/>
          <a:lstStyle/>
          <a:p>
            <a:pPr marL="0" indent="0">
              <a:buNone/>
            </a:pPr>
            <a:r>
              <a:rPr lang="en-US" sz="1250" dirty="0">
                <a:solidFill>
                  <a:srgbClr val="6B7381"/>
                </a:solidFill>
                <a:latin typeface="Calibri" pitchFamily="34" charset="0"/>
                <a:ea typeface="Calibri" pitchFamily="34" charset="-122"/>
                <a:cs typeface="Calibri" pitchFamily="34" charset="-120"/>
              </a:rPr>
              <a:t>SLO green. Evidence, actions and policy version in the audit log.</a:t>
            </a:r>
            <a:endParaRPr lang="en-US" sz="1250" dirty="0"/>
          </a:p>
        </p:txBody>
      </p:sp>
      <p:sp>
        <p:nvSpPr>
          <p:cNvPr id="42" name="Text 34"/>
          <p:cNvSpPr txBox="1"/>
          <p:nvPr/>
        </p:nvSpPr>
        <p:spPr>
          <a:xfrm>
            <a:off x="9729216" y="4572000"/>
            <a:ext cx="1783080" cy="201168"/>
          </a:xfrm>
          <a:prstGeom prst="rect">
            <a:avLst/>
          </a:prstGeom>
          <a:noFill/>
          <a:ln/>
        </p:spPr>
        <p:txBody>
          <a:bodyPr wrap="square" lIns="0" tIns="0" rIns="0" bIns="0" rtlCol="0" anchor="t"/>
          <a:lstStyle/>
          <a:p>
            <a:pPr marL="0" indent="0">
              <a:buNone/>
            </a:pPr>
            <a:r>
              <a:rPr lang="en-US" sz="950" b="1" dirty="0">
                <a:solidFill>
                  <a:srgbClr val="E39A16"/>
                </a:solidFill>
                <a:latin typeface="Courier New" pitchFamily="34" charset="0"/>
                <a:ea typeface="Courier New" pitchFamily="34" charset="-122"/>
                <a:cs typeface="Courier New" pitchFamily="34" charset="-120"/>
              </a:rPr>
              <a:t>R18</a:t>
            </a:r>
            <a:endParaRPr lang="en-US" sz="950" dirty="0"/>
          </a:p>
        </p:txBody>
      </p:sp>
      <p:sp>
        <p:nvSpPr>
          <p:cNvPr id="43" name="Shape 35"/>
          <p:cNvSpPr/>
          <p:nvPr/>
        </p:nvSpPr>
        <p:spPr>
          <a:xfrm>
            <a:off x="548640" y="5230368"/>
            <a:ext cx="11064240" cy="731520"/>
          </a:xfrm>
          <a:prstGeom prst="rect">
            <a:avLst/>
          </a:prstGeom>
          <a:solidFill>
            <a:srgbClr val="F1EBE0"/>
          </a:solidFill>
          <a:ln w="12700">
            <a:solidFill>
              <a:srgbClr val="F1EBE0"/>
            </a:solidFill>
            <a:prstDash val="solid"/>
          </a:ln>
        </p:spPr>
        <p:txBody>
          <a:bodyPr/>
          <a:lstStyle/>
          <a:p>
            <a:endParaRPr lang="en-US"/>
          </a:p>
        </p:txBody>
      </p:sp>
      <p:sp>
        <p:nvSpPr>
          <p:cNvPr id="44" name="Text 36"/>
          <p:cNvSpPr txBox="1"/>
          <p:nvPr/>
        </p:nvSpPr>
        <p:spPr>
          <a:xfrm>
            <a:off x="777240" y="5230368"/>
            <a:ext cx="5120640" cy="731520"/>
          </a:xfrm>
          <a:prstGeom prst="rect">
            <a:avLst/>
          </a:prstGeom>
          <a:noFill/>
          <a:ln/>
        </p:spPr>
        <p:txBody>
          <a:bodyPr wrap="square" lIns="0" tIns="0" rIns="0" bIns="0" rtlCol="0" anchor="ctr"/>
          <a:lstStyle/>
          <a:p>
            <a:pPr marL="0" indent="0">
              <a:buNone/>
            </a:pPr>
            <a:r>
              <a:rPr lang="en-US" sz="1800" b="1" dirty="0">
                <a:solidFill>
                  <a:srgbClr val="132038"/>
                </a:solidFill>
                <a:latin typeface="Calibri" pitchFamily="34" charset="0"/>
                <a:ea typeface="Calibri" pitchFamily="34" charset="-122"/>
                <a:cs typeface="Calibri" pitchFamily="34" charset="-120"/>
              </a:rPr>
              <a:t>4 minutes  ·  </a:t>
            </a:r>
            <a:r>
              <a:rPr lang="en-US" sz="1800" b="1" dirty="0">
                <a:solidFill>
                  <a:srgbClr val="B0730A"/>
                </a:solidFill>
                <a:latin typeface="Calibri" pitchFamily="34" charset="0"/>
                <a:ea typeface="Calibri" pitchFamily="34" charset="-122"/>
                <a:cs typeface="Calibri" pitchFamily="34" charset="-120"/>
              </a:rPr>
              <a:t>1 human decision</a:t>
            </a:r>
            <a:r>
              <a:rPr lang="en-US" sz="1800" b="1" dirty="0">
                <a:solidFill>
                  <a:srgbClr val="132038"/>
                </a:solidFill>
                <a:latin typeface="Calibri" pitchFamily="34" charset="0"/>
                <a:ea typeface="Calibri" pitchFamily="34" charset="-122"/>
                <a:cs typeface="Calibri" pitchFamily="34" charset="-120"/>
              </a:rPr>
              <a:t>  ·  0 blind actions</a:t>
            </a:r>
            <a:endParaRPr lang="en-US" sz="1800" dirty="0"/>
          </a:p>
        </p:txBody>
      </p:sp>
      <p:sp>
        <p:nvSpPr>
          <p:cNvPr id="45" name="Text 37"/>
          <p:cNvSpPr txBox="1"/>
          <p:nvPr/>
        </p:nvSpPr>
        <p:spPr>
          <a:xfrm>
            <a:off x="5760720" y="5230368"/>
            <a:ext cx="5669280" cy="731520"/>
          </a:xfrm>
          <a:prstGeom prst="rect">
            <a:avLst/>
          </a:prstGeom>
          <a:noFill/>
          <a:ln/>
        </p:spPr>
        <p:txBody>
          <a:bodyPr wrap="square" lIns="0" tIns="0" rIns="0" bIns="0" rtlCol="0" anchor="ctr"/>
          <a:lstStyle/>
          <a:p>
            <a:pPr marL="0" indent="0" algn="r">
              <a:buNone/>
            </a:pPr>
            <a:r>
              <a:rPr lang="en-US" sz="1800" i="1" dirty="0">
                <a:solidFill>
                  <a:srgbClr val="132038"/>
                </a:solidFill>
                <a:latin typeface="Cambria" pitchFamily="34" charset="0"/>
                <a:ea typeface="Cambria" pitchFamily="34" charset="-122"/>
                <a:cs typeface="Cambria" pitchFamily="34" charset="-120"/>
              </a:rPr>
              <a:t>The agent did the toil. The human kept the risk.</a:t>
            </a:r>
            <a:endParaRPr lang="en-US" sz="1800" dirty="0"/>
          </a:p>
        </p:txBody>
      </p:sp>
      <p:sp>
        <p:nvSpPr>
          <p:cNvPr id="46" name="Text 38"/>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7" name="Text 39"/>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THE PAYOFF</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BF9F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RULE 20, EXPANDED  ·  THE AUTONOMY GEARBOX</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Autonomy is a gearbox, not a switch</a:t>
            </a:r>
            <a:endParaRPr lang="en-US" sz="3200" dirty="0"/>
          </a:p>
        </p:txBody>
      </p:sp>
      <p:sp>
        <p:nvSpPr>
          <p:cNvPr id="6" name="Text 3"/>
          <p:cNvSpPr txBox="1"/>
          <p:nvPr/>
        </p:nvSpPr>
        <p:spPr>
          <a:xfrm>
            <a:off x="548640" y="1417320"/>
            <a:ext cx="10058400" cy="365760"/>
          </a:xfrm>
          <a:prstGeom prst="rect">
            <a:avLst/>
          </a:prstGeom>
          <a:noFill/>
          <a:ln/>
        </p:spPr>
        <p:txBody>
          <a:bodyPr wrap="square" lIns="0" tIns="0" rIns="0" bIns="0" rtlCol="0" anchor="t"/>
          <a:lstStyle/>
          <a:p>
            <a:pPr marL="0" indent="0">
              <a:buNone/>
            </a:pPr>
            <a:r>
              <a:rPr lang="en-US" sz="1700" i="1" dirty="0">
                <a:solidFill>
                  <a:srgbClr val="B0730A"/>
                </a:solidFill>
                <a:latin typeface="Cambria" pitchFamily="34" charset="0"/>
                <a:ea typeface="Cambria" pitchFamily="34" charset="-122"/>
                <a:cs typeface="Cambria" pitchFamily="34" charset="-120"/>
              </a:rPr>
              <a:t>“It’s less Iron Man robots, and more Iron Man suits that you want to build.”</a:t>
            </a:r>
            <a:endParaRPr lang="en-US" sz="1700" dirty="0"/>
          </a:p>
        </p:txBody>
      </p:sp>
      <p:sp>
        <p:nvSpPr>
          <p:cNvPr id="7" name="Text 4"/>
          <p:cNvSpPr txBox="1"/>
          <p:nvPr/>
        </p:nvSpPr>
        <p:spPr>
          <a:xfrm>
            <a:off x="548640" y="1810512"/>
            <a:ext cx="7315200" cy="182880"/>
          </a:xfrm>
          <a:prstGeom prst="rect">
            <a:avLst/>
          </a:prstGeom>
          <a:noFill/>
          <a:ln/>
        </p:spPr>
        <p:txBody>
          <a:bodyPr wrap="square" lIns="0" tIns="0" rIns="0" bIns="0" rtlCol="0" anchor="t"/>
          <a:lstStyle/>
          <a:p>
            <a:pPr marL="0" indent="0">
              <a:buNone/>
            </a:pPr>
            <a:r>
              <a:rPr lang="en-US" sz="850" b="1" dirty="0">
                <a:solidFill>
                  <a:srgbClr val="9C8E76"/>
                </a:solidFill>
                <a:latin typeface="Courier New" pitchFamily="34" charset="0"/>
                <a:ea typeface="Courier New" pitchFamily="34" charset="-122"/>
                <a:cs typeface="Courier New" pitchFamily="34" charset="-120"/>
              </a:rPr>
              <a:t>ANDREJ KARPATHY  ·  YC AI STARTUP SCHOOL, JUN 2025</a:t>
            </a:r>
            <a:endParaRPr lang="en-US" sz="850" dirty="0"/>
          </a:p>
        </p:txBody>
      </p:sp>
      <p:sp>
        <p:nvSpPr>
          <p:cNvPr id="8" name="Shape 5"/>
          <p:cNvSpPr/>
          <p:nvPr/>
        </p:nvSpPr>
        <p:spPr>
          <a:xfrm>
            <a:off x="548640" y="2286000"/>
            <a:ext cx="2606040" cy="251460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9" name="Shape 6"/>
          <p:cNvSpPr/>
          <p:nvPr/>
        </p:nvSpPr>
        <p:spPr>
          <a:xfrm>
            <a:off x="777240" y="2487168"/>
            <a:ext cx="502920" cy="502920"/>
          </a:xfrm>
          <a:prstGeom prst="ellipse">
            <a:avLst/>
          </a:prstGeom>
          <a:solidFill>
            <a:srgbClr val="E7DCC6"/>
          </a:solidFill>
          <a:ln w="12700">
            <a:solidFill>
              <a:srgbClr val="E7DCC6"/>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02970" y="2612898"/>
            <a:ext cx="251460" cy="251460"/>
          </a:xfrm>
          <a:prstGeom prst="rect">
            <a:avLst/>
          </a:prstGeom>
        </p:spPr>
      </p:pic>
      <p:sp>
        <p:nvSpPr>
          <p:cNvPr id="11" name="Text 7"/>
          <p:cNvSpPr txBox="1"/>
          <p:nvPr/>
        </p:nvSpPr>
        <p:spPr>
          <a:xfrm>
            <a:off x="1417320" y="2633472"/>
            <a:ext cx="1554480" cy="228600"/>
          </a:xfrm>
          <a:prstGeom prst="rect">
            <a:avLst/>
          </a:prstGeom>
          <a:noFill/>
          <a:ln/>
        </p:spPr>
        <p:txBody>
          <a:bodyPr wrap="square" lIns="0" tIns="0" rIns="0" bIns="0" rtlCol="0" anchor="t"/>
          <a:lstStyle/>
          <a:p>
            <a:pPr marL="0" indent="0">
              <a:buNone/>
            </a:pPr>
            <a:r>
              <a:rPr lang="en-US" sz="1000" b="1" kern="0" spc="200" dirty="0">
                <a:solidFill>
                  <a:srgbClr val="1D6F8B"/>
                </a:solidFill>
                <a:latin typeface="Courier New" pitchFamily="34" charset="0"/>
                <a:ea typeface="Courier New" pitchFamily="34" charset="-122"/>
                <a:cs typeface="Courier New" pitchFamily="34" charset="-120"/>
              </a:rPr>
              <a:t>GEAR 1</a:t>
            </a:r>
            <a:endParaRPr lang="en-US" sz="1000" dirty="0"/>
          </a:p>
        </p:txBody>
      </p:sp>
      <p:sp>
        <p:nvSpPr>
          <p:cNvPr id="12" name="Text 8"/>
          <p:cNvSpPr txBox="1"/>
          <p:nvPr/>
        </p:nvSpPr>
        <p:spPr>
          <a:xfrm>
            <a:off x="777240" y="3154680"/>
            <a:ext cx="21945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Suggest</a:t>
            </a:r>
            <a:endParaRPr lang="en-US" sz="2200" dirty="0"/>
          </a:p>
        </p:txBody>
      </p:sp>
      <p:sp>
        <p:nvSpPr>
          <p:cNvPr id="13" name="Text 9"/>
          <p:cNvSpPr txBox="1"/>
          <p:nvPr/>
        </p:nvSpPr>
        <p:spPr>
          <a:xfrm>
            <a:off x="777240" y="3611880"/>
            <a:ext cx="2194560" cy="685800"/>
          </a:xfrm>
          <a:prstGeom prst="rect">
            <a:avLst/>
          </a:prstGeom>
          <a:noFill/>
          <a:ln/>
        </p:spPr>
        <p:txBody>
          <a:bodyPr wrap="square" lIns="0" tIns="0" rIns="0" bIns="0" rtlCol="0" anchor="t"/>
          <a:lstStyle/>
          <a:p>
            <a:pPr marL="0" indent="0">
              <a:buNone/>
            </a:pPr>
            <a:r>
              <a:rPr lang="en-US" sz="1300" dirty="0">
                <a:solidFill>
                  <a:srgbClr val="6B7381"/>
                </a:solidFill>
                <a:latin typeface="Calibri" pitchFamily="34" charset="0"/>
                <a:ea typeface="Calibri" pitchFamily="34" charset="-122"/>
                <a:cs typeface="Calibri" pitchFamily="34" charset="-120"/>
              </a:rPr>
              <a:t>Writes analysis. Zero write access.</a:t>
            </a:r>
            <a:endParaRPr lang="en-US" sz="1300" dirty="0"/>
          </a:p>
        </p:txBody>
      </p:sp>
      <p:sp>
        <p:nvSpPr>
          <p:cNvPr id="14" name="Shape 10"/>
          <p:cNvSpPr/>
          <p:nvPr/>
        </p:nvSpPr>
        <p:spPr>
          <a:xfrm>
            <a:off x="731520" y="4315968"/>
            <a:ext cx="2240280" cy="347472"/>
          </a:xfrm>
          <a:prstGeom prst="rect">
            <a:avLst/>
          </a:prstGeom>
          <a:solidFill>
            <a:srgbClr val="F1EBE0"/>
          </a:solidFill>
          <a:ln w="12700">
            <a:solidFill>
              <a:srgbClr val="F1EBE0"/>
            </a:solidFill>
            <a:prstDash val="solid"/>
          </a:ln>
        </p:spPr>
        <p:txBody>
          <a:bodyPr/>
          <a:lstStyle/>
          <a:p>
            <a:endParaRPr lang="en-US"/>
          </a:p>
        </p:txBody>
      </p:sp>
      <p:sp>
        <p:nvSpPr>
          <p:cNvPr id="15" name="Text 11"/>
          <p:cNvSpPr txBox="1"/>
          <p:nvPr/>
        </p:nvSpPr>
        <p:spPr>
          <a:xfrm>
            <a:off x="777240" y="4315968"/>
            <a:ext cx="2148840" cy="347472"/>
          </a:xfrm>
          <a:prstGeom prst="rect">
            <a:avLst/>
          </a:prstGeom>
          <a:noFill/>
          <a:ln/>
        </p:spPr>
        <p:txBody>
          <a:bodyPr wrap="square" lIns="0" tIns="0" rIns="0" bIns="0" rtlCol="0" anchor="ctr"/>
          <a:lstStyle/>
          <a:p>
            <a:pPr marL="0" indent="0" algn="ctr">
              <a:buNone/>
            </a:pPr>
            <a:r>
              <a:rPr lang="en-US" sz="1050" b="1" dirty="0">
                <a:solidFill>
                  <a:srgbClr val="132038"/>
                </a:solidFill>
                <a:latin typeface="Calibri" pitchFamily="34" charset="0"/>
                <a:ea typeface="Calibri" pitchFamily="34" charset="-122"/>
                <a:cs typeface="Calibri" pitchFamily="34" charset="-120"/>
              </a:rPr>
              <a:t>Start here. Always.</a:t>
            </a:r>
            <a:endParaRPr lang="en-US" sz="1050" dirty="0"/>
          </a:p>
        </p:txBody>
      </p:sp>
      <p:sp>
        <p:nvSpPr>
          <p:cNvPr id="16" name="Text 12"/>
          <p:cNvSpPr txBox="1"/>
          <p:nvPr/>
        </p:nvSpPr>
        <p:spPr>
          <a:xfrm>
            <a:off x="3154680" y="3200400"/>
            <a:ext cx="210312" cy="457200"/>
          </a:xfrm>
          <a:prstGeom prst="rect">
            <a:avLst/>
          </a:prstGeom>
          <a:noFill/>
          <a:ln/>
        </p:spPr>
        <p:txBody>
          <a:bodyPr wrap="square" lIns="0" tIns="0" rIns="0" bIns="0" rtlCol="0" anchor="t"/>
          <a:lstStyle/>
          <a:p>
            <a:pPr marL="0" indent="0" algn="ctr">
              <a:buNone/>
            </a:pPr>
            <a:r>
              <a:rPr lang="en-US" sz="2600" b="1" dirty="0">
                <a:solidFill>
                  <a:srgbClr val="E39A16"/>
                </a:solidFill>
                <a:latin typeface="Calibri" pitchFamily="34" charset="0"/>
                <a:ea typeface="Calibri" pitchFamily="34" charset="-122"/>
                <a:cs typeface="Calibri" pitchFamily="34" charset="-120"/>
              </a:rPr>
              <a:t>›</a:t>
            </a:r>
            <a:endParaRPr lang="en-US" sz="2600" dirty="0"/>
          </a:p>
        </p:txBody>
      </p:sp>
      <p:sp>
        <p:nvSpPr>
          <p:cNvPr id="17" name="Shape 13"/>
          <p:cNvSpPr/>
          <p:nvPr/>
        </p:nvSpPr>
        <p:spPr>
          <a:xfrm>
            <a:off x="3364992" y="2286000"/>
            <a:ext cx="2606040" cy="2514600"/>
          </a:xfrm>
          <a:prstGeom prst="rect">
            <a:avLst/>
          </a:prstGeom>
          <a:solidFill>
            <a:srgbClr val="FDF3E1"/>
          </a:solidFill>
          <a:ln w="19050">
            <a:solidFill>
              <a:srgbClr val="E39A16"/>
            </a:solidFill>
            <a:prstDash val="solid"/>
          </a:ln>
          <a:effectLst>
            <a:outerShdw blurRad="101600" dist="25400" dir="5400000" algn="bl" rotWithShape="0">
              <a:srgbClr val="000000">
                <a:alpha val="10000"/>
              </a:srgbClr>
            </a:outerShdw>
          </a:effectLst>
        </p:spPr>
        <p:txBody>
          <a:bodyPr/>
          <a:lstStyle/>
          <a:p>
            <a:endParaRPr lang="en-US"/>
          </a:p>
        </p:txBody>
      </p:sp>
      <p:sp>
        <p:nvSpPr>
          <p:cNvPr id="18" name="Shape 14"/>
          <p:cNvSpPr/>
          <p:nvPr/>
        </p:nvSpPr>
        <p:spPr>
          <a:xfrm>
            <a:off x="3593592" y="2487168"/>
            <a:ext cx="502920" cy="502920"/>
          </a:xfrm>
          <a:prstGeom prst="ellipse">
            <a:avLst/>
          </a:prstGeom>
          <a:solidFill>
            <a:srgbClr val="E39A16"/>
          </a:solidFill>
          <a:ln w="12700">
            <a:solidFill>
              <a:srgbClr val="E39A16"/>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3719322" y="2612898"/>
            <a:ext cx="251460" cy="251460"/>
          </a:xfrm>
          <a:prstGeom prst="rect">
            <a:avLst/>
          </a:prstGeom>
        </p:spPr>
      </p:pic>
      <p:sp>
        <p:nvSpPr>
          <p:cNvPr id="20" name="Text 15"/>
          <p:cNvSpPr txBox="1"/>
          <p:nvPr/>
        </p:nvSpPr>
        <p:spPr>
          <a:xfrm>
            <a:off x="4233672" y="2633472"/>
            <a:ext cx="1554480" cy="228600"/>
          </a:xfrm>
          <a:prstGeom prst="rect">
            <a:avLst/>
          </a:prstGeom>
          <a:noFill/>
          <a:ln/>
        </p:spPr>
        <p:txBody>
          <a:bodyPr wrap="square" lIns="0" tIns="0" rIns="0" bIns="0" rtlCol="0" anchor="t"/>
          <a:lstStyle/>
          <a:p>
            <a:pPr marL="0" indent="0">
              <a:buNone/>
            </a:pPr>
            <a:r>
              <a:rPr lang="en-US" sz="1000" b="1" kern="0" spc="200" dirty="0">
                <a:solidFill>
                  <a:srgbClr val="1D6F8B"/>
                </a:solidFill>
                <a:latin typeface="Courier New" pitchFamily="34" charset="0"/>
                <a:ea typeface="Courier New" pitchFamily="34" charset="-122"/>
                <a:cs typeface="Courier New" pitchFamily="34" charset="-120"/>
              </a:rPr>
              <a:t>GEAR 2</a:t>
            </a:r>
            <a:endParaRPr lang="en-US" sz="1000" dirty="0"/>
          </a:p>
        </p:txBody>
      </p:sp>
      <p:sp>
        <p:nvSpPr>
          <p:cNvPr id="21" name="Text 16"/>
          <p:cNvSpPr txBox="1"/>
          <p:nvPr/>
        </p:nvSpPr>
        <p:spPr>
          <a:xfrm>
            <a:off x="3593592" y="3154680"/>
            <a:ext cx="21945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Approve</a:t>
            </a:r>
            <a:endParaRPr lang="en-US" sz="2200" dirty="0"/>
          </a:p>
        </p:txBody>
      </p:sp>
      <p:sp>
        <p:nvSpPr>
          <p:cNvPr id="22" name="Text 17"/>
          <p:cNvSpPr txBox="1"/>
          <p:nvPr/>
        </p:nvSpPr>
        <p:spPr>
          <a:xfrm>
            <a:off x="3593592" y="3611880"/>
            <a:ext cx="2194560" cy="685800"/>
          </a:xfrm>
          <a:prstGeom prst="rect">
            <a:avLst/>
          </a:prstGeom>
          <a:noFill/>
          <a:ln/>
        </p:spPr>
        <p:txBody>
          <a:bodyPr wrap="square" lIns="0" tIns="0" rIns="0" bIns="0" rtlCol="0" anchor="t"/>
          <a:lstStyle/>
          <a:p>
            <a:pPr marL="0" indent="0">
              <a:buNone/>
            </a:pPr>
            <a:r>
              <a:rPr lang="en-US" sz="1300" dirty="0">
                <a:solidFill>
                  <a:srgbClr val="6B7381"/>
                </a:solidFill>
                <a:latin typeface="Calibri" pitchFamily="34" charset="0"/>
                <a:ea typeface="Calibri" pitchFamily="34" charset="-122"/>
                <a:cs typeface="Calibri" pitchFamily="34" charset="-120"/>
              </a:rPr>
              <a:t>Proposes. A human approves each action.</a:t>
            </a:r>
            <a:endParaRPr lang="en-US" sz="1300" dirty="0"/>
          </a:p>
        </p:txBody>
      </p:sp>
      <p:sp>
        <p:nvSpPr>
          <p:cNvPr id="23" name="Shape 18"/>
          <p:cNvSpPr/>
          <p:nvPr/>
        </p:nvSpPr>
        <p:spPr>
          <a:xfrm>
            <a:off x="3547872" y="4315968"/>
            <a:ext cx="2240280" cy="347472"/>
          </a:xfrm>
          <a:prstGeom prst="rect">
            <a:avLst/>
          </a:prstGeom>
          <a:solidFill>
            <a:srgbClr val="E39A16"/>
          </a:solidFill>
          <a:ln w="12700">
            <a:solidFill>
              <a:srgbClr val="E39A16"/>
            </a:solidFill>
            <a:prstDash val="solid"/>
          </a:ln>
        </p:spPr>
        <p:txBody>
          <a:bodyPr/>
          <a:lstStyle/>
          <a:p>
            <a:endParaRPr lang="en-US"/>
          </a:p>
        </p:txBody>
      </p:sp>
      <p:sp>
        <p:nvSpPr>
          <p:cNvPr id="24" name="Text 19"/>
          <p:cNvSpPr txBox="1"/>
          <p:nvPr/>
        </p:nvSpPr>
        <p:spPr>
          <a:xfrm>
            <a:off x="3593592" y="4315968"/>
            <a:ext cx="2148840" cy="347472"/>
          </a:xfrm>
          <a:prstGeom prst="rect">
            <a:avLst/>
          </a:prstGeom>
          <a:noFill/>
          <a:ln/>
        </p:spPr>
        <p:txBody>
          <a:bodyPr wrap="square" lIns="0" tIns="0" rIns="0" bIns="0" rtlCol="0" anchor="ctr"/>
          <a:lstStyle/>
          <a:p>
            <a:pPr marL="0" indent="0" algn="ctr">
              <a:buNone/>
            </a:pPr>
            <a:r>
              <a:rPr lang="en-US" sz="1050" b="1" dirty="0">
                <a:solidFill>
                  <a:srgbClr val="132038"/>
                </a:solidFill>
                <a:latin typeface="Calibri" pitchFamily="34" charset="0"/>
                <a:ea typeface="Calibri" pitchFamily="34" charset="-122"/>
                <a:cs typeface="Calibri" pitchFamily="34" charset="-120"/>
              </a:rPr>
              <a:t>100 shadow pages · ≥90% match</a:t>
            </a:r>
            <a:endParaRPr lang="en-US" sz="1050" dirty="0"/>
          </a:p>
        </p:txBody>
      </p:sp>
      <p:sp>
        <p:nvSpPr>
          <p:cNvPr id="25" name="Text 20"/>
          <p:cNvSpPr txBox="1"/>
          <p:nvPr/>
        </p:nvSpPr>
        <p:spPr>
          <a:xfrm>
            <a:off x="5971032" y="3200400"/>
            <a:ext cx="210312" cy="457200"/>
          </a:xfrm>
          <a:prstGeom prst="rect">
            <a:avLst/>
          </a:prstGeom>
          <a:noFill/>
          <a:ln/>
        </p:spPr>
        <p:txBody>
          <a:bodyPr wrap="square" lIns="0" tIns="0" rIns="0" bIns="0" rtlCol="0" anchor="t"/>
          <a:lstStyle/>
          <a:p>
            <a:pPr marL="0" indent="0" algn="ctr">
              <a:buNone/>
            </a:pPr>
            <a:r>
              <a:rPr lang="en-US" sz="2600" b="1" dirty="0">
                <a:solidFill>
                  <a:srgbClr val="E39A16"/>
                </a:solidFill>
                <a:latin typeface="Calibri" pitchFamily="34" charset="0"/>
                <a:ea typeface="Calibri" pitchFamily="34" charset="-122"/>
                <a:cs typeface="Calibri" pitchFamily="34" charset="-120"/>
              </a:rPr>
              <a:t>›</a:t>
            </a:r>
            <a:endParaRPr lang="en-US" sz="2600" dirty="0"/>
          </a:p>
        </p:txBody>
      </p:sp>
      <p:sp>
        <p:nvSpPr>
          <p:cNvPr id="26" name="Shape 21"/>
          <p:cNvSpPr/>
          <p:nvPr/>
        </p:nvSpPr>
        <p:spPr>
          <a:xfrm>
            <a:off x="6181344" y="2286000"/>
            <a:ext cx="2606040" cy="251460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27" name="Shape 22"/>
          <p:cNvSpPr/>
          <p:nvPr/>
        </p:nvSpPr>
        <p:spPr>
          <a:xfrm>
            <a:off x="6409944" y="2487168"/>
            <a:ext cx="502920" cy="502920"/>
          </a:xfrm>
          <a:prstGeom prst="ellipse">
            <a:avLst/>
          </a:prstGeom>
          <a:solidFill>
            <a:srgbClr val="E7DCC6"/>
          </a:solidFill>
          <a:ln w="12700">
            <a:solidFill>
              <a:srgbClr val="E7DCC6"/>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6535674" y="2612898"/>
            <a:ext cx="251460" cy="251460"/>
          </a:xfrm>
          <a:prstGeom prst="rect">
            <a:avLst/>
          </a:prstGeom>
        </p:spPr>
      </p:pic>
      <p:sp>
        <p:nvSpPr>
          <p:cNvPr id="29" name="Text 23"/>
          <p:cNvSpPr txBox="1"/>
          <p:nvPr/>
        </p:nvSpPr>
        <p:spPr>
          <a:xfrm>
            <a:off x="7050024" y="2633472"/>
            <a:ext cx="1554480" cy="228600"/>
          </a:xfrm>
          <a:prstGeom prst="rect">
            <a:avLst/>
          </a:prstGeom>
          <a:noFill/>
          <a:ln/>
        </p:spPr>
        <p:txBody>
          <a:bodyPr wrap="square" lIns="0" tIns="0" rIns="0" bIns="0" rtlCol="0" anchor="t"/>
          <a:lstStyle/>
          <a:p>
            <a:pPr marL="0" indent="0">
              <a:buNone/>
            </a:pPr>
            <a:r>
              <a:rPr lang="en-US" sz="1000" b="1" kern="0" spc="200" dirty="0">
                <a:solidFill>
                  <a:srgbClr val="1D6F8B"/>
                </a:solidFill>
                <a:latin typeface="Courier New" pitchFamily="34" charset="0"/>
                <a:ea typeface="Courier New" pitchFamily="34" charset="-122"/>
                <a:cs typeface="Courier New" pitchFamily="34" charset="-120"/>
              </a:rPr>
              <a:t>GEAR 3</a:t>
            </a:r>
            <a:endParaRPr lang="en-US" sz="1000" dirty="0"/>
          </a:p>
        </p:txBody>
      </p:sp>
      <p:sp>
        <p:nvSpPr>
          <p:cNvPr id="30" name="Text 24"/>
          <p:cNvSpPr txBox="1"/>
          <p:nvPr/>
        </p:nvSpPr>
        <p:spPr>
          <a:xfrm>
            <a:off x="6409944" y="3154680"/>
            <a:ext cx="21945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Act &amp; notify</a:t>
            </a:r>
            <a:endParaRPr lang="en-US" sz="2200" dirty="0"/>
          </a:p>
        </p:txBody>
      </p:sp>
      <p:sp>
        <p:nvSpPr>
          <p:cNvPr id="31" name="Text 25"/>
          <p:cNvSpPr txBox="1"/>
          <p:nvPr/>
        </p:nvSpPr>
        <p:spPr>
          <a:xfrm>
            <a:off x="6409944" y="3611880"/>
            <a:ext cx="2194560" cy="685800"/>
          </a:xfrm>
          <a:prstGeom prst="rect">
            <a:avLst/>
          </a:prstGeom>
          <a:noFill/>
          <a:ln/>
        </p:spPr>
        <p:txBody>
          <a:bodyPr wrap="square" lIns="0" tIns="0" rIns="0" bIns="0" rtlCol="0" anchor="t"/>
          <a:lstStyle/>
          <a:p>
            <a:pPr marL="0" indent="0">
              <a:buNone/>
            </a:pPr>
            <a:r>
              <a:rPr lang="en-US" sz="1300" dirty="0">
                <a:solidFill>
                  <a:srgbClr val="6B7381"/>
                </a:solidFill>
                <a:latin typeface="Calibri" pitchFamily="34" charset="0"/>
                <a:ea typeface="Calibri" pitchFamily="34" charset="-122"/>
                <a:cs typeface="Calibri" pitchFamily="34" charset="-120"/>
              </a:rPr>
              <a:t>Reversible, capped actions. Announces each.</a:t>
            </a:r>
            <a:endParaRPr lang="en-US" sz="1300" dirty="0"/>
          </a:p>
        </p:txBody>
      </p:sp>
      <p:sp>
        <p:nvSpPr>
          <p:cNvPr id="32" name="Shape 26"/>
          <p:cNvSpPr/>
          <p:nvPr/>
        </p:nvSpPr>
        <p:spPr>
          <a:xfrm>
            <a:off x="6364224" y="4315968"/>
            <a:ext cx="2240280" cy="347472"/>
          </a:xfrm>
          <a:prstGeom prst="rect">
            <a:avLst/>
          </a:prstGeom>
          <a:solidFill>
            <a:srgbClr val="F1EBE0"/>
          </a:solidFill>
          <a:ln w="12700">
            <a:solidFill>
              <a:srgbClr val="F1EBE0"/>
            </a:solidFill>
            <a:prstDash val="solid"/>
          </a:ln>
        </p:spPr>
        <p:txBody>
          <a:bodyPr/>
          <a:lstStyle/>
          <a:p>
            <a:endParaRPr lang="en-US"/>
          </a:p>
        </p:txBody>
      </p:sp>
      <p:sp>
        <p:nvSpPr>
          <p:cNvPr id="33" name="Text 27"/>
          <p:cNvSpPr txBox="1"/>
          <p:nvPr/>
        </p:nvSpPr>
        <p:spPr>
          <a:xfrm>
            <a:off x="6409944" y="4315968"/>
            <a:ext cx="2148840" cy="347472"/>
          </a:xfrm>
          <a:prstGeom prst="rect">
            <a:avLst/>
          </a:prstGeom>
          <a:noFill/>
          <a:ln/>
        </p:spPr>
        <p:txBody>
          <a:bodyPr wrap="square" lIns="0" tIns="0" rIns="0" bIns="0" rtlCol="0" anchor="ctr"/>
          <a:lstStyle/>
          <a:p>
            <a:pPr marL="0" indent="0" algn="ctr">
              <a:buNone/>
            </a:pPr>
            <a:r>
              <a:rPr lang="en-US" sz="1050" b="1" dirty="0">
                <a:solidFill>
                  <a:srgbClr val="132038"/>
                </a:solidFill>
                <a:latin typeface="Calibri" pitchFamily="34" charset="0"/>
                <a:ea typeface="Calibri" pitchFamily="34" charset="-122"/>
                <a:cs typeface="Calibri" pitchFamily="34" charset="-120"/>
              </a:rPr>
              <a:t>30 days · &lt;5% rejected · 0 unsafe</a:t>
            </a:r>
            <a:endParaRPr lang="en-US" sz="1050" dirty="0"/>
          </a:p>
        </p:txBody>
      </p:sp>
      <p:sp>
        <p:nvSpPr>
          <p:cNvPr id="34" name="Text 28"/>
          <p:cNvSpPr txBox="1"/>
          <p:nvPr/>
        </p:nvSpPr>
        <p:spPr>
          <a:xfrm>
            <a:off x="8787384" y="3200400"/>
            <a:ext cx="210312" cy="457200"/>
          </a:xfrm>
          <a:prstGeom prst="rect">
            <a:avLst/>
          </a:prstGeom>
          <a:noFill/>
          <a:ln/>
        </p:spPr>
        <p:txBody>
          <a:bodyPr wrap="square" lIns="0" tIns="0" rIns="0" bIns="0" rtlCol="0" anchor="t"/>
          <a:lstStyle/>
          <a:p>
            <a:pPr marL="0" indent="0" algn="ctr">
              <a:buNone/>
            </a:pPr>
            <a:r>
              <a:rPr lang="en-US" sz="2600" b="1" dirty="0">
                <a:solidFill>
                  <a:srgbClr val="E39A16"/>
                </a:solidFill>
                <a:latin typeface="Calibri" pitchFamily="34" charset="0"/>
                <a:ea typeface="Calibri" pitchFamily="34" charset="-122"/>
                <a:cs typeface="Calibri" pitchFamily="34" charset="-120"/>
              </a:rPr>
              <a:t>›</a:t>
            </a:r>
            <a:endParaRPr lang="en-US" sz="2600" dirty="0"/>
          </a:p>
        </p:txBody>
      </p:sp>
      <p:sp>
        <p:nvSpPr>
          <p:cNvPr id="35" name="Shape 29"/>
          <p:cNvSpPr/>
          <p:nvPr/>
        </p:nvSpPr>
        <p:spPr>
          <a:xfrm>
            <a:off x="8997696" y="2286000"/>
            <a:ext cx="2606040" cy="251460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36" name="Shape 30"/>
          <p:cNvSpPr/>
          <p:nvPr/>
        </p:nvSpPr>
        <p:spPr>
          <a:xfrm>
            <a:off x="9226296" y="2487168"/>
            <a:ext cx="502920" cy="502920"/>
          </a:xfrm>
          <a:prstGeom prst="ellipse">
            <a:avLst/>
          </a:prstGeom>
          <a:solidFill>
            <a:srgbClr val="E7DCC6"/>
          </a:solidFill>
          <a:ln w="12700">
            <a:solidFill>
              <a:srgbClr val="E7DCC6"/>
            </a:solidFill>
            <a:prstDash val="solid"/>
          </a:ln>
        </p:spPr>
        <p:txBody>
          <a:bodyPr/>
          <a:lstStyle/>
          <a:p>
            <a:endParaRPr lang="en-US"/>
          </a:p>
        </p:txBody>
      </p:sp>
      <p:pic>
        <p:nvPicPr>
          <p:cNvPr id="37" name="Image 4" descr="preencoded.png"/>
          <p:cNvPicPr>
            <a:picLocks noChangeAspect="1"/>
          </p:cNvPicPr>
          <p:nvPr/>
        </p:nvPicPr>
        <p:blipFill>
          <a:blip r:embed="rId7"/>
          <a:stretch>
            <a:fillRect/>
          </a:stretch>
        </p:blipFill>
        <p:spPr>
          <a:xfrm>
            <a:off x="9352026" y="2612898"/>
            <a:ext cx="251460" cy="251460"/>
          </a:xfrm>
          <a:prstGeom prst="rect">
            <a:avLst/>
          </a:prstGeom>
        </p:spPr>
      </p:pic>
      <p:sp>
        <p:nvSpPr>
          <p:cNvPr id="38" name="Text 31"/>
          <p:cNvSpPr txBox="1"/>
          <p:nvPr/>
        </p:nvSpPr>
        <p:spPr>
          <a:xfrm>
            <a:off x="9866376" y="2633472"/>
            <a:ext cx="1554480" cy="228600"/>
          </a:xfrm>
          <a:prstGeom prst="rect">
            <a:avLst/>
          </a:prstGeom>
          <a:noFill/>
          <a:ln/>
        </p:spPr>
        <p:txBody>
          <a:bodyPr wrap="square" lIns="0" tIns="0" rIns="0" bIns="0" rtlCol="0" anchor="t"/>
          <a:lstStyle/>
          <a:p>
            <a:pPr marL="0" indent="0">
              <a:buNone/>
            </a:pPr>
            <a:r>
              <a:rPr lang="en-US" sz="1000" b="1" kern="0" spc="200" dirty="0">
                <a:solidFill>
                  <a:srgbClr val="1D6F8B"/>
                </a:solidFill>
                <a:latin typeface="Courier New" pitchFamily="34" charset="0"/>
                <a:ea typeface="Courier New" pitchFamily="34" charset="-122"/>
                <a:cs typeface="Courier New" pitchFamily="34" charset="-120"/>
              </a:rPr>
              <a:t>GEAR 4</a:t>
            </a:r>
            <a:endParaRPr lang="en-US" sz="1000" dirty="0"/>
          </a:p>
        </p:txBody>
      </p:sp>
      <p:sp>
        <p:nvSpPr>
          <p:cNvPr id="39" name="Text 32"/>
          <p:cNvSpPr txBox="1"/>
          <p:nvPr/>
        </p:nvSpPr>
        <p:spPr>
          <a:xfrm>
            <a:off x="9226296" y="3154680"/>
            <a:ext cx="2194560" cy="411480"/>
          </a:xfrm>
          <a:prstGeom prst="rect">
            <a:avLst/>
          </a:prstGeom>
          <a:noFill/>
          <a:ln/>
        </p:spPr>
        <p:txBody>
          <a:bodyPr wrap="square" lIns="0" tIns="0" rIns="0" bIns="0" rtlCol="0" anchor="t"/>
          <a:lstStyle/>
          <a:p>
            <a:pPr marL="0" indent="0">
              <a:buNone/>
            </a:pPr>
            <a:r>
              <a:rPr lang="en-US" sz="2200" b="1" dirty="0">
                <a:solidFill>
                  <a:srgbClr val="132038"/>
                </a:solidFill>
                <a:latin typeface="Calibri" pitchFamily="34" charset="0"/>
                <a:ea typeface="Calibri" pitchFamily="34" charset="-122"/>
                <a:cs typeface="Calibri" pitchFamily="34" charset="-120"/>
              </a:rPr>
              <a:t>Act</a:t>
            </a:r>
            <a:endParaRPr lang="en-US" sz="2200" dirty="0"/>
          </a:p>
        </p:txBody>
      </p:sp>
      <p:sp>
        <p:nvSpPr>
          <p:cNvPr id="40" name="Text 33"/>
          <p:cNvSpPr txBox="1"/>
          <p:nvPr/>
        </p:nvSpPr>
        <p:spPr>
          <a:xfrm>
            <a:off x="9226296" y="3611880"/>
            <a:ext cx="2194560" cy="685800"/>
          </a:xfrm>
          <a:prstGeom prst="rect">
            <a:avLst/>
          </a:prstGeom>
          <a:noFill/>
          <a:ln/>
        </p:spPr>
        <p:txBody>
          <a:bodyPr wrap="square" lIns="0" tIns="0" rIns="0" bIns="0" rtlCol="0" anchor="t"/>
          <a:lstStyle/>
          <a:p>
            <a:pPr marL="0" indent="0">
              <a:buNone/>
            </a:pPr>
            <a:r>
              <a:rPr lang="en-US" sz="1300" dirty="0">
                <a:solidFill>
                  <a:srgbClr val="6B7381"/>
                </a:solidFill>
                <a:latin typeface="Calibri" pitchFamily="34" charset="0"/>
                <a:ea typeface="Calibri" pitchFamily="34" charset="-122"/>
                <a:cs typeface="Calibri" pitchFamily="34" charset="-120"/>
              </a:rPr>
              <a:t>One narrow, well-understood incident class.</a:t>
            </a:r>
            <a:endParaRPr lang="en-US" sz="1300" dirty="0"/>
          </a:p>
        </p:txBody>
      </p:sp>
      <p:sp>
        <p:nvSpPr>
          <p:cNvPr id="41" name="Shape 34"/>
          <p:cNvSpPr/>
          <p:nvPr/>
        </p:nvSpPr>
        <p:spPr>
          <a:xfrm>
            <a:off x="9180576" y="4315968"/>
            <a:ext cx="2240280" cy="347472"/>
          </a:xfrm>
          <a:prstGeom prst="rect">
            <a:avLst/>
          </a:prstGeom>
          <a:solidFill>
            <a:srgbClr val="F1EBE0"/>
          </a:solidFill>
          <a:ln w="12700">
            <a:solidFill>
              <a:srgbClr val="F1EBE0"/>
            </a:solidFill>
            <a:prstDash val="solid"/>
          </a:ln>
        </p:spPr>
        <p:txBody>
          <a:bodyPr/>
          <a:lstStyle/>
          <a:p>
            <a:endParaRPr lang="en-US"/>
          </a:p>
        </p:txBody>
      </p:sp>
      <p:sp>
        <p:nvSpPr>
          <p:cNvPr id="42" name="Text 35"/>
          <p:cNvSpPr txBox="1"/>
          <p:nvPr/>
        </p:nvSpPr>
        <p:spPr>
          <a:xfrm>
            <a:off x="9226296" y="4315968"/>
            <a:ext cx="2148840" cy="347472"/>
          </a:xfrm>
          <a:prstGeom prst="rect">
            <a:avLst/>
          </a:prstGeom>
          <a:noFill/>
          <a:ln/>
        </p:spPr>
        <p:txBody>
          <a:bodyPr wrap="square" lIns="0" tIns="0" rIns="0" bIns="0" rtlCol="0" anchor="ctr"/>
          <a:lstStyle/>
          <a:p>
            <a:pPr marL="0" indent="0" algn="ctr">
              <a:buNone/>
            </a:pPr>
            <a:r>
              <a:rPr lang="en-US" sz="1050" b="1" dirty="0">
                <a:solidFill>
                  <a:srgbClr val="132038"/>
                </a:solidFill>
                <a:latin typeface="Calibri" pitchFamily="34" charset="0"/>
                <a:ea typeface="Calibri" pitchFamily="34" charset="-122"/>
                <a:cs typeface="Calibri" pitchFamily="34" charset="-120"/>
              </a:rPr>
              <a:t>90 days · 0 agent-caused incidents</a:t>
            </a:r>
            <a:endParaRPr lang="en-US" sz="1050" dirty="0"/>
          </a:p>
        </p:txBody>
      </p:sp>
      <p:sp>
        <p:nvSpPr>
          <p:cNvPr id="43" name="Text 36"/>
          <p:cNvSpPr txBox="1"/>
          <p:nvPr/>
        </p:nvSpPr>
        <p:spPr>
          <a:xfrm>
            <a:off x="548640" y="4983480"/>
            <a:ext cx="11064240" cy="201168"/>
          </a:xfrm>
          <a:prstGeom prst="rect">
            <a:avLst/>
          </a:prstGeom>
          <a:noFill/>
          <a:ln/>
        </p:spPr>
        <p:txBody>
          <a:bodyPr wrap="square" lIns="0" tIns="0" rIns="0" bIns="0" rtlCol="0" anchor="t"/>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EXAMPLE UNLOCK CRITERIA — TUNE TO YOUR RISK. WRITE THEM DOWN BEFORE THE INCIDENT.</a:t>
            </a:r>
            <a:endParaRPr lang="en-US" sz="900" dirty="0"/>
          </a:p>
        </p:txBody>
      </p:sp>
      <p:sp>
        <p:nvSpPr>
          <p:cNvPr id="44" name="Text 37"/>
          <p:cNvSpPr txBox="1"/>
          <p:nvPr/>
        </p:nvSpPr>
        <p:spPr>
          <a:xfrm>
            <a:off x="548640" y="5349240"/>
            <a:ext cx="11064240" cy="457200"/>
          </a:xfrm>
          <a:prstGeom prst="rect">
            <a:avLst/>
          </a:prstGeom>
          <a:noFill/>
          <a:ln/>
        </p:spPr>
        <p:txBody>
          <a:bodyPr wrap="square" lIns="0" tIns="0" rIns="0" bIns="0" rtlCol="0" anchor="ctr"/>
          <a:lstStyle/>
          <a:p>
            <a:pPr marL="0" indent="0">
              <a:buNone/>
            </a:pPr>
            <a:r>
              <a:rPr lang="en-US" sz="1600" dirty="0">
                <a:solidFill>
                  <a:srgbClr val="132038"/>
                </a:solidFill>
                <a:latin typeface="Calibri" pitchFamily="34" charset="0"/>
                <a:ea typeface="Calibri" pitchFamily="34" charset="-122"/>
                <a:cs typeface="Calibri" pitchFamily="34" charset="-120"/>
              </a:rPr>
              <a:t>Most teams should live in Gear 2 far longer than a demo makes you want to. </a:t>
            </a:r>
            <a:r>
              <a:rPr lang="en-US" sz="1600" b="1" dirty="0">
                <a:solidFill>
                  <a:srgbClr val="B0730A"/>
                </a:solidFill>
                <a:latin typeface="Calibri" pitchFamily="34" charset="0"/>
                <a:ea typeface="Calibri" pitchFamily="34" charset="-122"/>
                <a:cs typeface="Calibri" pitchFamily="34" charset="-120"/>
              </a:rPr>
              <a:t>Downshifting after a bad week is routine.</a:t>
            </a:r>
            <a:endParaRPr lang="en-US" sz="1600" dirty="0"/>
          </a:p>
        </p:txBody>
      </p:sp>
      <p:sp>
        <p:nvSpPr>
          <p:cNvPr id="45" name="Text 38"/>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6" name="Text 39"/>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GATE V  ·  IN PRACTICE</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6EFE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0"/>
          </a:blip>
          <a:stretch>
            <a:fillRect/>
          </a:stretch>
        </p:blipFill>
        <p:spPr>
          <a:xfrm>
            <a:off x="6583680" y="-1463040"/>
            <a:ext cx="7315200" cy="4114800"/>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1D6F8B"/>
                </a:solidFill>
                <a:latin typeface="Courier New" pitchFamily="34" charset="0"/>
                <a:ea typeface="Courier New" pitchFamily="34" charset="-122"/>
                <a:cs typeface="Courier New" pitchFamily="34" charset="-120"/>
              </a:rPr>
              <a:t>TAKE THIS HOME  ·  PHOTOGRAPH IT</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132038"/>
                </a:solidFill>
                <a:latin typeface="Calibri" pitchFamily="34" charset="0"/>
                <a:ea typeface="Calibri" pitchFamily="34" charset="-122"/>
                <a:cs typeface="Calibri" pitchFamily="34" charset="-120"/>
              </a:rPr>
              <a:t>Before it goes on call, give it an offer letter</a:t>
            </a:r>
            <a:endParaRPr lang="en-US" sz="3200" dirty="0"/>
          </a:p>
        </p:txBody>
      </p:sp>
      <p:sp>
        <p:nvSpPr>
          <p:cNvPr id="6" name="Text 3"/>
          <p:cNvSpPr txBox="1"/>
          <p:nvPr/>
        </p:nvSpPr>
        <p:spPr>
          <a:xfrm>
            <a:off x="548640" y="1600200"/>
            <a:ext cx="914400" cy="548640"/>
          </a:xfrm>
          <a:prstGeom prst="rect">
            <a:avLst/>
          </a:prstGeom>
          <a:noFill/>
          <a:ln/>
        </p:spPr>
        <p:txBody>
          <a:bodyPr wrap="square" lIns="0" tIns="0" rIns="0" bIns="0" rtlCol="0" anchor="t"/>
          <a:lstStyle/>
          <a:p>
            <a:pPr marL="0" indent="0">
              <a:buNone/>
            </a:pPr>
            <a:r>
              <a:rPr lang="en-US" sz="4800" b="1" dirty="0">
                <a:solidFill>
                  <a:srgbClr val="E39A16"/>
                </a:solidFill>
                <a:latin typeface="Cambria" pitchFamily="34" charset="0"/>
                <a:ea typeface="Cambria" pitchFamily="34" charset="-122"/>
                <a:cs typeface="Cambria" pitchFamily="34" charset="-120"/>
              </a:rPr>
              <a:t>“</a:t>
            </a:r>
            <a:endParaRPr lang="en-US" sz="4800" dirty="0"/>
          </a:p>
        </p:txBody>
      </p:sp>
      <p:sp>
        <p:nvSpPr>
          <p:cNvPr id="7" name="Text 4"/>
          <p:cNvSpPr txBox="1"/>
          <p:nvPr/>
        </p:nvSpPr>
        <p:spPr>
          <a:xfrm>
            <a:off x="548640" y="2148840"/>
            <a:ext cx="3931920" cy="1371600"/>
          </a:xfrm>
          <a:prstGeom prst="rect">
            <a:avLst/>
          </a:prstGeom>
          <a:noFill/>
          <a:ln/>
        </p:spPr>
        <p:txBody>
          <a:bodyPr wrap="square" lIns="0" tIns="0" rIns="0" bIns="0" rtlCol="0" anchor="t"/>
          <a:lstStyle/>
          <a:p>
            <a:pPr marL="0" indent="0">
              <a:buNone/>
            </a:pPr>
            <a:r>
              <a:rPr lang="en-US" sz="2100" i="1" dirty="0">
                <a:solidFill>
                  <a:srgbClr val="132038"/>
                </a:solidFill>
                <a:latin typeface="Cambria" pitchFamily="34" charset="0"/>
                <a:ea typeface="Cambria" pitchFamily="34" charset="-122"/>
                <a:cs typeface="Cambria" pitchFamily="34" charset="-120"/>
              </a:rPr>
              <a:t>The IT department of every company is going to be the HR department of AI agents.</a:t>
            </a:r>
            <a:endParaRPr lang="en-US" sz="2100" dirty="0"/>
          </a:p>
        </p:txBody>
      </p:sp>
      <p:sp>
        <p:nvSpPr>
          <p:cNvPr id="8" name="Text 5"/>
          <p:cNvSpPr txBox="1"/>
          <p:nvPr/>
        </p:nvSpPr>
        <p:spPr>
          <a:xfrm>
            <a:off x="548640" y="3657600"/>
            <a:ext cx="3931920" cy="182880"/>
          </a:xfrm>
          <a:prstGeom prst="rect">
            <a:avLst/>
          </a:prstGeom>
          <a:noFill/>
          <a:ln/>
        </p:spPr>
        <p:txBody>
          <a:bodyPr wrap="square" lIns="0" tIns="0" rIns="0" bIns="0" rtlCol="0" anchor="t"/>
          <a:lstStyle/>
          <a:p>
            <a:pPr marL="0" indent="0">
              <a:buNone/>
            </a:pPr>
            <a:r>
              <a:rPr lang="en-US" sz="850" b="1" dirty="0">
                <a:solidFill>
                  <a:srgbClr val="9C8E76"/>
                </a:solidFill>
                <a:latin typeface="Courier New" pitchFamily="34" charset="0"/>
                <a:ea typeface="Courier New" pitchFamily="34" charset="-122"/>
                <a:cs typeface="Courier New" pitchFamily="34" charset="-120"/>
              </a:rPr>
              <a:t>JENSEN HUANG  ·  CEO, NVIDIA  ·  CES, JAN 2025</a:t>
            </a:r>
            <a:endParaRPr lang="en-US" sz="850" dirty="0"/>
          </a:p>
        </p:txBody>
      </p:sp>
      <p:sp>
        <p:nvSpPr>
          <p:cNvPr id="9" name="Text 6"/>
          <p:cNvSpPr txBox="1"/>
          <p:nvPr/>
        </p:nvSpPr>
        <p:spPr>
          <a:xfrm>
            <a:off x="548640" y="4206240"/>
            <a:ext cx="3931920" cy="411480"/>
          </a:xfrm>
          <a:prstGeom prst="rect">
            <a:avLst/>
          </a:prstGeom>
          <a:noFill/>
          <a:ln/>
        </p:spPr>
        <p:txBody>
          <a:bodyPr wrap="square" lIns="0" tIns="0" rIns="0" bIns="0" rtlCol="0" anchor="t"/>
          <a:lstStyle/>
          <a:p>
            <a:pPr marL="0" indent="0">
              <a:buNone/>
            </a:pPr>
            <a:r>
              <a:rPr lang="en-US" sz="2400" b="1" dirty="0">
                <a:solidFill>
                  <a:srgbClr val="B0730A"/>
                </a:solidFill>
                <a:latin typeface="Calibri" pitchFamily="34" charset="0"/>
                <a:ea typeface="Calibri" pitchFamily="34" charset="-122"/>
                <a:cs typeface="Calibri" pitchFamily="34" charset="-120"/>
              </a:rPr>
              <a:t>So hire it like one.</a:t>
            </a:r>
            <a:endParaRPr lang="en-US" sz="2400" dirty="0"/>
          </a:p>
        </p:txBody>
      </p:sp>
      <p:sp>
        <p:nvSpPr>
          <p:cNvPr id="10" name="Text 7"/>
          <p:cNvSpPr txBox="1"/>
          <p:nvPr/>
        </p:nvSpPr>
        <p:spPr>
          <a:xfrm>
            <a:off x="548640" y="4709160"/>
            <a:ext cx="3931920" cy="822960"/>
          </a:xfrm>
          <a:prstGeom prst="rect">
            <a:avLst/>
          </a:prstGeom>
          <a:noFill/>
          <a:ln/>
        </p:spPr>
        <p:txBody>
          <a:bodyPr wrap="square" lIns="0" tIns="0" rIns="0" bIns="0" rtlCol="0" anchor="t"/>
          <a:lstStyle/>
          <a:p>
            <a:pPr marL="0" indent="0">
              <a:buNone/>
            </a:pPr>
            <a:r>
              <a:rPr lang="en-US" sz="1300" b="1" dirty="0">
                <a:solidFill>
                  <a:srgbClr val="132038"/>
                </a:solidFill>
                <a:latin typeface="Calibri" pitchFamily="34" charset="0"/>
                <a:ea typeface="Calibri" pitchFamily="34" charset="-122"/>
                <a:cs typeface="Calibri" pitchFamily="34" charset="-120"/>
              </a:rPr>
              <a:t>Review it like code. Diff it like code. Revoke it like code.</a:t>
            </a:r>
            <a:endParaRPr lang="en-US" sz="1300" dirty="0"/>
          </a:p>
          <a:p>
            <a:pPr marL="0" indent="0">
              <a:buNone/>
            </a:pPr>
            <a:r>
              <a:rPr lang="en-US" sz="1300" dirty="0">
                <a:solidFill>
                  <a:srgbClr val="6B7381"/>
                </a:solidFill>
                <a:latin typeface="Calibri" pitchFamily="34" charset="0"/>
                <a:ea typeface="Calibri" pitchFamily="34" charset="-122"/>
                <a:cs typeface="Calibri" pitchFamily="34" charset="-120"/>
              </a:rPr>
              <a:t>It lives in the repo: AGENTS.md + .claude/settings.json + hooks.</a:t>
            </a:r>
            <a:endParaRPr lang="en-US" sz="1300" dirty="0"/>
          </a:p>
        </p:txBody>
      </p:sp>
      <p:sp>
        <p:nvSpPr>
          <p:cNvPr id="11" name="Shape 8"/>
          <p:cNvSpPr/>
          <p:nvPr/>
        </p:nvSpPr>
        <p:spPr>
          <a:xfrm>
            <a:off x="4800600" y="1572768"/>
            <a:ext cx="6812280" cy="4572000"/>
          </a:xfrm>
          <a:prstGeom prst="rect">
            <a:avLst/>
          </a:prstGeom>
          <a:solidFill>
            <a:srgbClr val="FFFFFF"/>
          </a:solidFill>
          <a:ln w="9525">
            <a:solidFill>
              <a:srgbClr val="E6E0D5"/>
            </a:solidFill>
            <a:prstDash val="solid"/>
          </a:ln>
          <a:effectLst>
            <a:outerShdw blurRad="101600" dist="25400" dir="5400000" algn="bl" rotWithShape="0">
              <a:srgbClr val="000000">
                <a:alpha val="10000"/>
              </a:srgbClr>
            </a:outerShdw>
          </a:effectLst>
        </p:spPr>
        <p:txBody>
          <a:bodyPr/>
          <a:lstStyle/>
          <a:p>
            <a:endParaRPr lang="en-US"/>
          </a:p>
        </p:txBody>
      </p:sp>
      <p:sp>
        <p:nvSpPr>
          <p:cNvPr id="12" name="Shape 9"/>
          <p:cNvSpPr/>
          <p:nvPr/>
        </p:nvSpPr>
        <p:spPr>
          <a:xfrm>
            <a:off x="4800600" y="1572768"/>
            <a:ext cx="6812280" cy="73152"/>
          </a:xfrm>
          <a:prstGeom prst="rect">
            <a:avLst/>
          </a:prstGeom>
          <a:solidFill>
            <a:srgbClr val="E39A16"/>
          </a:solidFill>
          <a:ln w="12700">
            <a:solidFill>
              <a:srgbClr val="E39A16"/>
            </a:solidFill>
            <a:prstDash val="solid"/>
          </a:ln>
        </p:spPr>
        <p:txBody>
          <a:bodyPr/>
          <a:lstStyle/>
          <a:p>
            <a:endParaRPr lang="en-US"/>
          </a:p>
        </p:txBody>
      </p:sp>
      <p:sp>
        <p:nvSpPr>
          <p:cNvPr id="13" name="Text 10"/>
          <p:cNvSpPr txBox="1"/>
          <p:nvPr/>
        </p:nvSpPr>
        <p:spPr>
          <a:xfrm>
            <a:off x="5120640" y="1801368"/>
            <a:ext cx="4572000" cy="201168"/>
          </a:xfrm>
          <a:prstGeom prst="rect">
            <a:avLst/>
          </a:prstGeom>
          <a:noFill/>
          <a:ln/>
        </p:spPr>
        <p:txBody>
          <a:bodyPr wrap="square" lIns="0" tIns="0" rIns="0" bIns="0" rtlCol="0" anchor="t"/>
          <a:lstStyle/>
          <a:p>
            <a:pPr marL="0" indent="0">
              <a:buNone/>
            </a:pPr>
            <a:r>
              <a:rPr lang="en-US" sz="1100" b="1" kern="0" spc="300" dirty="0">
                <a:solidFill>
                  <a:srgbClr val="1D6F8B"/>
                </a:solidFill>
                <a:latin typeface="Courier New" pitchFamily="34" charset="0"/>
                <a:ea typeface="Courier New" pitchFamily="34" charset="-122"/>
                <a:cs typeface="Courier New" pitchFamily="34" charset="-120"/>
              </a:rPr>
              <a:t>OFFER OF EMPLOYMENT</a:t>
            </a:r>
            <a:endParaRPr lang="en-US" sz="1100" dirty="0"/>
          </a:p>
        </p:txBody>
      </p:sp>
      <p:sp>
        <p:nvSpPr>
          <p:cNvPr id="14" name="Text 11"/>
          <p:cNvSpPr txBox="1"/>
          <p:nvPr/>
        </p:nvSpPr>
        <p:spPr>
          <a:xfrm>
            <a:off x="5120640" y="2057400"/>
            <a:ext cx="5029200" cy="274320"/>
          </a:xfrm>
          <a:prstGeom prst="rect">
            <a:avLst/>
          </a:prstGeom>
          <a:noFill/>
          <a:ln/>
        </p:spPr>
        <p:txBody>
          <a:bodyPr wrap="square" lIns="0" tIns="0" rIns="0" bIns="0" rtlCol="0" anchor="t"/>
          <a:lstStyle/>
          <a:p>
            <a:pPr marL="0" indent="0">
              <a:buNone/>
            </a:pPr>
            <a:r>
              <a:rPr lang="en-US" sz="1500" i="1" dirty="0">
                <a:solidFill>
                  <a:srgbClr val="132038"/>
                </a:solidFill>
                <a:latin typeface="Cambria" pitchFamily="34" charset="0"/>
                <a:ea typeface="Cambria" pitchFamily="34" charset="-122"/>
                <a:cs typeface="Cambria" pitchFamily="34" charset="-120"/>
              </a:rPr>
              <a:t>On-call Responder (AI)  ·  checkout-api</a:t>
            </a:r>
            <a:endParaRPr lang="en-US" sz="1500" dirty="0"/>
          </a:p>
        </p:txBody>
      </p:sp>
      <p:pic>
        <p:nvPicPr>
          <p:cNvPr id="15" name="Image 1" descr="preencoded.png"/>
          <p:cNvPicPr>
            <a:picLocks noChangeAspect="1"/>
          </p:cNvPicPr>
          <p:nvPr/>
        </p:nvPicPr>
        <p:blipFill>
          <a:blip r:embed="rId4"/>
          <a:stretch>
            <a:fillRect/>
          </a:stretch>
        </p:blipFill>
        <p:spPr>
          <a:xfrm>
            <a:off x="10881360" y="1783080"/>
            <a:ext cx="475488" cy="475488"/>
          </a:xfrm>
          <a:prstGeom prst="rect">
            <a:avLst/>
          </a:prstGeom>
        </p:spPr>
      </p:pic>
      <p:sp>
        <p:nvSpPr>
          <p:cNvPr id="16" name="Text 12"/>
          <p:cNvSpPr txBox="1"/>
          <p:nvPr/>
        </p:nvSpPr>
        <p:spPr>
          <a:xfrm>
            <a:off x="5120640" y="2487168"/>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REPORTS TO</a:t>
            </a:r>
            <a:endParaRPr lang="en-US" sz="900" dirty="0"/>
          </a:p>
        </p:txBody>
      </p:sp>
      <p:sp>
        <p:nvSpPr>
          <p:cNvPr id="17" name="Text 13"/>
          <p:cNvSpPr txBox="1"/>
          <p:nvPr/>
        </p:nvSpPr>
        <p:spPr>
          <a:xfrm>
            <a:off x="6675120" y="2487168"/>
            <a:ext cx="4754880" cy="274320"/>
          </a:xfrm>
          <a:prstGeom prst="rect">
            <a:avLst/>
          </a:prstGeom>
          <a:noFill/>
          <a:ln/>
        </p:spPr>
        <p:txBody>
          <a:bodyPr wrap="square" lIns="0" tIns="0" rIns="0" bIns="0" rtlCol="0" anchor="ctr"/>
          <a:lstStyle/>
          <a:p>
            <a:pPr marL="0" indent="0">
              <a:buNone/>
            </a:pPr>
            <a:r>
              <a:rPr lang="en-US" sz="1350" dirty="0">
                <a:solidFill>
                  <a:srgbClr val="132038"/>
                </a:solidFill>
                <a:latin typeface="Calibri" pitchFamily="34" charset="0"/>
                <a:ea typeface="Calibri" pitchFamily="34" charset="-122"/>
                <a:cs typeface="Calibri" pitchFamily="34" charset="-120"/>
              </a:rPr>
              <a:t>The human on-call — named on every page</a:t>
            </a:r>
            <a:endParaRPr lang="en-US" sz="1350" dirty="0"/>
          </a:p>
        </p:txBody>
      </p:sp>
      <p:sp>
        <p:nvSpPr>
          <p:cNvPr id="18" name="Shape 14"/>
          <p:cNvSpPr/>
          <p:nvPr/>
        </p:nvSpPr>
        <p:spPr>
          <a:xfrm>
            <a:off x="5120640" y="2798064"/>
            <a:ext cx="6217920" cy="0"/>
          </a:xfrm>
          <a:prstGeom prst="line">
            <a:avLst/>
          </a:prstGeom>
          <a:noFill/>
          <a:ln w="6350">
            <a:solidFill>
              <a:srgbClr val="E6E0D5"/>
            </a:solidFill>
            <a:prstDash val="solid"/>
          </a:ln>
        </p:spPr>
        <p:txBody>
          <a:bodyPr/>
          <a:lstStyle/>
          <a:p>
            <a:endParaRPr lang="en-US"/>
          </a:p>
        </p:txBody>
      </p:sp>
      <p:sp>
        <p:nvSpPr>
          <p:cNvPr id="19" name="Text 15"/>
          <p:cNvSpPr txBox="1"/>
          <p:nvPr/>
        </p:nvSpPr>
        <p:spPr>
          <a:xfrm>
            <a:off x="5120640" y="2825496"/>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START DATE</a:t>
            </a:r>
            <a:endParaRPr lang="en-US" sz="900" dirty="0"/>
          </a:p>
        </p:txBody>
      </p:sp>
      <p:sp>
        <p:nvSpPr>
          <p:cNvPr id="20" name="Text 16"/>
          <p:cNvSpPr txBox="1"/>
          <p:nvPr/>
        </p:nvSpPr>
        <p:spPr>
          <a:xfrm>
            <a:off x="6675120" y="2825496"/>
            <a:ext cx="4754880" cy="274320"/>
          </a:xfrm>
          <a:prstGeom prst="rect">
            <a:avLst/>
          </a:prstGeom>
          <a:noFill/>
          <a:ln/>
        </p:spPr>
        <p:txBody>
          <a:bodyPr wrap="square" lIns="0" tIns="0" rIns="0" bIns="0" rtlCol="0" anchor="ctr"/>
          <a:lstStyle/>
          <a:p>
            <a:pPr marL="0" indent="0">
              <a:buNone/>
            </a:pPr>
            <a:r>
              <a:rPr lang="en-US" sz="1350" dirty="0">
                <a:solidFill>
                  <a:srgbClr val="132038"/>
                </a:solidFill>
                <a:latin typeface="Calibri" pitchFamily="34" charset="0"/>
                <a:ea typeface="Calibri" pitchFamily="34" charset="-122"/>
                <a:cs typeface="Calibri" pitchFamily="34" charset="-120"/>
              </a:rPr>
              <a:t>Monday, in Gear 1: suggest only</a:t>
            </a:r>
            <a:endParaRPr lang="en-US" sz="1350" dirty="0"/>
          </a:p>
        </p:txBody>
      </p:sp>
      <p:sp>
        <p:nvSpPr>
          <p:cNvPr id="21" name="Shape 17"/>
          <p:cNvSpPr/>
          <p:nvPr/>
        </p:nvSpPr>
        <p:spPr>
          <a:xfrm>
            <a:off x="5120640" y="3136392"/>
            <a:ext cx="6217920" cy="0"/>
          </a:xfrm>
          <a:prstGeom prst="line">
            <a:avLst/>
          </a:prstGeom>
          <a:noFill/>
          <a:ln w="6350">
            <a:solidFill>
              <a:srgbClr val="E6E0D5"/>
            </a:solidFill>
            <a:prstDash val="solid"/>
          </a:ln>
        </p:spPr>
        <p:txBody>
          <a:bodyPr/>
          <a:lstStyle/>
          <a:p>
            <a:endParaRPr lang="en-US"/>
          </a:p>
        </p:txBody>
      </p:sp>
      <p:sp>
        <p:nvSpPr>
          <p:cNvPr id="22" name="Text 18"/>
          <p:cNvSpPr txBox="1"/>
          <p:nvPr/>
        </p:nvSpPr>
        <p:spPr>
          <a:xfrm>
            <a:off x="5120640" y="3163824"/>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PROBATION</a:t>
            </a:r>
            <a:endParaRPr lang="en-US" sz="900" dirty="0"/>
          </a:p>
        </p:txBody>
      </p:sp>
      <p:sp>
        <p:nvSpPr>
          <p:cNvPr id="23" name="Text 19"/>
          <p:cNvSpPr txBox="1"/>
          <p:nvPr/>
        </p:nvSpPr>
        <p:spPr>
          <a:xfrm>
            <a:off x="6675120" y="3163824"/>
            <a:ext cx="4754880" cy="274320"/>
          </a:xfrm>
          <a:prstGeom prst="rect">
            <a:avLst/>
          </a:prstGeom>
          <a:noFill/>
          <a:ln/>
        </p:spPr>
        <p:txBody>
          <a:bodyPr wrap="square" lIns="0" tIns="0" rIns="0" bIns="0" rtlCol="0" anchor="ctr"/>
          <a:lstStyle/>
          <a:p>
            <a:pPr marL="0" indent="0">
              <a:buNone/>
            </a:pPr>
            <a:r>
              <a:rPr lang="en-US" sz="1350" dirty="0">
                <a:solidFill>
                  <a:srgbClr val="132038"/>
                </a:solidFill>
                <a:latin typeface="Calibri" pitchFamily="34" charset="0"/>
                <a:ea typeface="Calibri" pitchFamily="34" charset="-122"/>
                <a:cs typeface="Calibri" pitchFamily="34" charset="-120"/>
              </a:rPr>
              <a:t>100 shadow pages  ·  ≥90% agreement</a:t>
            </a:r>
            <a:endParaRPr lang="en-US" sz="1350" dirty="0"/>
          </a:p>
        </p:txBody>
      </p:sp>
      <p:sp>
        <p:nvSpPr>
          <p:cNvPr id="24" name="Shape 20"/>
          <p:cNvSpPr/>
          <p:nvPr/>
        </p:nvSpPr>
        <p:spPr>
          <a:xfrm>
            <a:off x="5120640" y="3474720"/>
            <a:ext cx="6217920" cy="0"/>
          </a:xfrm>
          <a:prstGeom prst="line">
            <a:avLst/>
          </a:prstGeom>
          <a:noFill/>
          <a:ln w="6350">
            <a:solidFill>
              <a:srgbClr val="E6E0D5"/>
            </a:solidFill>
            <a:prstDash val="solid"/>
          </a:ln>
        </p:spPr>
        <p:txBody>
          <a:bodyPr/>
          <a:lstStyle/>
          <a:p>
            <a:endParaRPr lang="en-US"/>
          </a:p>
        </p:txBody>
      </p:sp>
      <p:sp>
        <p:nvSpPr>
          <p:cNvPr id="25" name="Text 21"/>
          <p:cNvSpPr txBox="1"/>
          <p:nvPr/>
        </p:nvSpPr>
        <p:spPr>
          <a:xfrm>
            <a:off x="5120640" y="3502152"/>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ACCESS</a:t>
            </a:r>
            <a:endParaRPr lang="en-US" sz="900" dirty="0"/>
          </a:p>
        </p:txBody>
      </p:sp>
      <p:sp>
        <p:nvSpPr>
          <p:cNvPr id="26" name="Text 22"/>
          <p:cNvSpPr txBox="1"/>
          <p:nvPr/>
        </p:nvSpPr>
        <p:spPr>
          <a:xfrm>
            <a:off x="6675120" y="3502152"/>
            <a:ext cx="4754880" cy="274320"/>
          </a:xfrm>
          <a:prstGeom prst="rect">
            <a:avLst/>
          </a:prstGeom>
          <a:noFill/>
          <a:ln/>
        </p:spPr>
        <p:txBody>
          <a:bodyPr wrap="square" lIns="0" tIns="0" rIns="0" bIns="0" rtlCol="0" anchor="ctr"/>
          <a:lstStyle/>
          <a:p>
            <a:pPr marL="0" indent="0">
              <a:buNone/>
            </a:pPr>
            <a:r>
              <a:rPr lang="en-US" sz="1350" dirty="0">
                <a:solidFill>
                  <a:srgbClr val="132038"/>
                </a:solidFill>
                <a:latin typeface="Calibri" pitchFamily="34" charset="0"/>
                <a:ea typeface="Calibri" pitchFamily="34" charset="-122"/>
                <a:cs typeface="Calibri" pitchFamily="34" charset="-120"/>
              </a:rPr>
              <a:t>Read-only  ·  15-minute tokens  ·  one namespace</a:t>
            </a:r>
            <a:endParaRPr lang="en-US" sz="1350" dirty="0"/>
          </a:p>
        </p:txBody>
      </p:sp>
      <p:sp>
        <p:nvSpPr>
          <p:cNvPr id="27" name="Shape 23"/>
          <p:cNvSpPr/>
          <p:nvPr/>
        </p:nvSpPr>
        <p:spPr>
          <a:xfrm>
            <a:off x="5120640" y="3813048"/>
            <a:ext cx="6217920" cy="0"/>
          </a:xfrm>
          <a:prstGeom prst="line">
            <a:avLst/>
          </a:prstGeom>
          <a:noFill/>
          <a:ln w="6350">
            <a:solidFill>
              <a:srgbClr val="E6E0D5"/>
            </a:solidFill>
            <a:prstDash val="solid"/>
          </a:ln>
        </p:spPr>
        <p:txBody>
          <a:bodyPr/>
          <a:lstStyle/>
          <a:p>
            <a:endParaRPr lang="en-US"/>
          </a:p>
        </p:txBody>
      </p:sp>
      <p:sp>
        <p:nvSpPr>
          <p:cNvPr id="28" name="Text 24"/>
          <p:cNvSpPr txBox="1"/>
          <p:nvPr/>
        </p:nvSpPr>
        <p:spPr>
          <a:xfrm>
            <a:off x="5120640" y="3840480"/>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EVIDENCE</a:t>
            </a:r>
            <a:endParaRPr lang="en-US" sz="900" dirty="0"/>
          </a:p>
        </p:txBody>
      </p:sp>
      <p:sp>
        <p:nvSpPr>
          <p:cNvPr id="29" name="Text 25"/>
          <p:cNvSpPr txBox="1"/>
          <p:nvPr/>
        </p:nvSpPr>
        <p:spPr>
          <a:xfrm>
            <a:off x="6675120" y="3840480"/>
            <a:ext cx="4754880" cy="274320"/>
          </a:xfrm>
          <a:prstGeom prst="rect">
            <a:avLst/>
          </a:prstGeom>
          <a:noFill/>
          <a:ln/>
        </p:spPr>
        <p:txBody>
          <a:bodyPr wrap="square" lIns="0" tIns="0" rIns="0" bIns="0" rtlCol="0" anchor="ctr"/>
          <a:lstStyle/>
          <a:p>
            <a:pPr marL="0" indent="0">
              <a:buNone/>
            </a:pPr>
            <a:r>
              <a:rPr lang="en-US" sz="1350" dirty="0">
                <a:solidFill>
                  <a:srgbClr val="132038"/>
                </a:solidFill>
                <a:latin typeface="Calibri" pitchFamily="34" charset="0"/>
                <a:ea typeface="Calibri" pitchFamily="34" charset="-122"/>
                <a:cs typeface="Calibri" pitchFamily="34" charset="-120"/>
              </a:rPr>
              <a:t>No log, metric or diff → no action</a:t>
            </a:r>
            <a:endParaRPr lang="en-US" sz="1350" dirty="0"/>
          </a:p>
        </p:txBody>
      </p:sp>
      <p:sp>
        <p:nvSpPr>
          <p:cNvPr id="30" name="Shape 26"/>
          <p:cNvSpPr/>
          <p:nvPr/>
        </p:nvSpPr>
        <p:spPr>
          <a:xfrm>
            <a:off x="5120640" y="4151376"/>
            <a:ext cx="6217920" cy="0"/>
          </a:xfrm>
          <a:prstGeom prst="line">
            <a:avLst/>
          </a:prstGeom>
          <a:noFill/>
          <a:ln w="6350">
            <a:solidFill>
              <a:srgbClr val="E6E0D5"/>
            </a:solidFill>
            <a:prstDash val="solid"/>
          </a:ln>
        </p:spPr>
        <p:txBody>
          <a:bodyPr/>
          <a:lstStyle/>
          <a:p>
            <a:endParaRPr lang="en-US"/>
          </a:p>
        </p:txBody>
      </p:sp>
      <p:sp>
        <p:nvSpPr>
          <p:cNvPr id="31" name="Text 27"/>
          <p:cNvSpPr txBox="1"/>
          <p:nvPr/>
        </p:nvSpPr>
        <p:spPr>
          <a:xfrm>
            <a:off x="5120640" y="4178808"/>
            <a:ext cx="1463040" cy="274320"/>
          </a:xfrm>
          <a:prstGeom prst="rect">
            <a:avLst/>
          </a:prstGeom>
          <a:noFill/>
          <a:ln/>
        </p:spPr>
        <p:txBody>
          <a:bodyPr wrap="square" lIns="0" tIns="0" rIns="0" bIns="0" rtlCol="0" anchor="ctr"/>
          <a:lstStyle/>
          <a:p>
            <a:pPr marL="0" indent="0">
              <a:buNone/>
            </a:pPr>
            <a:r>
              <a:rPr lang="en-US" sz="900" b="1" kern="0" spc="100" dirty="0">
                <a:solidFill>
                  <a:srgbClr val="B5443A"/>
                </a:solidFill>
                <a:latin typeface="Courier New" pitchFamily="34" charset="0"/>
                <a:ea typeface="Courier New" pitchFamily="34" charset="-122"/>
                <a:cs typeface="Courier New" pitchFamily="34" charset="-120"/>
              </a:rPr>
              <a:t>NEVER</a:t>
            </a:r>
            <a:endParaRPr lang="en-US" sz="900" dirty="0"/>
          </a:p>
        </p:txBody>
      </p:sp>
      <p:sp>
        <p:nvSpPr>
          <p:cNvPr id="32" name="Text 28"/>
          <p:cNvSpPr txBox="1"/>
          <p:nvPr/>
        </p:nvSpPr>
        <p:spPr>
          <a:xfrm>
            <a:off x="6675120" y="4178808"/>
            <a:ext cx="4754880" cy="274320"/>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Delete  ·  DNS  ·  migrations  ·  secrets  ·  spend</a:t>
            </a:r>
            <a:endParaRPr lang="en-US" sz="1350" dirty="0"/>
          </a:p>
        </p:txBody>
      </p:sp>
      <p:sp>
        <p:nvSpPr>
          <p:cNvPr id="33" name="Shape 29"/>
          <p:cNvSpPr/>
          <p:nvPr/>
        </p:nvSpPr>
        <p:spPr>
          <a:xfrm>
            <a:off x="5120640" y="4489704"/>
            <a:ext cx="6217920" cy="0"/>
          </a:xfrm>
          <a:prstGeom prst="line">
            <a:avLst/>
          </a:prstGeom>
          <a:noFill/>
          <a:ln w="6350">
            <a:solidFill>
              <a:srgbClr val="E6E0D5"/>
            </a:solidFill>
            <a:prstDash val="solid"/>
          </a:ln>
        </p:spPr>
        <p:txBody>
          <a:bodyPr/>
          <a:lstStyle/>
          <a:p>
            <a:endParaRPr lang="en-US"/>
          </a:p>
        </p:txBody>
      </p:sp>
      <p:sp>
        <p:nvSpPr>
          <p:cNvPr id="34" name="Text 30"/>
          <p:cNvSpPr txBox="1"/>
          <p:nvPr/>
        </p:nvSpPr>
        <p:spPr>
          <a:xfrm>
            <a:off x="5120640" y="4517136"/>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LIMITS</a:t>
            </a:r>
            <a:endParaRPr lang="en-US" sz="900" dirty="0"/>
          </a:p>
        </p:txBody>
      </p:sp>
      <p:sp>
        <p:nvSpPr>
          <p:cNvPr id="35" name="Text 31"/>
          <p:cNvSpPr txBox="1"/>
          <p:nvPr/>
        </p:nvSpPr>
        <p:spPr>
          <a:xfrm>
            <a:off x="6675120" y="4517136"/>
            <a:ext cx="4754880" cy="274320"/>
          </a:xfrm>
          <a:prstGeom prst="rect">
            <a:avLst/>
          </a:prstGeom>
          <a:noFill/>
          <a:ln/>
        </p:spPr>
        <p:txBody>
          <a:bodyPr wrap="square" lIns="0" tIns="0" rIns="0" bIns="0" rtlCol="0" anchor="ctr"/>
          <a:lstStyle/>
          <a:p>
            <a:pPr marL="0" indent="0">
              <a:buNone/>
            </a:pPr>
            <a:r>
              <a:rPr lang="en-US" sz="1350" dirty="0">
                <a:solidFill>
                  <a:srgbClr val="132038"/>
                </a:solidFill>
                <a:latin typeface="Calibri" pitchFamily="34" charset="0"/>
                <a:ea typeface="Calibri" pitchFamily="34" charset="-122"/>
                <a:cs typeface="Calibri" pitchFamily="34" charset="-120"/>
              </a:rPr>
              <a:t>3 actions per incident  ·  10 per hour</a:t>
            </a:r>
            <a:endParaRPr lang="en-US" sz="1350" dirty="0"/>
          </a:p>
        </p:txBody>
      </p:sp>
      <p:sp>
        <p:nvSpPr>
          <p:cNvPr id="36" name="Shape 32"/>
          <p:cNvSpPr/>
          <p:nvPr/>
        </p:nvSpPr>
        <p:spPr>
          <a:xfrm>
            <a:off x="5120640" y="4828032"/>
            <a:ext cx="6217920" cy="0"/>
          </a:xfrm>
          <a:prstGeom prst="line">
            <a:avLst/>
          </a:prstGeom>
          <a:noFill/>
          <a:ln w="6350">
            <a:solidFill>
              <a:srgbClr val="E6E0D5"/>
            </a:solidFill>
            <a:prstDash val="solid"/>
          </a:ln>
        </p:spPr>
        <p:txBody>
          <a:bodyPr/>
          <a:lstStyle/>
          <a:p>
            <a:endParaRPr lang="en-US"/>
          </a:p>
        </p:txBody>
      </p:sp>
      <p:sp>
        <p:nvSpPr>
          <p:cNvPr id="37" name="Text 33"/>
          <p:cNvSpPr txBox="1"/>
          <p:nvPr/>
        </p:nvSpPr>
        <p:spPr>
          <a:xfrm>
            <a:off x="5120640" y="4855464"/>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REVIEW</a:t>
            </a:r>
            <a:endParaRPr lang="en-US" sz="900" dirty="0"/>
          </a:p>
        </p:txBody>
      </p:sp>
      <p:sp>
        <p:nvSpPr>
          <p:cNvPr id="38" name="Text 34"/>
          <p:cNvSpPr txBox="1"/>
          <p:nvPr/>
        </p:nvSpPr>
        <p:spPr>
          <a:xfrm>
            <a:off x="6675120" y="4855464"/>
            <a:ext cx="4754880" cy="274320"/>
          </a:xfrm>
          <a:prstGeom prst="rect">
            <a:avLst/>
          </a:prstGeom>
          <a:noFill/>
          <a:ln/>
        </p:spPr>
        <p:txBody>
          <a:bodyPr wrap="square" lIns="0" tIns="0" rIns="0" bIns="0" rtlCol="0" anchor="ctr"/>
          <a:lstStyle/>
          <a:p>
            <a:pPr marL="0" indent="0">
              <a:buNone/>
            </a:pPr>
            <a:r>
              <a:rPr lang="en-US" sz="1350" dirty="0">
                <a:solidFill>
                  <a:srgbClr val="132038"/>
                </a:solidFill>
                <a:latin typeface="Calibri" pitchFamily="34" charset="0"/>
                <a:ea typeface="Calibri" pitchFamily="34" charset="-122"/>
                <a:cs typeface="Calibri" pitchFamily="34" charset="-120"/>
              </a:rPr>
              <a:t>Monthly: intervention &amp; false-action rate</a:t>
            </a:r>
            <a:endParaRPr lang="en-US" sz="1350" dirty="0"/>
          </a:p>
        </p:txBody>
      </p:sp>
      <p:sp>
        <p:nvSpPr>
          <p:cNvPr id="39" name="Shape 35"/>
          <p:cNvSpPr/>
          <p:nvPr/>
        </p:nvSpPr>
        <p:spPr>
          <a:xfrm>
            <a:off x="5120640" y="5166360"/>
            <a:ext cx="6217920" cy="0"/>
          </a:xfrm>
          <a:prstGeom prst="line">
            <a:avLst/>
          </a:prstGeom>
          <a:noFill/>
          <a:ln w="6350">
            <a:solidFill>
              <a:srgbClr val="E6E0D5"/>
            </a:solidFill>
            <a:prstDash val="solid"/>
          </a:ln>
        </p:spPr>
        <p:txBody>
          <a:bodyPr/>
          <a:lstStyle/>
          <a:p>
            <a:endParaRPr lang="en-US"/>
          </a:p>
        </p:txBody>
      </p:sp>
      <p:sp>
        <p:nvSpPr>
          <p:cNvPr id="40" name="Text 36"/>
          <p:cNvSpPr txBox="1"/>
          <p:nvPr/>
        </p:nvSpPr>
        <p:spPr>
          <a:xfrm>
            <a:off x="5120640" y="5193792"/>
            <a:ext cx="1463040" cy="274320"/>
          </a:xfrm>
          <a:prstGeom prst="rect">
            <a:avLst/>
          </a:prstGeom>
          <a:noFill/>
          <a:ln/>
        </p:spPr>
        <p:txBody>
          <a:bodyPr wrap="square" lIns="0" tIns="0" rIns="0" bIns="0" rtlCol="0" anchor="ctr"/>
          <a:lstStyle/>
          <a:p>
            <a:pPr marL="0" indent="0">
              <a:buNone/>
            </a:pPr>
            <a:r>
              <a:rPr lang="en-US" sz="900" b="1" kern="0" spc="100" dirty="0">
                <a:solidFill>
                  <a:srgbClr val="9C8E76"/>
                </a:solidFill>
                <a:latin typeface="Courier New" pitchFamily="34" charset="0"/>
                <a:ea typeface="Courier New" pitchFamily="34" charset="-122"/>
                <a:cs typeface="Courier New" pitchFamily="34" charset="-120"/>
              </a:rPr>
              <a:t>TERMINATION</a:t>
            </a:r>
            <a:endParaRPr lang="en-US" sz="900" dirty="0"/>
          </a:p>
        </p:txBody>
      </p:sp>
      <p:sp>
        <p:nvSpPr>
          <p:cNvPr id="41" name="Text 37"/>
          <p:cNvSpPr txBox="1"/>
          <p:nvPr/>
        </p:nvSpPr>
        <p:spPr>
          <a:xfrm>
            <a:off x="6675120" y="5193792"/>
            <a:ext cx="4754880" cy="274320"/>
          </a:xfrm>
          <a:prstGeom prst="rect">
            <a:avLst/>
          </a:prstGeom>
          <a:noFill/>
          <a:ln/>
        </p:spPr>
        <p:txBody>
          <a:bodyPr wrap="square" lIns="0" tIns="0" rIns="0" bIns="0" rtlCol="0" anchor="ctr"/>
          <a:lstStyle/>
          <a:p>
            <a:pPr marL="0" indent="0">
              <a:buNone/>
            </a:pPr>
            <a:r>
              <a:rPr lang="en-US" sz="1350" b="1" dirty="0">
                <a:solidFill>
                  <a:srgbClr val="132038"/>
                </a:solidFill>
                <a:latin typeface="Calibri" pitchFamily="34" charset="0"/>
                <a:ea typeface="Calibri" pitchFamily="34" charset="-122"/>
                <a:cs typeface="Calibri" pitchFamily="34" charset="-120"/>
              </a:rPr>
              <a:t>ops/agent-stop.sh — any engineer, any time</a:t>
            </a:r>
            <a:endParaRPr lang="en-US" sz="1350" dirty="0"/>
          </a:p>
        </p:txBody>
      </p:sp>
      <p:sp>
        <p:nvSpPr>
          <p:cNvPr id="42" name="Shape 38"/>
          <p:cNvSpPr/>
          <p:nvPr/>
        </p:nvSpPr>
        <p:spPr>
          <a:xfrm>
            <a:off x="5120640" y="5742432"/>
            <a:ext cx="2103120" cy="0"/>
          </a:xfrm>
          <a:prstGeom prst="line">
            <a:avLst/>
          </a:prstGeom>
          <a:noFill/>
          <a:ln w="9525">
            <a:solidFill>
              <a:srgbClr val="132038"/>
            </a:solidFill>
            <a:prstDash val="solid"/>
          </a:ln>
        </p:spPr>
        <p:txBody>
          <a:bodyPr/>
          <a:lstStyle/>
          <a:p>
            <a:endParaRPr lang="en-US"/>
          </a:p>
        </p:txBody>
      </p:sp>
      <p:sp>
        <p:nvSpPr>
          <p:cNvPr id="43" name="Text 39"/>
          <p:cNvSpPr txBox="1"/>
          <p:nvPr/>
        </p:nvSpPr>
        <p:spPr>
          <a:xfrm>
            <a:off x="5120640" y="5788152"/>
            <a:ext cx="2103120" cy="182880"/>
          </a:xfrm>
          <a:prstGeom prst="rect">
            <a:avLst/>
          </a:prstGeom>
          <a:noFill/>
          <a:ln/>
        </p:spPr>
        <p:txBody>
          <a:bodyPr wrap="square" lIns="0" tIns="0" rIns="0" bIns="0" rtlCol="0" anchor="t"/>
          <a:lstStyle/>
          <a:p>
            <a:pPr marL="0" indent="0">
              <a:buNone/>
            </a:pPr>
            <a:r>
              <a:rPr lang="en-US" sz="800" dirty="0">
                <a:solidFill>
                  <a:srgbClr val="9C8E76"/>
                </a:solidFill>
                <a:latin typeface="Courier New" pitchFamily="34" charset="0"/>
                <a:ea typeface="Courier New" pitchFamily="34" charset="-122"/>
                <a:cs typeface="Courier New" pitchFamily="34" charset="-120"/>
              </a:rPr>
              <a:t>Signed by a human</a:t>
            </a:r>
            <a:endParaRPr lang="en-US" sz="800" dirty="0"/>
          </a:p>
        </p:txBody>
      </p:sp>
      <p:sp>
        <p:nvSpPr>
          <p:cNvPr id="44" name="Text 40"/>
          <p:cNvSpPr txBox="1"/>
          <p:nvPr/>
        </p:nvSpPr>
        <p:spPr>
          <a:xfrm>
            <a:off x="8046720" y="5650992"/>
            <a:ext cx="3337560" cy="274320"/>
          </a:xfrm>
          <a:prstGeom prst="rect">
            <a:avLst/>
          </a:prstGeom>
          <a:noFill/>
          <a:ln/>
        </p:spPr>
        <p:txBody>
          <a:bodyPr wrap="square" lIns="0" tIns="0" rIns="0" bIns="0" rtlCol="0" anchor="t"/>
          <a:lstStyle/>
          <a:p>
            <a:pPr marL="0" indent="0" algn="r">
              <a:buNone/>
            </a:pPr>
            <a:r>
              <a:rPr lang="en-US" sz="1300" i="1" dirty="0">
                <a:solidFill>
                  <a:srgbClr val="B0730A"/>
                </a:solidFill>
                <a:latin typeface="Cambria" pitchFamily="34" charset="0"/>
                <a:ea typeface="Cambria" pitchFamily="34" charset="-122"/>
                <a:cs typeface="Cambria" pitchFamily="34" charset="-120"/>
              </a:rPr>
              <a:t>Accountability is not delegated.</a:t>
            </a:r>
            <a:endParaRPr lang="en-US" sz="1300" dirty="0"/>
          </a:p>
        </p:txBody>
      </p:sp>
      <p:sp>
        <p:nvSpPr>
          <p:cNvPr id="45" name="Text 41"/>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C9BFA9"/>
                </a:solidFill>
                <a:latin typeface="Courier New" pitchFamily="34" charset="0"/>
                <a:ea typeface="Courier New" pitchFamily="34" charset="-122"/>
                <a:cs typeface="Courier New" pitchFamily="34" charset="-120"/>
              </a:rPr>
              <a:t>BEFORE YOU PUT AN AI AGENT ON CALL</a:t>
            </a:r>
            <a:endParaRPr lang="en-US" sz="750" dirty="0"/>
          </a:p>
        </p:txBody>
      </p:sp>
      <p:sp>
        <p:nvSpPr>
          <p:cNvPr id="46" name="Text 42"/>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C9BFA9"/>
                </a:solidFill>
                <a:latin typeface="Courier New" pitchFamily="34" charset="0"/>
                <a:ea typeface="Courier New" pitchFamily="34" charset="-122"/>
                <a:cs typeface="Courier New" pitchFamily="34" charset="-120"/>
              </a:rPr>
              <a:t>THE ARTIFACT</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628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94960" y="-1051560"/>
            <a:ext cx="8412480" cy="4736592"/>
          </a:xfrm>
          <a:prstGeom prst="rect">
            <a:avLst/>
          </a:prstGeom>
        </p:spPr>
      </p:pic>
      <p:sp>
        <p:nvSpPr>
          <p:cNvPr id="3" name="Shape 0"/>
          <p:cNvSpPr/>
          <p:nvPr/>
        </p:nvSpPr>
        <p:spPr>
          <a:xfrm>
            <a:off x="548640" y="585216"/>
            <a:ext cx="347472" cy="0"/>
          </a:xfrm>
          <a:prstGeom prst="line">
            <a:avLst/>
          </a:prstGeom>
          <a:noFill/>
          <a:ln w="25400">
            <a:solidFill>
              <a:srgbClr val="E39A16"/>
            </a:solidFill>
            <a:prstDash val="solid"/>
          </a:ln>
        </p:spPr>
        <p:txBody>
          <a:bodyPr/>
          <a:lstStyle/>
          <a:p>
            <a:endParaRPr lang="en-US"/>
          </a:p>
        </p:txBody>
      </p:sp>
      <p:sp>
        <p:nvSpPr>
          <p:cNvPr id="4" name="Text 1"/>
          <p:cNvSpPr txBox="1"/>
          <p:nvPr/>
        </p:nvSpPr>
        <p:spPr>
          <a:xfrm>
            <a:off x="1024128" y="502920"/>
            <a:ext cx="9144000" cy="182880"/>
          </a:xfrm>
          <a:prstGeom prst="rect">
            <a:avLst/>
          </a:prstGeom>
          <a:noFill/>
          <a:ln/>
        </p:spPr>
        <p:txBody>
          <a:bodyPr wrap="square" lIns="0" tIns="0" rIns="0" bIns="0" rtlCol="0" anchor="t"/>
          <a:lstStyle/>
          <a:p>
            <a:pPr marL="0" indent="0">
              <a:buNone/>
            </a:pPr>
            <a:r>
              <a:rPr lang="en-US" sz="1050" b="1" kern="0" spc="300" dirty="0">
                <a:solidFill>
                  <a:srgbClr val="E7E2D8"/>
                </a:solidFill>
                <a:latin typeface="Courier New" pitchFamily="34" charset="0"/>
                <a:ea typeface="Courier New" pitchFamily="34" charset="-122"/>
                <a:cs typeface="Courier New" pitchFamily="34" charset="-120"/>
              </a:rPr>
              <a:t>REWIND  ·  SAME AGENT  ·  SAME TOKEN  ·  SAME 9 SECONDS</a:t>
            </a:r>
            <a:endParaRPr lang="en-US" sz="1050" dirty="0"/>
          </a:p>
        </p:txBody>
      </p:sp>
      <p:sp>
        <p:nvSpPr>
          <p:cNvPr id="5" name="Text 2"/>
          <p:cNvSpPr txBox="1"/>
          <p:nvPr/>
        </p:nvSpPr>
        <p:spPr>
          <a:xfrm>
            <a:off x="548640" y="777240"/>
            <a:ext cx="1106424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Now replay April 25th with the five gates on.</a:t>
            </a:r>
            <a:endParaRPr lang="en-US" sz="3200" dirty="0"/>
          </a:p>
        </p:txBody>
      </p:sp>
      <p:sp>
        <p:nvSpPr>
          <p:cNvPr id="6" name="Text 3"/>
          <p:cNvSpPr txBox="1"/>
          <p:nvPr/>
        </p:nvSpPr>
        <p:spPr>
          <a:xfrm>
            <a:off x="1600200" y="1572768"/>
            <a:ext cx="4206240" cy="201168"/>
          </a:xfrm>
          <a:prstGeom prst="rect">
            <a:avLst/>
          </a:prstGeom>
          <a:noFill/>
          <a:ln/>
        </p:spPr>
        <p:txBody>
          <a:bodyPr wrap="square" lIns="0" tIns="0" rIns="0" bIns="0" rtlCol="0" anchor="t"/>
          <a:lstStyle/>
          <a:p>
            <a:pPr marL="0" indent="0">
              <a:buNone/>
            </a:pPr>
            <a:r>
              <a:rPr lang="en-US" sz="950" b="1" kern="0" spc="200" dirty="0">
                <a:solidFill>
                  <a:srgbClr val="E57368"/>
                </a:solidFill>
                <a:latin typeface="Courier New" pitchFamily="34" charset="0"/>
                <a:ea typeface="Courier New" pitchFamily="34" charset="-122"/>
                <a:cs typeface="Courier New" pitchFamily="34" charset="-120"/>
              </a:rPr>
              <a:t>WHAT THE AGENT DID</a:t>
            </a:r>
            <a:endParaRPr lang="en-US" sz="950" dirty="0"/>
          </a:p>
        </p:txBody>
      </p:sp>
      <p:sp>
        <p:nvSpPr>
          <p:cNvPr id="7" name="Text 4"/>
          <p:cNvSpPr txBox="1"/>
          <p:nvPr/>
        </p:nvSpPr>
        <p:spPr>
          <a:xfrm>
            <a:off x="6446520" y="1572768"/>
            <a:ext cx="5029200" cy="201168"/>
          </a:xfrm>
          <a:prstGeom prst="rect">
            <a:avLst/>
          </a:prstGeom>
          <a:noFill/>
          <a:ln/>
        </p:spPr>
        <p:txBody>
          <a:bodyPr wrap="square" lIns="0" tIns="0" rIns="0" bIns="0" rtlCol="0" anchor="t"/>
          <a:lstStyle/>
          <a:p>
            <a:pPr marL="0" indent="0">
              <a:buNone/>
            </a:pPr>
            <a:r>
              <a:rPr lang="en-US" sz="950" b="1" kern="0" spc="200" dirty="0">
                <a:solidFill>
                  <a:srgbClr val="A8D5C2"/>
                </a:solidFill>
                <a:latin typeface="Courier New" pitchFamily="34" charset="0"/>
                <a:ea typeface="Courier New" pitchFamily="34" charset="-122"/>
                <a:cs typeface="Courier New" pitchFamily="34" charset="-120"/>
              </a:rPr>
              <a:t>WHAT STOPS IT</a:t>
            </a:r>
            <a:endParaRPr lang="en-US" sz="950" dirty="0"/>
          </a:p>
        </p:txBody>
      </p:sp>
      <p:sp>
        <p:nvSpPr>
          <p:cNvPr id="8" name="Text 5"/>
          <p:cNvSpPr txBox="1"/>
          <p:nvPr/>
        </p:nvSpPr>
        <p:spPr>
          <a:xfrm>
            <a:off x="548640" y="1901952"/>
            <a:ext cx="914400" cy="713232"/>
          </a:xfrm>
          <a:prstGeom prst="rect">
            <a:avLst/>
          </a:prstGeom>
          <a:noFill/>
          <a:ln/>
        </p:spPr>
        <p:txBody>
          <a:bodyPr wrap="square" lIns="0" tIns="0" rIns="0" bIns="0" rtlCol="0" anchor="ctr"/>
          <a:lstStyle/>
          <a:p>
            <a:pPr marL="0" indent="0">
              <a:buNone/>
            </a:pPr>
            <a:r>
              <a:rPr lang="en-US" sz="1400" b="1" dirty="0">
                <a:solidFill>
                  <a:srgbClr val="E39A16"/>
                </a:solidFill>
                <a:latin typeface="Courier New" pitchFamily="34" charset="0"/>
                <a:ea typeface="Courier New" pitchFamily="34" charset="-122"/>
                <a:cs typeface="Courier New" pitchFamily="34" charset="-120"/>
              </a:rPr>
              <a:t>00:00</a:t>
            </a:r>
            <a:endParaRPr lang="en-US" sz="1400" dirty="0"/>
          </a:p>
        </p:txBody>
      </p:sp>
      <p:sp>
        <p:nvSpPr>
          <p:cNvPr id="9" name="Shape 6"/>
          <p:cNvSpPr/>
          <p:nvPr/>
        </p:nvSpPr>
        <p:spPr>
          <a:xfrm>
            <a:off x="1463040" y="1901952"/>
            <a:ext cx="4434840" cy="713232"/>
          </a:xfrm>
          <a:prstGeom prst="rect">
            <a:avLst/>
          </a:prstGeom>
          <a:solidFill>
            <a:srgbClr val="3A2A30"/>
          </a:solidFill>
          <a:ln w="9525">
            <a:solidFill>
              <a:srgbClr val="5A3A3E"/>
            </a:solidFill>
            <a:prstDash val="solid"/>
          </a:ln>
        </p:spPr>
        <p:txBody>
          <a:bodyPr/>
          <a:lstStyle/>
          <a:p>
            <a:endParaRPr lang="en-US"/>
          </a:p>
        </p:txBody>
      </p:sp>
      <p:sp>
        <p:nvSpPr>
          <p:cNvPr id="10" name="Text 7"/>
          <p:cNvSpPr txBox="1"/>
          <p:nvPr/>
        </p:nvSpPr>
        <p:spPr>
          <a:xfrm>
            <a:off x="1645920" y="1901952"/>
            <a:ext cx="4114800" cy="713232"/>
          </a:xfrm>
          <a:prstGeom prst="rect">
            <a:avLst/>
          </a:prstGeom>
          <a:noFill/>
          <a:ln/>
        </p:spPr>
        <p:txBody>
          <a:bodyPr wrap="square" lIns="0" tIns="0" rIns="0" bIns="0" rtlCol="0" anchor="ctr"/>
          <a:lstStyle/>
          <a:p>
            <a:pPr marL="0" indent="0">
              <a:buNone/>
            </a:pPr>
            <a:r>
              <a:rPr lang="en-US" sz="1450" dirty="0">
                <a:solidFill>
                  <a:srgbClr val="F2C9C4"/>
                </a:solidFill>
                <a:latin typeface="Calibri" pitchFamily="34" charset="0"/>
                <a:ea typeface="Calibri" pitchFamily="34" charset="-122"/>
                <a:cs typeface="Calibri" pitchFamily="34" charset="-120"/>
              </a:rPr>
              <a:t>Decides to “fix” a staging credential by deleting a volume</a:t>
            </a:r>
            <a:endParaRPr lang="en-US" sz="1450" dirty="0"/>
          </a:p>
        </p:txBody>
      </p:sp>
      <p:sp>
        <p:nvSpPr>
          <p:cNvPr id="11" name="Text 8"/>
          <p:cNvSpPr txBox="1"/>
          <p:nvPr/>
        </p:nvSpPr>
        <p:spPr>
          <a:xfrm>
            <a:off x="5897880" y="1901952"/>
            <a:ext cx="457200" cy="713232"/>
          </a:xfrm>
          <a:prstGeom prst="rect">
            <a:avLst/>
          </a:prstGeom>
          <a:noFill/>
          <a:ln/>
        </p:spPr>
        <p:txBody>
          <a:bodyPr wrap="square" lIns="0" tIns="0" rIns="0" bIns="0" rtlCol="0" anchor="ctr"/>
          <a:lstStyle/>
          <a:p>
            <a:pPr marL="0" indent="0" algn="ctr">
              <a:buNone/>
            </a:pPr>
            <a:r>
              <a:rPr lang="en-US" sz="2200" b="1" dirty="0">
                <a:solidFill>
                  <a:srgbClr val="E39A16"/>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6355080" y="1901952"/>
            <a:ext cx="5257800" cy="713232"/>
          </a:xfrm>
          <a:prstGeom prst="rect">
            <a:avLst/>
          </a:prstGeom>
          <a:solidFill>
            <a:srgbClr val="1F3B3A"/>
          </a:solidFill>
          <a:ln w="9525">
            <a:solidFill>
              <a:srgbClr val="2E5A55"/>
            </a:solidFill>
            <a:prstDash val="solid"/>
          </a:ln>
        </p:spPr>
        <p:txBody>
          <a:bodyPr/>
          <a:lstStyle/>
          <a:p>
            <a:endParaRPr lang="en-US"/>
          </a:p>
        </p:txBody>
      </p:sp>
      <p:sp>
        <p:nvSpPr>
          <p:cNvPr id="13" name="Shape 10"/>
          <p:cNvSpPr/>
          <p:nvPr/>
        </p:nvSpPr>
        <p:spPr>
          <a:xfrm>
            <a:off x="6510528" y="2084832"/>
            <a:ext cx="347472" cy="347472"/>
          </a:xfrm>
          <a:prstGeom prst="ellipse">
            <a:avLst/>
          </a:prstGeom>
          <a:solidFill>
            <a:srgbClr val="2E7D5B"/>
          </a:solidFill>
          <a:ln w="12700">
            <a:solidFill>
              <a:srgbClr val="2E7D5B"/>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6597396" y="2171700"/>
            <a:ext cx="173736" cy="173736"/>
          </a:xfrm>
          <a:prstGeom prst="rect">
            <a:avLst/>
          </a:prstGeom>
        </p:spPr>
      </p:pic>
      <p:sp>
        <p:nvSpPr>
          <p:cNvPr id="15" name="Text 11"/>
          <p:cNvSpPr txBox="1"/>
          <p:nvPr/>
        </p:nvSpPr>
        <p:spPr>
          <a:xfrm>
            <a:off x="6995160" y="1901952"/>
            <a:ext cx="3840480" cy="71323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Plan first: a plan that says “delete” never gets approved.</a:t>
            </a:r>
            <a:endParaRPr lang="en-US" sz="1450" dirty="0"/>
          </a:p>
        </p:txBody>
      </p:sp>
      <p:sp>
        <p:nvSpPr>
          <p:cNvPr id="16" name="Text 12"/>
          <p:cNvSpPr txBox="1"/>
          <p:nvPr/>
        </p:nvSpPr>
        <p:spPr>
          <a:xfrm>
            <a:off x="10835640" y="1901952"/>
            <a:ext cx="658368" cy="713232"/>
          </a:xfrm>
          <a:prstGeom prst="rect">
            <a:avLst/>
          </a:prstGeom>
          <a:noFill/>
          <a:ln/>
        </p:spPr>
        <p:txBody>
          <a:bodyPr wrap="square" lIns="0" tIns="0" rIns="0" bIns="0" rtlCol="0" anchor="ctr"/>
          <a:lstStyle/>
          <a:p>
            <a:pPr marL="0" indent="0" algn="r">
              <a:buNone/>
            </a:pPr>
            <a:r>
              <a:rPr lang="en-US" sz="1100" b="1" dirty="0">
                <a:solidFill>
                  <a:srgbClr val="A8D5C2"/>
                </a:solidFill>
                <a:latin typeface="Courier New" pitchFamily="34" charset="0"/>
                <a:ea typeface="Courier New" pitchFamily="34" charset="-122"/>
                <a:cs typeface="Courier New" pitchFamily="34" charset="-120"/>
              </a:rPr>
              <a:t>R03</a:t>
            </a:r>
            <a:endParaRPr lang="en-US" sz="1100" dirty="0"/>
          </a:p>
        </p:txBody>
      </p:sp>
      <p:sp>
        <p:nvSpPr>
          <p:cNvPr id="17" name="Text 13"/>
          <p:cNvSpPr txBox="1"/>
          <p:nvPr/>
        </p:nvSpPr>
        <p:spPr>
          <a:xfrm>
            <a:off x="548640" y="2752344"/>
            <a:ext cx="914400" cy="713232"/>
          </a:xfrm>
          <a:prstGeom prst="rect">
            <a:avLst/>
          </a:prstGeom>
          <a:noFill/>
          <a:ln/>
        </p:spPr>
        <p:txBody>
          <a:bodyPr wrap="square" lIns="0" tIns="0" rIns="0" bIns="0" rtlCol="0" anchor="ctr"/>
          <a:lstStyle/>
          <a:p>
            <a:pPr marL="0" indent="0">
              <a:buNone/>
            </a:pPr>
            <a:r>
              <a:rPr lang="en-US" sz="1400" b="1" dirty="0">
                <a:solidFill>
                  <a:srgbClr val="E39A16"/>
                </a:solidFill>
                <a:latin typeface="Courier New" pitchFamily="34" charset="0"/>
                <a:ea typeface="Courier New" pitchFamily="34" charset="-122"/>
                <a:cs typeface="Courier New" pitchFamily="34" charset="-120"/>
              </a:rPr>
              <a:t>00:02</a:t>
            </a:r>
            <a:endParaRPr lang="en-US" sz="1400" dirty="0"/>
          </a:p>
        </p:txBody>
      </p:sp>
      <p:sp>
        <p:nvSpPr>
          <p:cNvPr id="18" name="Shape 14"/>
          <p:cNvSpPr/>
          <p:nvPr/>
        </p:nvSpPr>
        <p:spPr>
          <a:xfrm>
            <a:off x="1463040" y="2752344"/>
            <a:ext cx="4434840" cy="713232"/>
          </a:xfrm>
          <a:prstGeom prst="rect">
            <a:avLst/>
          </a:prstGeom>
          <a:solidFill>
            <a:srgbClr val="3A2A30"/>
          </a:solidFill>
          <a:ln w="9525">
            <a:solidFill>
              <a:srgbClr val="5A3A3E"/>
            </a:solidFill>
            <a:prstDash val="solid"/>
          </a:ln>
        </p:spPr>
        <p:txBody>
          <a:bodyPr/>
          <a:lstStyle/>
          <a:p>
            <a:endParaRPr lang="en-US"/>
          </a:p>
        </p:txBody>
      </p:sp>
      <p:sp>
        <p:nvSpPr>
          <p:cNvPr id="19" name="Text 15"/>
          <p:cNvSpPr txBox="1"/>
          <p:nvPr/>
        </p:nvSpPr>
        <p:spPr>
          <a:xfrm>
            <a:off x="1645920" y="2752344"/>
            <a:ext cx="4114800" cy="713232"/>
          </a:xfrm>
          <a:prstGeom prst="rect">
            <a:avLst/>
          </a:prstGeom>
          <a:noFill/>
          <a:ln/>
        </p:spPr>
        <p:txBody>
          <a:bodyPr wrap="square" lIns="0" tIns="0" rIns="0" bIns="0" rtlCol="0" anchor="ctr"/>
          <a:lstStyle/>
          <a:p>
            <a:pPr marL="0" indent="0">
              <a:buNone/>
            </a:pPr>
            <a:r>
              <a:rPr lang="en-US" sz="1450" dirty="0">
                <a:solidFill>
                  <a:srgbClr val="F2C9C4"/>
                </a:solidFill>
                <a:latin typeface="Calibri" pitchFamily="34" charset="0"/>
                <a:ea typeface="Calibri" pitchFamily="34" charset="-122"/>
                <a:cs typeface="Calibri" pitchFamily="34" charset="-120"/>
              </a:rPr>
              <a:t>Grabs an API token from an unrelated file</a:t>
            </a:r>
            <a:endParaRPr lang="en-US" sz="1450" dirty="0"/>
          </a:p>
        </p:txBody>
      </p:sp>
      <p:sp>
        <p:nvSpPr>
          <p:cNvPr id="20" name="Text 16"/>
          <p:cNvSpPr txBox="1"/>
          <p:nvPr/>
        </p:nvSpPr>
        <p:spPr>
          <a:xfrm>
            <a:off x="5897880" y="2752344"/>
            <a:ext cx="457200" cy="713232"/>
          </a:xfrm>
          <a:prstGeom prst="rect">
            <a:avLst/>
          </a:prstGeom>
          <a:noFill/>
          <a:ln/>
        </p:spPr>
        <p:txBody>
          <a:bodyPr wrap="square" lIns="0" tIns="0" rIns="0" bIns="0" rtlCol="0" anchor="ctr"/>
          <a:lstStyle/>
          <a:p>
            <a:pPr marL="0" indent="0" algn="ctr">
              <a:buNone/>
            </a:pPr>
            <a:r>
              <a:rPr lang="en-US" sz="2200" b="1" dirty="0">
                <a:solidFill>
                  <a:srgbClr val="E39A16"/>
                </a:solidFill>
                <a:latin typeface="Calibri" pitchFamily="34" charset="0"/>
                <a:ea typeface="Calibri" pitchFamily="34" charset="-122"/>
                <a:cs typeface="Calibri" pitchFamily="34" charset="-120"/>
              </a:rPr>
              <a:t>→</a:t>
            </a:r>
            <a:endParaRPr lang="en-US" sz="2200" dirty="0"/>
          </a:p>
        </p:txBody>
      </p:sp>
      <p:sp>
        <p:nvSpPr>
          <p:cNvPr id="21" name="Shape 17"/>
          <p:cNvSpPr/>
          <p:nvPr/>
        </p:nvSpPr>
        <p:spPr>
          <a:xfrm>
            <a:off x="6355080" y="2752344"/>
            <a:ext cx="5257800" cy="713232"/>
          </a:xfrm>
          <a:prstGeom prst="rect">
            <a:avLst/>
          </a:prstGeom>
          <a:solidFill>
            <a:srgbClr val="1F3B3A"/>
          </a:solidFill>
          <a:ln w="9525">
            <a:solidFill>
              <a:srgbClr val="2E5A55"/>
            </a:solidFill>
            <a:prstDash val="solid"/>
          </a:ln>
        </p:spPr>
        <p:txBody>
          <a:bodyPr/>
          <a:lstStyle/>
          <a:p>
            <a:endParaRPr lang="en-US"/>
          </a:p>
        </p:txBody>
      </p:sp>
      <p:sp>
        <p:nvSpPr>
          <p:cNvPr id="22" name="Shape 18"/>
          <p:cNvSpPr/>
          <p:nvPr/>
        </p:nvSpPr>
        <p:spPr>
          <a:xfrm>
            <a:off x="6510528" y="2935224"/>
            <a:ext cx="347472" cy="347472"/>
          </a:xfrm>
          <a:prstGeom prst="ellipse">
            <a:avLst/>
          </a:prstGeom>
          <a:solidFill>
            <a:srgbClr val="2E7D5B"/>
          </a:solidFill>
          <a:ln w="12700">
            <a:solidFill>
              <a:srgbClr val="2E7D5B"/>
            </a:solidFill>
            <a:prstDash val="solid"/>
          </a:ln>
        </p:spPr>
        <p:txBody>
          <a:bodyPr/>
          <a:lstStyle/>
          <a:p>
            <a:endParaRPr lang="en-US"/>
          </a:p>
        </p:txBody>
      </p:sp>
      <p:pic>
        <p:nvPicPr>
          <p:cNvPr id="23" name="Image 2" descr="preencoded.png"/>
          <p:cNvPicPr>
            <a:picLocks noChangeAspect="1"/>
          </p:cNvPicPr>
          <p:nvPr/>
        </p:nvPicPr>
        <p:blipFill>
          <a:blip r:embed="rId4"/>
          <a:stretch>
            <a:fillRect/>
          </a:stretch>
        </p:blipFill>
        <p:spPr>
          <a:xfrm>
            <a:off x="6597396" y="3022092"/>
            <a:ext cx="173736" cy="173736"/>
          </a:xfrm>
          <a:prstGeom prst="rect">
            <a:avLst/>
          </a:prstGeom>
        </p:spPr>
      </p:pic>
      <p:sp>
        <p:nvSpPr>
          <p:cNvPr id="24" name="Text 19"/>
          <p:cNvSpPr txBox="1"/>
          <p:nvPr/>
        </p:nvSpPr>
        <p:spPr>
          <a:xfrm>
            <a:off x="6995160" y="2752344"/>
            <a:ext cx="3840480" cy="71323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 15-minute, staging-only token can’t touch production.</a:t>
            </a:r>
            <a:endParaRPr lang="en-US" sz="1450" dirty="0"/>
          </a:p>
        </p:txBody>
      </p:sp>
      <p:sp>
        <p:nvSpPr>
          <p:cNvPr id="25" name="Text 20"/>
          <p:cNvSpPr txBox="1"/>
          <p:nvPr/>
        </p:nvSpPr>
        <p:spPr>
          <a:xfrm>
            <a:off x="10835640" y="2752344"/>
            <a:ext cx="658368" cy="713232"/>
          </a:xfrm>
          <a:prstGeom prst="rect">
            <a:avLst/>
          </a:prstGeom>
          <a:noFill/>
          <a:ln/>
        </p:spPr>
        <p:txBody>
          <a:bodyPr wrap="square" lIns="0" tIns="0" rIns="0" bIns="0" rtlCol="0" anchor="ctr"/>
          <a:lstStyle/>
          <a:p>
            <a:pPr marL="0" indent="0" algn="r">
              <a:buNone/>
            </a:pPr>
            <a:r>
              <a:rPr lang="en-US" sz="1100" b="1" dirty="0">
                <a:solidFill>
                  <a:srgbClr val="A8D5C2"/>
                </a:solidFill>
                <a:latin typeface="Courier New" pitchFamily="34" charset="0"/>
                <a:ea typeface="Courier New" pitchFamily="34" charset="-122"/>
                <a:cs typeface="Courier New" pitchFamily="34" charset="-120"/>
              </a:rPr>
              <a:t>R13</a:t>
            </a:r>
            <a:endParaRPr lang="en-US" sz="1100" dirty="0"/>
          </a:p>
        </p:txBody>
      </p:sp>
      <p:sp>
        <p:nvSpPr>
          <p:cNvPr id="26" name="Text 21"/>
          <p:cNvSpPr txBox="1"/>
          <p:nvPr/>
        </p:nvSpPr>
        <p:spPr>
          <a:xfrm>
            <a:off x="548640" y="3602736"/>
            <a:ext cx="914400" cy="713232"/>
          </a:xfrm>
          <a:prstGeom prst="rect">
            <a:avLst/>
          </a:prstGeom>
          <a:noFill/>
          <a:ln/>
        </p:spPr>
        <p:txBody>
          <a:bodyPr wrap="square" lIns="0" tIns="0" rIns="0" bIns="0" rtlCol="0" anchor="ctr"/>
          <a:lstStyle/>
          <a:p>
            <a:pPr marL="0" indent="0">
              <a:buNone/>
            </a:pPr>
            <a:r>
              <a:rPr lang="en-US" sz="1400" b="1" dirty="0">
                <a:solidFill>
                  <a:srgbClr val="E39A16"/>
                </a:solidFill>
                <a:latin typeface="Courier New" pitchFamily="34" charset="0"/>
                <a:ea typeface="Courier New" pitchFamily="34" charset="-122"/>
                <a:cs typeface="Courier New" pitchFamily="34" charset="-120"/>
              </a:rPr>
              <a:t>00:05</a:t>
            </a:r>
            <a:endParaRPr lang="en-US" sz="1400" dirty="0"/>
          </a:p>
        </p:txBody>
      </p:sp>
      <p:sp>
        <p:nvSpPr>
          <p:cNvPr id="27" name="Shape 22"/>
          <p:cNvSpPr/>
          <p:nvPr/>
        </p:nvSpPr>
        <p:spPr>
          <a:xfrm>
            <a:off x="1463040" y="3602736"/>
            <a:ext cx="4434840" cy="713232"/>
          </a:xfrm>
          <a:prstGeom prst="rect">
            <a:avLst/>
          </a:prstGeom>
          <a:solidFill>
            <a:srgbClr val="3A2A30"/>
          </a:solidFill>
          <a:ln w="9525">
            <a:solidFill>
              <a:srgbClr val="5A3A3E"/>
            </a:solidFill>
            <a:prstDash val="solid"/>
          </a:ln>
        </p:spPr>
        <p:txBody>
          <a:bodyPr/>
          <a:lstStyle/>
          <a:p>
            <a:endParaRPr lang="en-US"/>
          </a:p>
        </p:txBody>
      </p:sp>
      <p:sp>
        <p:nvSpPr>
          <p:cNvPr id="28" name="Text 23"/>
          <p:cNvSpPr txBox="1"/>
          <p:nvPr/>
        </p:nvSpPr>
        <p:spPr>
          <a:xfrm>
            <a:off x="1645920" y="3602736"/>
            <a:ext cx="4114800" cy="713232"/>
          </a:xfrm>
          <a:prstGeom prst="rect">
            <a:avLst/>
          </a:prstGeom>
          <a:noFill/>
          <a:ln/>
        </p:spPr>
        <p:txBody>
          <a:bodyPr wrap="square" lIns="0" tIns="0" rIns="0" bIns="0" rtlCol="0" anchor="ctr"/>
          <a:lstStyle/>
          <a:p>
            <a:pPr marL="0" indent="0">
              <a:buNone/>
            </a:pPr>
            <a:r>
              <a:rPr lang="en-US" sz="1450" dirty="0">
                <a:solidFill>
                  <a:srgbClr val="F2C9C4"/>
                </a:solidFill>
                <a:latin typeface="Calibri" pitchFamily="34" charset="0"/>
                <a:ea typeface="Calibri" pitchFamily="34" charset="-122"/>
                <a:cs typeface="Calibri" pitchFamily="34" charset="-120"/>
              </a:rPr>
              <a:t>Calls volumeDelete on production</a:t>
            </a:r>
            <a:endParaRPr lang="en-US" sz="1450" dirty="0"/>
          </a:p>
        </p:txBody>
      </p:sp>
      <p:sp>
        <p:nvSpPr>
          <p:cNvPr id="29" name="Text 24"/>
          <p:cNvSpPr txBox="1"/>
          <p:nvPr/>
        </p:nvSpPr>
        <p:spPr>
          <a:xfrm>
            <a:off x="5897880" y="3602736"/>
            <a:ext cx="457200" cy="713232"/>
          </a:xfrm>
          <a:prstGeom prst="rect">
            <a:avLst/>
          </a:prstGeom>
          <a:noFill/>
          <a:ln/>
        </p:spPr>
        <p:txBody>
          <a:bodyPr wrap="square" lIns="0" tIns="0" rIns="0" bIns="0" rtlCol="0" anchor="ctr"/>
          <a:lstStyle/>
          <a:p>
            <a:pPr marL="0" indent="0" algn="ctr">
              <a:buNone/>
            </a:pPr>
            <a:r>
              <a:rPr lang="en-US" sz="2200" b="1" dirty="0">
                <a:solidFill>
                  <a:srgbClr val="E39A16"/>
                </a:solidFill>
                <a:latin typeface="Calibri" pitchFamily="34" charset="0"/>
                <a:ea typeface="Calibri" pitchFamily="34" charset="-122"/>
                <a:cs typeface="Calibri" pitchFamily="34" charset="-120"/>
              </a:rPr>
              <a:t>→</a:t>
            </a:r>
            <a:endParaRPr lang="en-US" sz="2200" dirty="0"/>
          </a:p>
        </p:txBody>
      </p:sp>
      <p:sp>
        <p:nvSpPr>
          <p:cNvPr id="30" name="Shape 25"/>
          <p:cNvSpPr/>
          <p:nvPr/>
        </p:nvSpPr>
        <p:spPr>
          <a:xfrm>
            <a:off x="6355080" y="3602736"/>
            <a:ext cx="5257800" cy="713232"/>
          </a:xfrm>
          <a:prstGeom prst="rect">
            <a:avLst/>
          </a:prstGeom>
          <a:solidFill>
            <a:srgbClr val="1F3B3A"/>
          </a:solidFill>
          <a:ln w="9525">
            <a:solidFill>
              <a:srgbClr val="2E5A55"/>
            </a:solidFill>
            <a:prstDash val="solid"/>
          </a:ln>
        </p:spPr>
        <p:txBody>
          <a:bodyPr/>
          <a:lstStyle/>
          <a:p>
            <a:endParaRPr lang="en-US"/>
          </a:p>
        </p:txBody>
      </p:sp>
      <p:sp>
        <p:nvSpPr>
          <p:cNvPr id="31" name="Shape 26"/>
          <p:cNvSpPr/>
          <p:nvPr/>
        </p:nvSpPr>
        <p:spPr>
          <a:xfrm>
            <a:off x="6510528" y="3785616"/>
            <a:ext cx="347472" cy="347472"/>
          </a:xfrm>
          <a:prstGeom prst="ellipse">
            <a:avLst/>
          </a:prstGeom>
          <a:solidFill>
            <a:srgbClr val="2E7D5B"/>
          </a:solidFill>
          <a:ln w="12700">
            <a:solidFill>
              <a:srgbClr val="2E7D5B"/>
            </a:solidFill>
            <a:prstDash val="solid"/>
          </a:ln>
        </p:spPr>
        <p:txBody>
          <a:bodyPr/>
          <a:lstStyle/>
          <a:p>
            <a:endParaRPr lang="en-US"/>
          </a:p>
        </p:txBody>
      </p:sp>
      <p:pic>
        <p:nvPicPr>
          <p:cNvPr id="32" name="Image 3" descr="preencoded.png"/>
          <p:cNvPicPr>
            <a:picLocks noChangeAspect="1"/>
          </p:cNvPicPr>
          <p:nvPr/>
        </p:nvPicPr>
        <p:blipFill>
          <a:blip r:embed="rId4"/>
          <a:stretch>
            <a:fillRect/>
          </a:stretch>
        </p:blipFill>
        <p:spPr>
          <a:xfrm>
            <a:off x="6597396" y="3872484"/>
            <a:ext cx="173736" cy="173736"/>
          </a:xfrm>
          <a:prstGeom prst="rect">
            <a:avLst/>
          </a:prstGeom>
        </p:spPr>
      </p:pic>
      <p:sp>
        <p:nvSpPr>
          <p:cNvPr id="33" name="Text 27"/>
          <p:cNvSpPr txBox="1"/>
          <p:nvPr/>
        </p:nvSpPr>
        <p:spPr>
          <a:xfrm>
            <a:off x="6995160" y="3602736"/>
            <a:ext cx="3840480" cy="71323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prod-guard: DENY — irreversible.</a:t>
            </a:r>
            <a:endParaRPr lang="en-US" sz="1450" dirty="0"/>
          </a:p>
        </p:txBody>
      </p:sp>
      <p:sp>
        <p:nvSpPr>
          <p:cNvPr id="34" name="Text 28"/>
          <p:cNvSpPr txBox="1"/>
          <p:nvPr/>
        </p:nvSpPr>
        <p:spPr>
          <a:xfrm>
            <a:off x="10835640" y="3602736"/>
            <a:ext cx="658368" cy="713232"/>
          </a:xfrm>
          <a:prstGeom prst="rect">
            <a:avLst/>
          </a:prstGeom>
          <a:noFill/>
          <a:ln/>
        </p:spPr>
        <p:txBody>
          <a:bodyPr wrap="square" lIns="0" tIns="0" rIns="0" bIns="0" rtlCol="0" anchor="ctr"/>
          <a:lstStyle/>
          <a:p>
            <a:pPr marL="0" indent="0" algn="r">
              <a:buNone/>
            </a:pPr>
            <a:r>
              <a:rPr lang="en-US" sz="1100" b="1" dirty="0">
                <a:solidFill>
                  <a:srgbClr val="A8D5C2"/>
                </a:solidFill>
                <a:latin typeface="Courier New" pitchFamily="34" charset="0"/>
                <a:ea typeface="Courier New" pitchFamily="34" charset="-122"/>
                <a:cs typeface="Courier New" pitchFamily="34" charset="-120"/>
              </a:rPr>
              <a:t>R15</a:t>
            </a:r>
            <a:endParaRPr lang="en-US" sz="1100" dirty="0"/>
          </a:p>
        </p:txBody>
      </p:sp>
      <p:sp>
        <p:nvSpPr>
          <p:cNvPr id="35" name="Text 29"/>
          <p:cNvSpPr txBox="1"/>
          <p:nvPr/>
        </p:nvSpPr>
        <p:spPr>
          <a:xfrm>
            <a:off x="548640" y="4453128"/>
            <a:ext cx="914400" cy="713232"/>
          </a:xfrm>
          <a:prstGeom prst="rect">
            <a:avLst/>
          </a:prstGeom>
          <a:noFill/>
          <a:ln/>
        </p:spPr>
        <p:txBody>
          <a:bodyPr wrap="square" lIns="0" tIns="0" rIns="0" bIns="0" rtlCol="0" anchor="ctr"/>
          <a:lstStyle/>
          <a:p>
            <a:pPr marL="0" indent="0">
              <a:buNone/>
            </a:pPr>
            <a:r>
              <a:rPr lang="en-US" sz="1400" b="1" dirty="0">
                <a:solidFill>
                  <a:srgbClr val="E39A16"/>
                </a:solidFill>
                <a:latin typeface="Courier New" pitchFamily="34" charset="0"/>
                <a:ea typeface="Courier New" pitchFamily="34" charset="-122"/>
                <a:cs typeface="Courier New" pitchFamily="34" charset="-120"/>
              </a:rPr>
              <a:t>00:08</a:t>
            </a:r>
            <a:endParaRPr lang="en-US" sz="1400" dirty="0"/>
          </a:p>
        </p:txBody>
      </p:sp>
      <p:sp>
        <p:nvSpPr>
          <p:cNvPr id="36" name="Shape 30"/>
          <p:cNvSpPr/>
          <p:nvPr/>
        </p:nvSpPr>
        <p:spPr>
          <a:xfrm>
            <a:off x="1463040" y="4453128"/>
            <a:ext cx="4434840" cy="713232"/>
          </a:xfrm>
          <a:prstGeom prst="rect">
            <a:avLst/>
          </a:prstGeom>
          <a:solidFill>
            <a:srgbClr val="3A2A30"/>
          </a:solidFill>
          <a:ln w="9525">
            <a:solidFill>
              <a:srgbClr val="5A3A3E"/>
            </a:solidFill>
            <a:prstDash val="solid"/>
          </a:ln>
        </p:spPr>
        <p:txBody>
          <a:bodyPr/>
          <a:lstStyle/>
          <a:p>
            <a:endParaRPr lang="en-US"/>
          </a:p>
        </p:txBody>
      </p:sp>
      <p:sp>
        <p:nvSpPr>
          <p:cNvPr id="37" name="Text 31"/>
          <p:cNvSpPr txBox="1"/>
          <p:nvPr/>
        </p:nvSpPr>
        <p:spPr>
          <a:xfrm>
            <a:off x="1645920" y="4453128"/>
            <a:ext cx="4114800" cy="713232"/>
          </a:xfrm>
          <a:prstGeom prst="rect">
            <a:avLst/>
          </a:prstGeom>
          <a:noFill/>
          <a:ln/>
        </p:spPr>
        <p:txBody>
          <a:bodyPr wrap="square" lIns="0" tIns="0" rIns="0" bIns="0" rtlCol="0" anchor="ctr"/>
          <a:lstStyle/>
          <a:p>
            <a:pPr marL="0" indent="0">
              <a:buNone/>
            </a:pPr>
            <a:r>
              <a:rPr lang="en-US" sz="1450" dirty="0">
                <a:solidFill>
                  <a:srgbClr val="F2C9C4"/>
                </a:solidFill>
                <a:latin typeface="Calibri" pitchFamily="34" charset="0"/>
                <a:ea typeface="Calibri" pitchFamily="34" charset="-122"/>
                <a:cs typeface="Calibri" pitchFamily="34" charset="-120"/>
              </a:rPr>
              <a:t>The backups sit in the same blast radius</a:t>
            </a:r>
            <a:endParaRPr lang="en-US" sz="1450" dirty="0"/>
          </a:p>
        </p:txBody>
      </p:sp>
      <p:sp>
        <p:nvSpPr>
          <p:cNvPr id="38" name="Text 32"/>
          <p:cNvSpPr txBox="1"/>
          <p:nvPr/>
        </p:nvSpPr>
        <p:spPr>
          <a:xfrm>
            <a:off x="5897880" y="4453128"/>
            <a:ext cx="457200" cy="713232"/>
          </a:xfrm>
          <a:prstGeom prst="rect">
            <a:avLst/>
          </a:prstGeom>
          <a:noFill/>
          <a:ln/>
        </p:spPr>
        <p:txBody>
          <a:bodyPr wrap="square" lIns="0" tIns="0" rIns="0" bIns="0" rtlCol="0" anchor="ctr"/>
          <a:lstStyle/>
          <a:p>
            <a:pPr marL="0" indent="0" algn="ctr">
              <a:buNone/>
            </a:pPr>
            <a:r>
              <a:rPr lang="en-US" sz="2200" b="1" dirty="0">
                <a:solidFill>
                  <a:srgbClr val="E39A16"/>
                </a:solidFill>
                <a:latin typeface="Calibri" pitchFamily="34" charset="0"/>
                <a:ea typeface="Calibri" pitchFamily="34" charset="-122"/>
                <a:cs typeface="Calibri" pitchFamily="34" charset="-120"/>
              </a:rPr>
              <a:t>→</a:t>
            </a:r>
            <a:endParaRPr lang="en-US" sz="2200" dirty="0"/>
          </a:p>
        </p:txBody>
      </p:sp>
      <p:sp>
        <p:nvSpPr>
          <p:cNvPr id="39" name="Shape 33"/>
          <p:cNvSpPr/>
          <p:nvPr/>
        </p:nvSpPr>
        <p:spPr>
          <a:xfrm>
            <a:off x="6355080" y="4453128"/>
            <a:ext cx="5257800" cy="713232"/>
          </a:xfrm>
          <a:prstGeom prst="rect">
            <a:avLst/>
          </a:prstGeom>
          <a:solidFill>
            <a:srgbClr val="1F3B3A"/>
          </a:solidFill>
          <a:ln w="9525">
            <a:solidFill>
              <a:srgbClr val="2E5A55"/>
            </a:solidFill>
            <a:prstDash val="solid"/>
          </a:ln>
        </p:spPr>
        <p:txBody>
          <a:bodyPr/>
          <a:lstStyle/>
          <a:p>
            <a:endParaRPr lang="en-US"/>
          </a:p>
        </p:txBody>
      </p:sp>
      <p:sp>
        <p:nvSpPr>
          <p:cNvPr id="40" name="Shape 34"/>
          <p:cNvSpPr/>
          <p:nvPr/>
        </p:nvSpPr>
        <p:spPr>
          <a:xfrm>
            <a:off x="6510528" y="4636008"/>
            <a:ext cx="347472" cy="347472"/>
          </a:xfrm>
          <a:prstGeom prst="ellipse">
            <a:avLst/>
          </a:prstGeom>
          <a:solidFill>
            <a:srgbClr val="2E7D5B"/>
          </a:solidFill>
          <a:ln w="12700">
            <a:solidFill>
              <a:srgbClr val="2E7D5B"/>
            </a:solidFill>
            <a:prstDash val="solid"/>
          </a:ln>
        </p:spPr>
        <p:txBody>
          <a:bodyPr/>
          <a:lstStyle/>
          <a:p>
            <a:endParaRPr lang="en-US"/>
          </a:p>
        </p:txBody>
      </p:sp>
      <p:pic>
        <p:nvPicPr>
          <p:cNvPr id="41" name="Image 4" descr="preencoded.png"/>
          <p:cNvPicPr>
            <a:picLocks noChangeAspect="1"/>
          </p:cNvPicPr>
          <p:nvPr/>
        </p:nvPicPr>
        <p:blipFill>
          <a:blip r:embed="rId4"/>
          <a:stretch>
            <a:fillRect/>
          </a:stretch>
        </p:blipFill>
        <p:spPr>
          <a:xfrm>
            <a:off x="6597396" y="4722876"/>
            <a:ext cx="173736" cy="173736"/>
          </a:xfrm>
          <a:prstGeom prst="rect">
            <a:avLst/>
          </a:prstGeom>
        </p:spPr>
      </p:pic>
      <p:sp>
        <p:nvSpPr>
          <p:cNvPr id="42" name="Text 35"/>
          <p:cNvSpPr txBox="1"/>
          <p:nvPr/>
        </p:nvSpPr>
        <p:spPr>
          <a:xfrm>
            <a:off x="6995160" y="4453128"/>
            <a:ext cx="3840480" cy="71323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No tested rollback → no write access in the first place.</a:t>
            </a:r>
            <a:endParaRPr lang="en-US" sz="1450" dirty="0"/>
          </a:p>
        </p:txBody>
      </p:sp>
      <p:sp>
        <p:nvSpPr>
          <p:cNvPr id="43" name="Text 36"/>
          <p:cNvSpPr txBox="1"/>
          <p:nvPr/>
        </p:nvSpPr>
        <p:spPr>
          <a:xfrm>
            <a:off x="10835640" y="4453128"/>
            <a:ext cx="658368" cy="713232"/>
          </a:xfrm>
          <a:prstGeom prst="rect">
            <a:avLst/>
          </a:prstGeom>
          <a:noFill/>
          <a:ln/>
        </p:spPr>
        <p:txBody>
          <a:bodyPr wrap="square" lIns="0" tIns="0" rIns="0" bIns="0" rtlCol="0" anchor="ctr"/>
          <a:lstStyle/>
          <a:p>
            <a:pPr marL="0" indent="0" algn="r">
              <a:buNone/>
            </a:pPr>
            <a:r>
              <a:rPr lang="en-US" sz="1100" b="1" dirty="0">
                <a:solidFill>
                  <a:srgbClr val="A8D5C2"/>
                </a:solidFill>
                <a:latin typeface="Courier New" pitchFamily="34" charset="0"/>
                <a:ea typeface="Courier New" pitchFamily="34" charset="-122"/>
                <a:cs typeface="Courier New" pitchFamily="34" charset="-120"/>
              </a:rPr>
              <a:t>R14</a:t>
            </a:r>
            <a:endParaRPr lang="en-US" sz="1100" dirty="0"/>
          </a:p>
        </p:txBody>
      </p:sp>
      <p:sp>
        <p:nvSpPr>
          <p:cNvPr id="44" name="Text 37"/>
          <p:cNvSpPr txBox="1"/>
          <p:nvPr/>
        </p:nvSpPr>
        <p:spPr>
          <a:xfrm>
            <a:off x="548640" y="5394960"/>
            <a:ext cx="1188720" cy="640080"/>
          </a:xfrm>
          <a:prstGeom prst="rect">
            <a:avLst/>
          </a:prstGeom>
          <a:noFill/>
          <a:ln/>
        </p:spPr>
        <p:txBody>
          <a:bodyPr wrap="square" lIns="0" tIns="0" rIns="0" bIns="0" rtlCol="0" anchor="ctr"/>
          <a:lstStyle/>
          <a:p>
            <a:pPr marL="0" indent="0">
              <a:buNone/>
            </a:pPr>
            <a:r>
              <a:rPr lang="en-US" sz="2000" b="1" dirty="0">
                <a:solidFill>
                  <a:srgbClr val="E39A16"/>
                </a:solidFill>
                <a:latin typeface="Courier New" pitchFamily="34" charset="0"/>
                <a:ea typeface="Courier New" pitchFamily="34" charset="-122"/>
                <a:cs typeface="Courier New" pitchFamily="34" charset="-120"/>
              </a:rPr>
              <a:t>00:09</a:t>
            </a:r>
            <a:endParaRPr lang="en-US" sz="2000" dirty="0"/>
          </a:p>
        </p:txBody>
      </p:sp>
      <p:sp>
        <p:nvSpPr>
          <p:cNvPr id="45" name="Text 38"/>
          <p:cNvSpPr txBox="1"/>
          <p:nvPr/>
        </p:nvSpPr>
        <p:spPr>
          <a:xfrm>
            <a:off x="1737360" y="5394960"/>
            <a:ext cx="98755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Nothing happened.  </a:t>
            </a:r>
            <a:r>
              <a:rPr lang="en-US" sz="1800" i="1" dirty="0">
                <a:solidFill>
                  <a:srgbClr val="E39A16"/>
                </a:solidFill>
                <a:latin typeface="Cambria" pitchFamily="34" charset="0"/>
                <a:ea typeface="Cambria" pitchFamily="34" charset="-122"/>
                <a:cs typeface="Cambria" pitchFamily="34" charset="-120"/>
              </a:rPr>
              <a:t>The best AI incident report is the boring one.</a:t>
            </a:r>
            <a:endParaRPr lang="en-US" sz="3000" dirty="0"/>
          </a:p>
        </p:txBody>
      </p:sp>
      <p:sp>
        <p:nvSpPr>
          <p:cNvPr id="46" name="Text 39"/>
          <p:cNvSpPr txBox="1"/>
          <p:nvPr/>
        </p:nvSpPr>
        <p:spPr>
          <a:xfrm>
            <a:off x="548640" y="6419088"/>
            <a:ext cx="5486400" cy="164592"/>
          </a:xfrm>
          <a:prstGeom prst="rect">
            <a:avLst/>
          </a:prstGeom>
          <a:noFill/>
          <a:ln/>
        </p:spPr>
        <p:txBody>
          <a:bodyPr wrap="square" lIns="0" tIns="0" rIns="0" bIns="0" rtlCol="0" anchor="t"/>
          <a:lstStyle/>
          <a:p>
            <a:pPr marL="0" indent="0">
              <a:buNone/>
            </a:pPr>
            <a:r>
              <a:rPr lang="en-US" sz="750" kern="0" spc="200" dirty="0">
                <a:solidFill>
                  <a:srgbClr val="4A5B70"/>
                </a:solidFill>
                <a:latin typeface="Courier New" pitchFamily="34" charset="0"/>
                <a:ea typeface="Courier New" pitchFamily="34" charset="-122"/>
                <a:cs typeface="Courier New" pitchFamily="34" charset="-120"/>
              </a:rPr>
              <a:t>BEFORE YOU PUT AN AI AGENT ON CALL</a:t>
            </a:r>
            <a:endParaRPr lang="en-US" sz="750" dirty="0"/>
          </a:p>
        </p:txBody>
      </p:sp>
      <p:sp>
        <p:nvSpPr>
          <p:cNvPr id="47" name="Text 40"/>
          <p:cNvSpPr txBox="1"/>
          <p:nvPr/>
        </p:nvSpPr>
        <p:spPr>
          <a:xfrm>
            <a:off x="7068312" y="6419088"/>
            <a:ext cx="4572000" cy="164592"/>
          </a:xfrm>
          <a:prstGeom prst="rect">
            <a:avLst/>
          </a:prstGeom>
          <a:noFill/>
          <a:ln/>
        </p:spPr>
        <p:txBody>
          <a:bodyPr wrap="square" lIns="0" tIns="0" rIns="0" bIns="0" rtlCol="0" anchor="t"/>
          <a:lstStyle/>
          <a:p>
            <a:pPr marL="0" indent="0" algn="r">
              <a:buNone/>
            </a:pPr>
            <a:r>
              <a:rPr lang="en-US" sz="750" kern="0" spc="200" dirty="0">
                <a:solidFill>
                  <a:srgbClr val="4A5B70"/>
                </a:solidFill>
                <a:latin typeface="Courier New" pitchFamily="34" charset="0"/>
                <a:ea typeface="Courier New" pitchFamily="34" charset="-122"/>
                <a:cs typeface="Courier New" pitchFamily="34" charset="-120"/>
              </a:rPr>
              <a:t>THE REWIND</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x/ppt/media/image1.png"/>
          <p:cNvPicPr>
            <a:picLocks noChangeAspect="1"/>
          </p:cNvPicPr>
          <p:nvPr/>
        </p:nvPicPr>
        <p:blipFill>
          <a:blip r:embed="rId3"/>
          <a:stretch>
            <a:fillRect/>
          </a:stretch>
        </p:blipFill>
        <p:spPr>
          <a:xfrm>
            <a:off x="5394960" y="-1051560"/>
            <a:ext cx="8412480" cy="4736592"/>
          </a:xfrm>
          <a:prstGeom prst="rect">
            <a:avLst/>
          </a:prstGeom>
        </p:spPr>
      </p:pic>
      <p:sp>
        <p:nvSpPr>
          <p:cNvPr id="3" name="Shape 0"/>
          <p:cNvSpPr/>
          <p:nvPr/>
        </p:nvSpPr>
        <p:spPr>
          <a:xfrm>
            <a:off x="548640" y="585216"/>
            <a:ext cx="347472" cy="0"/>
          </a:xfrm>
          <a:prstGeom prst="line">
            <a:avLst/>
          </a:prstGeom>
          <a:noFill/>
          <a:ln w="25400">
            <a:solidFill>
              <a:srgbClr val="132038"/>
            </a:solidFill>
            <a:prstDash val="solid"/>
          </a:ln>
        </p:spPr>
        <p:txBody>
          <a:bodyPr/>
          <a:lstStyle/>
          <a:p>
            <a:endParaRPr lang="en-US"/>
          </a:p>
        </p:txBody>
      </p:sp>
      <p:sp>
        <p:nvSpPr>
          <p:cNvPr id="4" name="Text 1"/>
          <p:cNvSpPr txBox="1"/>
          <p:nvPr/>
        </p:nvSpPr>
        <p:spPr>
          <a:xfrm>
            <a:off x="1024128" y="502920"/>
            <a:ext cx="8229600" cy="182880"/>
          </a:xfrm>
          <a:prstGeom prst="rect">
            <a:avLst/>
          </a:prstGeom>
          <a:noFill/>
          <a:ln/>
        </p:spPr>
        <p:txBody>
          <a:bodyPr wrap="square" lIns="0" tIns="0" rIns="0" bIns="0" rtlCol="0" anchor="t"/>
          <a:lstStyle/>
          <a:p>
            <a:pPr marL="0" indent="0">
              <a:buNone/>
            </a:pPr>
            <a:r>
              <a:rPr lang="en-US" sz="1050" b="1" kern="0" spc="300" dirty="0">
                <a:solidFill>
                  <a:srgbClr val="132038"/>
                </a:solidFill>
                <a:latin typeface="Courier New" pitchFamily="34" charset="0"/>
                <a:ea typeface="Courier New" pitchFamily="34" charset="-122"/>
                <a:cs typeface="Courier New" pitchFamily="34" charset="-120"/>
              </a:rPr>
              <a:t>BACK TO THE FIRST 9 SECONDS</a:t>
            </a:r>
            <a:endParaRPr lang="en-US" sz="1050" dirty="0"/>
          </a:p>
        </p:txBody>
      </p:sp>
      <p:sp>
        <p:nvSpPr>
          <p:cNvPr id="5" name="Text 2"/>
          <p:cNvSpPr txBox="1"/>
          <p:nvPr/>
        </p:nvSpPr>
        <p:spPr>
          <a:xfrm>
            <a:off x="548640" y="868680"/>
            <a:ext cx="10607040" cy="1463040"/>
          </a:xfrm>
          <a:prstGeom prst="rect">
            <a:avLst/>
          </a:prstGeom>
          <a:noFill/>
          <a:ln/>
        </p:spPr>
        <p:txBody>
          <a:bodyPr wrap="square" lIns="0" tIns="0" rIns="0" bIns="0" rtlCol="0" anchor="t"/>
          <a:lstStyle/>
          <a:p>
            <a:pPr marL="0" indent="0">
              <a:buNone/>
            </a:pPr>
            <a:r>
              <a:rPr lang="en-US" sz="3000" i="1" dirty="0">
                <a:solidFill>
                  <a:srgbClr val="132038"/>
                </a:solidFill>
                <a:latin typeface="Cambria" pitchFamily="34" charset="0"/>
                <a:ea typeface="Cambria" pitchFamily="34" charset="-122"/>
                <a:cs typeface="Cambria" pitchFamily="34" charset="-120"/>
              </a:rPr>
              <a:t>“Before you ask what the agent can do, ask: what is the worst thing it can do in 9 seconds?”</a:t>
            </a:r>
            <a:endParaRPr lang="en-US" sz="3000" dirty="0"/>
          </a:p>
        </p:txBody>
      </p:sp>
      <p:sp>
        <p:nvSpPr>
          <p:cNvPr id="6" name="Text 3"/>
          <p:cNvSpPr txBox="1"/>
          <p:nvPr/>
        </p:nvSpPr>
        <p:spPr>
          <a:xfrm>
            <a:off x="548640" y="2377440"/>
            <a:ext cx="5486400" cy="182880"/>
          </a:xfrm>
          <a:prstGeom prst="rect">
            <a:avLst/>
          </a:prstGeom>
          <a:noFill/>
          <a:ln/>
        </p:spPr>
        <p:txBody>
          <a:bodyPr wrap="square" lIns="0" tIns="0" rIns="0" bIns="0" rtlCol="0" anchor="t"/>
          <a:lstStyle/>
          <a:p>
            <a:pPr marL="0" indent="0">
              <a:buNone/>
            </a:pPr>
            <a:r>
              <a:rPr lang="en-US" sz="1000" b="1" kern="0" spc="200" dirty="0">
                <a:solidFill>
                  <a:srgbClr val="8A5E06"/>
                </a:solidFill>
                <a:latin typeface="Courier New" pitchFamily="34" charset="0"/>
                <a:ea typeface="Courier New" pitchFamily="34" charset="-122"/>
                <a:cs typeface="Courier New" pitchFamily="34" charset="-120"/>
              </a:rPr>
              <a:t>THE QUESTION BEFORE YOU GRANT MORE AUTONOMY</a:t>
            </a:r>
            <a:endParaRPr lang="en-US" sz="1000" dirty="0"/>
          </a:p>
        </p:txBody>
      </p:sp>
      <p:sp>
        <p:nvSpPr>
          <p:cNvPr id="7" name="Text 4"/>
          <p:cNvSpPr txBox="1"/>
          <p:nvPr/>
        </p:nvSpPr>
        <p:spPr>
          <a:xfrm>
            <a:off x="548640" y="2880360"/>
            <a:ext cx="10972800" cy="731520"/>
          </a:xfrm>
          <a:prstGeom prst="rect">
            <a:avLst/>
          </a:prstGeom>
          <a:noFill/>
          <a:ln/>
        </p:spPr>
        <p:txBody>
          <a:bodyPr wrap="square" lIns="0" tIns="0" rIns="0" bIns="0" rtlCol="0" anchor="t"/>
          <a:lstStyle/>
          <a:p>
            <a:pPr marL="0" indent="0">
              <a:buNone/>
            </a:pPr>
            <a:r>
              <a:rPr lang="en-US" sz="4400" b="1" dirty="0">
                <a:solidFill>
                  <a:srgbClr val="132038"/>
                </a:solidFill>
                <a:latin typeface="Calibri" pitchFamily="34" charset="0"/>
                <a:ea typeface="Calibri" pitchFamily="34" charset="-122"/>
                <a:cs typeface="Calibri" pitchFamily="34" charset="-120"/>
              </a:rPr>
              <a:t>The goal is not less AI. The goal is engineered autonomy.</a:t>
            </a:r>
            <a:endParaRPr lang="en-US" sz="4400" dirty="0"/>
          </a:p>
        </p:txBody>
      </p:sp>
      <p:sp>
        <p:nvSpPr>
          <p:cNvPr id="8" name="Text 5"/>
          <p:cNvSpPr txBox="1"/>
          <p:nvPr/>
        </p:nvSpPr>
        <p:spPr>
          <a:xfrm>
            <a:off x="548640" y="3931920"/>
            <a:ext cx="457200" cy="640080"/>
          </a:xfrm>
          <a:prstGeom prst="rect">
            <a:avLst/>
          </a:prstGeom>
          <a:noFill/>
          <a:ln/>
        </p:spPr>
        <p:txBody>
          <a:bodyPr wrap="square" lIns="0" tIns="0" rIns="0" bIns="0" rtlCol="0" anchor="t"/>
          <a:lstStyle/>
          <a:p>
            <a:pPr marL="0" indent="0">
              <a:buNone/>
            </a:pPr>
            <a:r>
              <a:rPr lang="en-US" sz="3600" b="1" dirty="0">
                <a:solidFill>
                  <a:srgbClr val="8A5E06"/>
                </a:solidFill>
                <a:latin typeface="Cambria" pitchFamily="34" charset="0"/>
                <a:ea typeface="Cambria" pitchFamily="34" charset="-122"/>
                <a:cs typeface="Cambria" pitchFamily="34" charset="-120"/>
              </a:rPr>
              <a:t>1</a:t>
            </a:r>
            <a:endParaRPr lang="en-US" sz="3600" dirty="0"/>
          </a:p>
        </p:txBody>
      </p:sp>
      <p:sp>
        <p:nvSpPr>
          <p:cNvPr id="9" name="Text 6"/>
          <p:cNvSpPr txBox="1"/>
          <p:nvPr/>
        </p:nvSpPr>
        <p:spPr>
          <a:xfrm>
            <a:off x="1051560" y="3977640"/>
            <a:ext cx="3108960" cy="365760"/>
          </a:xfrm>
          <a:prstGeom prst="rect">
            <a:avLst/>
          </a:prstGeom>
          <a:noFill/>
          <a:ln/>
        </p:spPr>
        <p:txBody>
          <a:bodyPr wrap="square" lIns="0" tIns="0" rIns="0" bIns="0" rtlCol="0" anchor="t"/>
          <a:lstStyle/>
          <a:p>
            <a:pPr marL="0" indent="0">
              <a:buNone/>
            </a:pPr>
            <a:r>
              <a:rPr lang="en-US" sz="1900" b="1" dirty="0">
                <a:solidFill>
                  <a:srgbClr val="132038"/>
                </a:solidFill>
                <a:latin typeface="Calibri" pitchFamily="34" charset="0"/>
                <a:ea typeface="Calibri" pitchFamily="34" charset="-122"/>
                <a:cs typeface="Calibri" pitchFamily="34" charset="-120"/>
              </a:rPr>
              <a:t>LEAD IT</a:t>
            </a:r>
            <a:endParaRPr lang="en-US" sz="1900" dirty="0"/>
          </a:p>
        </p:txBody>
      </p:sp>
      <p:sp>
        <p:nvSpPr>
          <p:cNvPr id="10" name="Text 7"/>
          <p:cNvSpPr txBox="1"/>
          <p:nvPr/>
        </p:nvSpPr>
        <p:spPr>
          <a:xfrm>
            <a:off x="1051560" y="4370832"/>
            <a:ext cx="3108960" cy="320040"/>
          </a:xfrm>
          <a:prstGeom prst="rect">
            <a:avLst/>
          </a:prstGeom>
          <a:noFill/>
          <a:ln/>
        </p:spPr>
        <p:txBody>
          <a:bodyPr wrap="square" lIns="0" tIns="0" rIns="0" bIns="0" rtlCol="0" anchor="t"/>
          <a:lstStyle/>
          <a:p>
            <a:pPr marL="0" indent="0">
              <a:buNone/>
            </a:pPr>
            <a:r>
              <a:rPr lang="en-US" sz="1300" dirty="0">
                <a:solidFill>
                  <a:srgbClr val="463C25"/>
                </a:solidFill>
                <a:latin typeface="Calibri" pitchFamily="34" charset="0"/>
                <a:ea typeface="Calibri" pitchFamily="34" charset="-122"/>
                <a:cs typeface="Calibri" pitchFamily="34" charset="-120"/>
              </a:rPr>
              <a:t>Plan first. You own design and “done”.</a:t>
            </a:r>
            <a:endParaRPr lang="en-US" sz="1300" dirty="0"/>
          </a:p>
        </p:txBody>
      </p:sp>
      <p:sp>
        <p:nvSpPr>
          <p:cNvPr id="11" name="Text 8"/>
          <p:cNvSpPr txBox="1"/>
          <p:nvPr/>
        </p:nvSpPr>
        <p:spPr>
          <a:xfrm>
            <a:off x="4297680" y="3931920"/>
            <a:ext cx="457200" cy="640080"/>
          </a:xfrm>
          <a:prstGeom prst="rect">
            <a:avLst/>
          </a:prstGeom>
          <a:noFill/>
          <a:ln/>
        </p:spPr>
        <p:txBody>
          <a:bodyPr wrap="square" lIns="0" tIns="0" rIns="0" bIns="0" rtlCol="0" anchor="t"/>
          <a:lstStyle/>
          <a:p>
            <a:pPr marL="0" indent="0">
              <a:buNone/>
            </a:pPr>
            <a:r>
              <a:rPr lang="en-US" sz="3600" b="1" dirty="0">
                <a:solidFill>
                  <a:srgbClr val="8A5E06"/>
                </a:solidFill>
                <a:latin typeface="Cambria" pitchFamily="34" charset="0"/>
                <a:ea typeface="Cambria" pitchFamily="34" charset="-122"/>
                <a:cs typeface="Cambria" pitchFamily="34" charset="-120"/>
              </a:rPr>
              <a:t>2</a:t>
            </a:r>
            <a:endParaRPr lang="en-US" sz="3600" dirty="0"/>
          </a:p>
        </p:txBody>
      </p:sp>
      <p:sp>
        <p:nvSpPr>
          <p:cNvPr id="12" name="Text 9"/>
          <p:cNvSpPr txBox="1"/>
          <p:nvPr/>
        </p:nvSpPr>
        <p:spPr>
          <a:xfrm>
            <a:off x="4800600" y="3977640"/>
            <a:ext cx="3108960" cy="365760"/>
          </a:xfrm>
          <a:prstGeom prst="rect">
            <a:avLst/>
          </a:prstGeom>
          <a:noFill/>
          <a:ln/>
        </p:spPr>
        <p:txBody>
          <a:bodyPr wrap="square" lIns="0" tIns="0" rIns="0" bIns="0" rtlCol="0" anchor="t"/>
          <a:lstStyle/>
          <a:p>
            <a:pPr marL="0" indent="0">
              <a:buNone/>
            </a:pPr>
            <a:r>
              <a:rPr lang="en-US" sz="1900" b="1" dirty="0">
                <a:solidFill>
                  <a:srgbClr val="132038"/>
                </a:solidFill>
                <a:latin typeface="Calibri" pitchFamily="34" charset="0"/>
                <a:ea typeface="Calibri" pitchFamily="34" charset="-122"/>
                <a:cs typeface="Calibri" pitchFamily="34" charset="-120"/>
              </a:rPr>
              <a:t>BOUND IT</a:t>
            </a:r>
            <a:endParaRPr lang="en-US" sz="1900" dirty="0"/>
          </a:p>
        </p:txBody>
      </p:sp>
      <p:sp>
        <p:nvSpPr>
          <p:cNvPr id="13" name="Text 10"/>
          <p:cNvSpPr txBox="1"/>
          <p:nvPr/>
        </p:nvSpPr>
        <p:spPr>
          <a:xfrm>
            <a:off x="4800600" y="4370832"/>
            <a:ext cx="3108960" cy="320040"/>
          </a:xfrm>
          <a:prstGeom prst="rect">
            <a:avLst/>
          </a:prstGeom>
          <a:noFill/>
          <a:ln/>
        </p:spPr>
        <p:txBody>
          <a:bodyPr wrap="square" lIns="0" tIns="0" rIns="0" bIns="0" rtlCol="0" anchor="t"/>
          <a:lstStyle/>
          <a:p>
            <a:pPr marL="0" indent="0">
              <a:buNone/>
            </a:pPr>
            <a:r>
              <a:rPr lang="en-US" sz="1300" dirty="0">
                <a:solidFill>
                  <a:srgbClr val="463C25"/>
                </a:solidFill>
                <a:latin typeface="Calibri" pitchFamily="34" charset="0"/>
                <a:ea typeface="Calibri" pitchFamily="34" charset="-122"/>
                <a:cs typeface="Calibri" pitchFamily="34" charset="-120"/>
              </a:rPr>
              <a:t>Instructions guide. Controls enforce.</a:t>
            </a:r>
            <a:endParaRPr lang="en-US" sz="1300" dirty="0"/>
          </a:p>
        </p:txBody>
      </p:sp>
      <p:sp>
        <p:nvSpPr>
          <p:cNvPr id="14" name="Text 11"/>
          <p:cNvSpPr txBox="1"/>
          <p:nvPr/>
        </p:nvSpPr>
        <p:spPr>
          <a:xfrm>
            <a:off x="8046720" y="3931920"/>
            <a:ext cx="457200" cy="640080"/>
          </a:xfrm>
          <a:prstGeom prst="rect">
            <a:avLst/>
          </a:prstGeom>
          <a:noFill/>
          <a:ln/>
        </p:spPr>
        <p:txBody>
          <a:bodyPr wrap="square" lIns="0" tIns="0" rIns="0" bIns="0" rtlCol="0" anchor="t"/>
          <a:lstStyle/>
          <a:p>
            <a:pPr marL="0" indent="0">
              <a:buNone/>
            </a:pPr>
            <a:r>
              <a:rPr lang="en-US" sz="3600" b="1" dirty="0">
                <a:solidFill>
                  <a:srgbClr val="8A5E06"/>
                </a:solidFill>
                <a:latin typeface="Cambria" pitchFamily="34" charset="0"/>
                <a:ea typeface="Cambria" pitchFamily="34" charset="-122"/>
                <a:cs typeface="Cambria" pitchFamily="34" charset="-120"/>
              </a:rPr>
              <a:t>3</a:t>
            </a:r>
            <a:endParaRPr lang="en-US" sz="3600" dirty="0"/>
          </a:p>
        </p:txBody>
      </p:sp>
      <p:sp>
        <p:nvSpPr>
          <p:cNvPr id="15" name="Text 12"/>
          <p:cNvSpPr txBox="1"/>
          <p:nvPr/>
        </p:nvSpPr>
        <p:spPr>
          <a:xfrm>
            <a:off x="8549640" y="3977640"/>
            <a:ext cx="3108960" cy="365760"/>
          </a:xfrm>
          <a:prstGeom prst="rect">
            <a:avLst/>
          </a:prstGeom>
          <a:noFill/>
          <a:ln/>
        </p:spPr>
        <p:txBody>
          <a:bodyPr wrap="square" lIns="0" tIns="0" rIns="0" bIns="0" rtlCol="0" anchor="t"/>
          <a:lstStyle/>
          <a:p>
            <a:pPr marL="0" indent="0">
              <a:buNone/>
            </a:pPr>
            <a:r>
              <a:rPr lang="en-US" sz="1900" b="1" dirty="0">
                <a:solidFill>
                  <a:srgbClr val="132038"/>
                </a:solidFill>
                <a:latin typeface="Calibri" pitchFamily="34" charset="0"/>
                <a:ea typeface="Calibri" pitchFamily="34" charset="-122"/>
                <a:cs typeface="Calibri" pitchFamily="34" charset="-120"/>
              </a:rPr>
              <a:t>MAKE IT EARN TRUST</a:t>
            </a:r>
            <a:endParaRPr lang="en-US" sz="1900" dirty="0"/>
          </a:p>
        </p:txBody>
      </p:sp>
      <p:sp>
        <p:nvSpPr>
          <p:cNvPr id="16" name="Text 13"/>
          <p:cNvSpPr txBox="1"/>
          <p:nvPr/>
        </p:nvSpPr>
        <p:spPr>
          <a:xfrm>
            <a:off x="8549640" y="4370832"/>
            <a:ext cx="3108960" cy="320040"/>
          </a:xfrm>
          <a:prstGeom prst="rect">
            <a:avLst/>
          </a:prstGeom>
          <a:noFill/>
          <a:ln/>
        </p:spPr>
        <p:txBody>
          <a:bodyPr wrap="square" lIns="0" tIns="0" rIns="0" bIns="0" rtlCol="0" anchor="t"/>
          <a:lstStyle/>
          <a:p>
            <a:pPr marL="0" indent="0">
              <a:buNone/>
            </a:pPr>
            <a:r>
              <a:rPr lang="en-US" sz="1300" dirty="0">
                <a:solidFill>
                  <a:srgbClr val="463C25"/>
                </a:solidFill>
                <a:latin typeface="Calibri" pitchFamily="34" charset="0"/>
                <a:ea typeface="Calibri" pitchFamily="34" charset="-122"/>
                <a:cs typeface="Calibri" pitchFamily="34" charset="-120"/>
              </a:rPr>
              <a:t>Evidence → measurement → more autonomy.</a:t>
            </a:r>
            <a:endParaRPr lang="en-US" sz="1300" dirty="0"/>
          </a:p>
        </p:txBody>
      </p:sp>
      <p:sp>
        <p:nvSpPr>
          <p:cNvPr id="17" name="Text 14"/>
          <p:cNvSpPr txBox="1"/>
          <p:nvPr/>
        </p:nvSpPr>
        <p:spPr>
          <a:xfrm>
            <a:off x="548640" y="5074920"/>
            <a:ext cx="7315200" cy="457200"/>
          </a:xfrm>
          <a:prstGeom prst="rect">
            <a:avLst/>
          </a:prstGeom>
          <a:noFill/>
          <a:ln/>
        </p:spPr>
        <p:txBody>
          <a:bodyPr wrap="square" lIns="0" tIns="0" rIns="0" bIns="0" rtlCol="0" anchor="t"/>
          <a:lstStyle/>
          <a:p>
            <a:pPr marL="0" indent="0">
              <a:buNone/>
            </a:pPr>
            <a:r>
              <a:rPr lang="en-US" sz="2400" b="1" dirty="0">
                <a:solidFill>
                  <a:srgbClr val="132038"/>
                </a:solidFill>
                <a:latin typeface="Calibri" pitchFamily="34" charset="0"/>
                <a:ea typeface="Calibri" pitchFamily="34" charset="-122"/>
                <a:cs typeface="Calibri" pitchFamily="34" charset="-120"/>
              </a:rPr>
              <a:t>Thank you  ·  Questions?</a:t>
            </a:r>
            <a:endParaRPr lang="en-US" sz="2400" dirty="0"/>
          </a:p>
        </p:txBody>
      </p:sp>
      <p:sp>
        <p:nvSpPr>
          <p:cNvPr id="18" name="Shape 15"/>
          <p:cNvSpPr/>
          <p:nvPr/>
        </p:nvSpPr>
        <p:spPr>
          <a:xfrm>
            <a:off x="0" y="5897880"/>
            <a:ext cx="12191695" cy="960120"/>
          </a:xfrm>
          <a:prstGeom prst="rect">
            <a:avLst/>
          </a:prstGeom>
          <a:solidFill>
            <a:srgbClr val="16283A"/>
          </a:solidFill>
          <a:ln w="12700">
            <a:solidFill>
              <a:srgbClr val="16283A"/>
            </a:solidFill>
            <a:prstDash val="solid"/>
          </a:ln>
        </p:spPr>
        <p:txBody>
          <a:bodyPr/>
          <a:lstStyle/>
          <a:p>
            <a:endParaRPr lang="en-US"/>
          </a:p>
        </p:txBody>
      </p:sp>
      <p:pic>
        <p:nvPicPr>
          <p:cNvPr id="19" name="Image 1" descr="/home/claude/x/ppt/media/image4.png"/>
          <p:cNvPicPr>
            <a:picLocks noChangeAspect="1"/>
          </p:cNvPicPr>
          <p:nvPr/>
        </p:nvPicPr>
        <p:blipFill>
          <a:blip r:embed="rId4"/>
          <a:stretch>
            <a:fillRect/>
          </a:stretch>
        </p:blipFill>
        <p:spPr>
          <a:xfrm>
            <a:off x="548640" y="6053328"/>
            <a:ext cx="640080" cy="640080"/>
          </a:xfrm>
          <a:prstGeom prst="rect">
            <a:avLst/>
          </a:prstGeom>
        </p:spPr>
      </p:pic>
      <p:sp>
        <p:nvSpPr>
          <p:cNvPr id="20" name="Text 16"/>
          <p:cNvSpPr txBox="1"/>
          <p:nvPr/>
        </p:nvSpPr>
        <p:spPr>
          <a:xfrm>
            <a:off x="1371600" y="6053328"/>
            <a:ext cx="731520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Hany Saad</a:t>
            </a:r>
            <a:r>
              <a:rPr lang="en-US" sz="1300" dirty="0">
                <a:solidFill>
                  <a:srgbClr val="AEB9C6"/>
                </a:solidFill>
                <a:latin typeface="Calibri" pitchFamily="34" charset="0"/>
                <a:ea typeface="Calibri" pitchFamily="34" charset="-122"/>
                <a:cs typeface="Calibri" pitchFamily="34" charset="-120"/>
              </a:rPr>
              <a:t>    Senior Software Engineering Manager, ITWorx</a:t>
            </a:r>
            <a:endParaRPr lang="en-US" sz="1600" dirty="0"/>
          </a:p>
        </p:txBody>
      </p:sp>
      <p:sp>
        <p:nvSpPr>
          <p:cNvPr id="21" name="Shape 17"/>
          <p:cNvSpPr/>
          <p:nvPr/>
        </p:nvSpPr>
        <p:spPr>
          <a:xfrm>
            <a:off x="10104120" y="5989320"/>
            <a:ext cx="777240" cy="777240"/>
          </a:xfrm>
          <a:prstGeom prst="rect">
            <a:avLst/>
          </a:prstGeom>
          <a:solidFill>
            <a:srgbClr val="FFFFFF"/>
          </a:solidFill>
          <a:ln w="12700">
            <a:solidFill>
              <a:srgbClr val="FFFFFF"/>
            </a:solidFill>
            <a:prstDash val="solid"/>
          </a:ln>
        </p:spPr>
        <p:txBody>
          <a:bodyPr/>
          <a:lstStyle/>
          <a:p>
            <a:endParaRPr lang="en-US"/>
          </a:p>
        </p:txBody>
      </p:sp>
      <p:pic>
        <p:nvPicPr>
          <p:cNvPr id="22" name="Image 2" descr="/home/claude/x/ppt/media/image2.png"/>
          <p:cNvPicPr>
            <a:picLocks noChangeAspect="1"/>
          </p:cNvPicPr>
          <p:nvPr/>
        </p:nvPicPr>
        <p:blipFill>
          <a:blip r:embed="rId5"/>
          <a:stretch>
            <a:fillRect/>
          </a:stretch>
        </p:blipFill>
        <p:spPr>
          <a:xfrm>
            <a:off x="10140696" y="6025896"/>
            <a:ext cx="704088" cy="704088"/>
          </a:xfrm>
          <a:prstGeom prst="rect">
            <a:avLst/>
          </a:prstGeom>
        </p:spPr>
      </p:pic>
      <p:sp>
        <p:nvSpPr>
          <p:cNvPr id="23" name="Text 18"/>
          <p:cNvSpPr txBox="1"/>
          <p:nvPr/>
        </p:nvSpPr>
        <p:spPr>
          <a:xfrm>
            <a:off x="10954512" y="6263640"/>
            <a:ext cx="914400" cy="228600"/>
          </a:xfrm>
          <a:prstGeom prst="rect">
            <a:avLst/>
          </a:prstGeom>
          <a:noFill/>
          <a:ln/>
        </p:spPr>
        <p:txBody>
          <a:bodyPr wrap="square" lIns="0" tIns="0" rIns="0" bIns="0" rtlCol="0" anchor="t"/>
          <a:lstStyle/>
          <a:p>
            <a:pPr marL="0" indent="0">
              <a:buNone/>
            </a:pPr>
            <a:r>
              <a:rPr lang="en-US" sz="900" dirty="0">
                <a:solidFill>
                  <a:srgbClr val="AEB9C6"/>
                </a:solidFill>
                <a:latin typeface="Courier New" pitchFamily="34" charset="0"/>
                <a:ea typeface="Courier New" pitchFamily="34" charset="-122"/>
                <a:cs typeface="Courier New" pitchFamily="34" charset="-120"/>
              </a:rPr>
              <a:t>LinkedIn</a:t>
            </a:r>
            <a:endParaRPr lang="en-US" sz="900" dirty="0"/>
          </a:p>
        </p:txBody>
      </p:sp>
      <p:pic>
        <p:nvPicPr>
          <p:cNvPr id="25" name="Picture 24">
            <a:extLst>
              <a:ext uri="{FF2B5EF4-FFF2-40B4-BE49-F238E27FC236}">
                <a16:creationId xmlns:a16="http://schemas.microsoft.com/office/drawing/2014/main" id="{A5496C29-2D4A-2A8A-B8C5-D56897AD2B8A}"/>
              </a:ext>
            </a:extLst>
          </p:cNvPr>
          <p:cNvPicPr>
            <a:picLocks noChangeAspect="1"/>
          </p:cNvPicPr>
          <p:nvPr/>
        </p:nvPicPr>
        <p:blipFill>
          <a:blip r:embed="rId6"/>
          <a:stretch>
            <a:fillRect/>
          </a:stretch>
        </p:blipFill>
        <p:spPr>
          <a:xfrm>
            <a:off x="0" y="1390"/>
            <a:ext cx="12192000" cy="68552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5839</Words>
  <Application>Microsoft Office PowerPoint</Application>
  <PresentationFormat>Widescreen</PresentationFormat>
  <Paragraphs>587</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Put an AI Agent on Call — DevOpsDays Cairo 2026</dc:title>
  <dc:subject>PptxGenJS Presentation</dc:subject>
  <dc:creator>Hany Saad</dc:creator>
  <cp:lastModifiedBy>Hany Gheit</cp:lastModifiedBy>
  <cp:revision>4</cp:revision>
  <dcterms:created xsi:type="dcterms:W3CDTF">2026-09-23T22:44:33Z</dcterms:created>
  <dcterms:modified xsi:type="dcterms:W3CDTF">2026-09-24T12:07:38Z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42b34ec-c11c-47b6-b54e-e857cc8ee12b_Enabled">
    <vt:lpwstr>true</vt:lpwstr>
  </property>
  <property fmtid="{D5CDD505-2E9C-101B-9397-08002B2CF9AE}" pid="3" name="MSIP_Label_742b34ec-c11c-47b6-b54e-e857cc8ee12b_SetDate">
    <vt:lpwstr>2026-09-24T11:27:40Z</vt:lpwstr>
  </property>
  <property fmtid="{D5CDD505-2E9C-101B-9397-08002B2CF9AE}" pid="4" name="MSIP_Label_742b34ec-c11c-47b6-b54e-e857cc8ee12b_Method">
    <vt:lpwstr>Privileged</vt:lpwstr>
  </property>
  <property fmtid="{D5CDD505-2E9C-101B-9397-08002B2CF9AE}" pid="5" name="MSIP_Label_742b34ec-c11c-47b6-b54e-e857cc8ee12b_Name">
    <vt:lpwstr>General-v3</vt:lpwstr>
  </property>
  <property fmtid="{D5CDD505-2E9C-101B-9397-08002B2CF9AE}" pid="6" name="MSIP_Label_742b34ec-c11c-47b6-b54e-e857cc8ee12b_SiteId">
    <vt:lpwstr>a1a5384f-f0fc-4df9-9f37-caf775af43c1</vt:lpwstr>
  </property>
  <property fmtid="{D5CDD505-2E9C-101B-9397-08002B2CF9AE}" pid="7" name="MSIP_Label_742b34ec-c11c-47b6-b54e-e857cc8ee12b_ActionId">
    <vt:lpwstr>4f7efac6-6afe-4895-8a3a-c10f95daba3f</vt:lpwstr>
  </property>
  <property fmtid="{D5CDD505-2E9C-101B-9397-08002B2CF9AE}" pid="8" name="MSIP_Label_742b34ec-c11c-47b6-b54e-e857cc8ee12b_ContentBits">
    <vt:lpwstr>2</vt:lpwstr>
  </property>
  <property fmtid="{D5CDD505-2E9C-101B-9397-08002B2CF9AE}" pid="9" name="MSIP_Label_742b34ec-c11c-47b6-b54e-e857cc8ee12b_Tag">
    <vt:lpwstr>10, 0, 1, 1</vt:lpwstr>
  </property>
  <property fmtid="{D5CDD505-2E9C-101B-9397-08002B2CF9AE}" pid="10" name="ClassificationContentMarkingFooterLocations">
    <vt:lpwstr>Office Theme:3</vt:lpwstr>
  </property>
  <property fmtid="{D5CDD505-2E9C-101B-9397-08002B2CF9AE}" pid="11" name="ClassificationContentMarkingFooterText">
    <vt:lpwstr>General</vt:lpwstr>
  </property>
</Properties>
</file>