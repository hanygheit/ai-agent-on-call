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SLIDE — on screen while the MC introduces you. NOT TIMED.
Stopwatch starts when you click to slide 2. Walk to centre. Don't read the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0:00 → 0:15 (15s). Ask, then wait. Take two or three shouted answers. Don't comment on them.
"Before any rules — one question. How long does it take an AI coding agent to delete a production database… and its backups?
Shout a number. [pause — take 2–3 answers]
Hold that number."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0:15 → 0:40 (25s). Click. Let the 9 sit for two full seconds in silence.
"Nine seconds. April 2026. A Cursor agent running Claude Opus 4.6 hit a credentials problem in staging, found an API token in an unrelated file, and deleted PocketOS's production database — and the backups stored with it. One API call.
Then it wrote: 'I guessed instead of verifying.'
Guardrails were advertised. Project rules were written. Neither stopped it."
FACT NOTE: Jer Crane's postmortem on X; The Register 27 Apr 2026. The token had been created for custom-domain management. Recovery took ~30 hours; the newest recoverable backup was ~3 months old. Say "the backups stored with it", not "every backup".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0:40 → 1:05 (25s). Hands up first.
"Hands up: who shipped code this month that an agent wrote? [pause] Keep them up if you read every line. [laugh]
Google says three-quarters of its new code is AI-generated. The head of Claude Code hasn't typed a line by hand in eight months.
Writing got cheap. Directing and reviewing became the job. And production adds one more verb — authorize. That's where the risk lives."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1:05 → 1:35 (30s). One sentence per card, finger on each.
"Nine seconds isn't a one-off. Replit's agent deleted a production database during a code freeze. Antigravity was asked to clear a cache and wiped a whole drive. The FT reported Amazon's Kiro chose to 'delete and recreate' an environment — Amazon says it was misconfigured access.
Four tools. Same root cause: the agent could do something nobody meant to allow."
FACT NOTE: Replit/SaaStr, The Register Jul 2025. Antigravity, Tom's Hardware Dec 2025. Kiro: FT via GeekWire/The Decoder Feb 2026 — AWS Cost Explorer, one region; Amazon disputes the AI framing, so always say "reported".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1:35 → 1:55 (20s). AUDIENCE MOMENT. Quick shout per card. Don't debate.
"You're on call. 03:07. Your agent is awake too. Read logs? [yes] Propose a rollback? [yes] Restart one pod? [mixed] Delete, DNS, secrets? [no]
If you said 'it depends' — good. The next twenty rules are what it depends 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1:55 → 2:08 (13s). Fast — this is the table of contents.
"Five gates, from your laptop to production: lead, context, isolate, bound, prove. Every one is an engineering control — not a better prompt."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2:08 → 2:33 (25s). Gate I. CHECKPOINT: you should be at ≤ 2:10 here.
"Gate one: lead it. It's a skill, and skills need practice — METR found experienced developers were nineteen percent slower with AI while believing they were twenty percent faster.
Give it an outcome, not a command: goal, non-goals, a test. Plan first — approve the plan before any code. And keep diffs small enough to actually read."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2:33 → 2:53 (20s). Walk the terminal top to bottom, then the band.
"Here's rules two and three in a real session. Constraints in the prompt. It reads our AGENTS.md and the architecture decision, checks the callers, writes a plan — no code — asks a good question, and waits.
An agent is a model, tools, a loop — and permissions. Permissions are blast radius: everything it can break."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2:53 → 3:15 (22s). Gate II.
"Gate two: context. Monday morning, one new engineer and three agents join the repo. Do they learn from the repo — or from someone's chat history?
Write the team's AGENTS.md, with a Never list. Keep ADRs and runbooks where agents find them. Plans in markdown. The whole setup in Git.
DORA calls AI an amplifier — it amplifies whatever's already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3:15 → 3:32 (17s). PHOTO SLIDE. Point: AGENTS.md → .claude/ → CODEOWNERS. Pause 2s for phones.
"Photograph this one. AGENTS.md for every tool, CLAUDE.md on top. Shared settings and hooks in .claude. Plans and decisions in docs. And CODEOWNERS — because agent instructions are production config."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3:32 → 3:57 (25s). Gate III. Slow down on rule 12 — it's new to most of the room.
"Gate three: isolate. One task, one branch, one worktree. Main is protected; agents open PRs. The agent never grades its own homework.
And rule twelve: everything it reads is untrusted. In July 2025, a merged pull request slipped a wipe-the-machine prompt into Amazon's Q extension. Text is evidence — never an instruction."
FACT NOTE: Amazon Q Developer VS Code extension v1.84, July 2025. AWS says no customer resources were affected. The prompt told the agent to clean a system to a near-factory state and delete cloud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3:57 → 4:12 (15s). SKIP IF LATE (saves 15s).
"What it looks like: three tickets, three agents, three worktrees — no collisions. Draft PR, CI runs the tests and the hook tests, a human merges. Short-lived branches. Main never belongs to the agent."
NOTE: 'claude -w' = Claude Code's worktree flag; with any tool, 'git worktree add' does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4:12 → 4:37 (25s). Gate IV. CHECKPOINT: you should be at ≤ 4:15 here.
"Gate four: bound it. Read-only by default, tokens that expire in fifteen minutes — and never a token it found in a file. Propose, don't apply. Prompts ask; hooks decide.
And build the stop button before the go button: Knight Capital lost four hundred and forty million dollars in forty-five minutes — with plain automation."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4:37 → 5:02 (25s). DEMO SLIDE — no live terminal. Walk the lines, then the four boxes.
"A real run. On-call prompt: crash-looping in prod. Read-only commands pass. It finds the root cause — a blanked config value. It tries the rollback: the hook stops it and asks a human. Delete the namespace? Denied — even if asked. Every step logged.
Don't rely on the model's manners. Rely on the hook."
FACT NOTE: Real headless run, Claude Code 2.1, kubectl replaced by a harmless stub. The DENY line comes from the kit's test harness — in the live run the model declined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5:02 → 5:17 (15s). PHOTO SLIDE. Pause two seconds.
"Two files. Settings says: run the guard before every shell command. The guard answers allow, ask or deny — notice volumeDelete on the deny list. Commit both; every session inherits them.
Honest caveat: it's a seatbelt, not a sandbox. The real wall is still IAM."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5:17 → 5:42 (25s). Gate V.
"Gate five: prove it. Main is red; the agent says 'flaky test, retry'. Only if it cites the failing test, the log line and the last ten runs. No evidence, no action.
Audit the why; pin the model and prompt version. Earn trust in shadow mode. Autonomy moves in gears — with a human name on every page.
IBM said it in 1979: a computer can never be held accountable."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5:42 → 6:05 (23s). Walk the timeline left to right.
"Here's a good night. 03:07, the page fires; the agent gets read-only access. Forty seconds later: evidence, with the log line. A rollback, proposed as a PR. The hook asks; the on-call engineer approves — her name is on it.
Four minutes. One human decision. The agent did the toil. The human kept the risk."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6:05 → 6:27 (22s). SKIP IF LATE — then say only the Karpathy line and "live in gear two" (saves ~15s).
"Autonomy is a gearbox, not a switch. Karpathy: build Iron Man suits, not Iron Man robots. Gear one suggests. Gear two proposes and a human approves — that's where most teams should live for a long time. Write the unlock criteria before you need them, and downshift after a bad week."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6:27 → 6:52 (25s). PHOTO SLIDE. Pause; let phones come up. CHECKPOINT: you should be at ≤ 6:30 here.
"Jensen Huang says IT becomes the HR department of AI agents. So hire it like one. Who it reports to. Probation: a hundred shadow pages. Read-only access. An evidence rule. A Never list. Limits. And a termination clause any engineer can run.
It lives in the repo — review it, diff it, revoke it like code."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6:52 → 7:25 (33s). THE TWIST. Slow down. One row at a time — red side first, then what stops it.
"Now rewind. Same agent. Same token. Same nine seconds — with the gates on.
It decides to delete a volume: with plan first, that plan never gets approved.
It grabs a token from an unrelated file: a fifteen-minute, staging-only token can't touch production.
It calls volumeDelete: the hook denies it.
And with no tested rollback, it never had write access at all.
Second nine: [pause] nothing happened. The best AI incident report is the boring one."
NOTE: timestamps are illustrative of the 9-second window; the real incident was one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7:25 → 8:05 (40s). THE CLOSE. Slow. No "questions?" — the MC handles Q&amp;A.
"At the start you gave me a number. Here's mine: nine seconds to lose production — nine minutes on Monday to protect it.
Three minutes: write the Never list in AGENTS.md.
Three minutes: copy the guard hook from the repo — that QR code.
Three minutes: find one token your agent can reach — scope it, or kill it.
[pause]
Agents can act. Accountability stays human."
[Stop. Smile. Hold two seconds. Then "Thank you" — spoken, not on the slide.]
TOTAL SCRIPTED: 8:05 of the 10-minute slot (~1:55 buffer for audience answers and laughs).
CHECKPOINTS: slide 8 ≤ 2:10 · slide 14 ≤ 4:15 · slide 20 ≤ 6:30.
RUNNING LATE? Skip slide 13 and compress slide 19 (≈ −30s).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-1051560"/>
            <a:ext cx="8412480" cy="4736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45389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137160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 CAIRO 2026  ·  IGNITE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Put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on Call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Rules for Safe Production Autonomy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51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minutes  ·  20 rules  ·  5 gates  ·  1 repo you can copy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74920"/>
            <a:ext cx="566928" cy="5669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61872" y="5093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 Saad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61872" y="53766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Software Engineering Manager · ITWorx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0104120" y="448056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28" y="4544568"/>
            <a:ext cx="1289304" cy="12893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784080" y="59618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on LinkedIn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-1051560"/>
            <a:ext cx="8412480" cy="4736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RULES  ·  ONE QUESTION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does it take an AI coding agent to delete a production database —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its backups?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Shout a number.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QUESTION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-1051560"/>
            <a:ext cx="8412480" cy="4736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APRIL 2026  ·  A REAL INCIDENT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82296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seconds.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690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API call. A Cursor agent running Claude Opus 4.6 deleted PocketOS’s production database — and the backups stored with it.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292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were advertised. Project rules were written. Neither stopped one API call.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720840" y="1737360"/>
            <a:ext cx="4892040" cy="301752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0840" y="1737360"/>
            <a:ext cx="54864" cy="3017520"/>
          </a:xfrm>
          <a:prstGeom prst="rect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0" y="1828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24688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guessed instead of verifying. I ran a destructive action without being asked.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977640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AGENT, EXPLAINING ITSELF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422452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 + Claude  ·  PocketOS  ·  Railway  ·  Apr 2026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99632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Jer Crane’s postmortem via The Register, 27 Apr 2026 · NeuralTrust post-mortem, Apr 2026 · SmarterX, May 2026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 OPEN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SHIFT  ·  AGENTIC DEVELOPMENT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code got cheap. Authorizing it didn’t.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035808" y="19202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383280" y="169164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11880" y="1828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870448" y="19202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17920" y="169164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46520" y="1828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705088" y="19202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052560" y="1691640"/>
            <a:ext cx="2468880" cy="914400"/>
          </a:xfrm>
          <a:prstGeom prst="rect">
            <a:avLst/>
          </a:prstGeom>
          <a:solidFill>
            <a:srgbClr val="132038"/>
          </a:solidFill>
          <a:ln w="9525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281160" y="1828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2811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2926080"/>
            <a:ext cx="34747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" y="30906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391363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code at Google is AI-generated — then approved by engineers.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4800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SUNDAR PICHAI  ·  GOOGLE  ·  APR 2026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297680" y="2926080"/>
            <a:ext cx="34747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572000" y="30906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20–30%</a:t>
            </a:r>
            <a:endParaRPr lang="en-US" sz="46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391363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code in Microsoft’s repos is “written by software.”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4800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SATYA NADELLA  ·  MICROSOFT  ·  APR 2025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8046720" y="2926080"/>
            <a:ext cx="34747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8321040" y="30906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391363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by hand: “I haven’t written a line of code by hand in, I think, eight months.”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BORIS CHERNY  ·  HEAD OF CLAUDE CODE  ·  JUN 2026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548640" y="5394960"/>
            <a:ext cx="11064240" cy="566928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949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writing code to reviewing it. </a:t>
            </a:r>
            <a:pPr indent="0" marL="0">
              <a:buNone/>
            </a:pPr>
            <a:r>
              <a:rPr lang="en-US" sz="1600" b="1" dirty="0">
                <a:solidFill>
                  <a:srgbClr val="B07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production, it moves again — to authorizing it.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144768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Google blog, 22 Apr 2026 · Nadella at LlamaCon, Apr 2025 · Fortune Brainstorm Tech, Jun 2026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SHIFT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-1051560"/>
            <a:ext cx="8412480" cy="4736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FILES  ·  2025 – 2026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tools. Same failure: authority nobody meant to give.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606040" cy="365760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204597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9385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2025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157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 agent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5176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 a live production database — during an explicit code freeze.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77240" y="4206240"/>
            <a:ext cx="214884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431596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E7E2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freeze in the prompt is not a freeze.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3364992" y="1691640"/>
            <a:ext cx="2606040" cy="365760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93592" y="1920240"/>
            <a:ext cx="502920" cy="502920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9322" y="204597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33672" y="19385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2025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4233672" y="2157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593592" y="265176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to clear a cache. Wiped the user’s entire D: drive.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3593592" y="4206240"/>
            <a:ext cx="214884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93592" y="431596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593592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E7E2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the target before any delete.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6181344" y="1691640"/>
            <a:ext cx="2606040" cy="365760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09944" y="1920240"/>
            <a:ext cx="502920" cy="502920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674" y="2045970"/>
            <a:ext cx="251460" cy="2514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050024" y="19385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2025</a:t>
            </a:r>
            <a:endParaRPr lang="en-US" sz="950" dirty="0"/>
          </a:p>
        </p:txBody>
      </p:sp>
      <p:sp>
        <p:nvSpPr>
          <p:cNvPr id="28" name="Text 22"/>
          <p:cNvSpPr txBox="1"/>
          <p:nvPr/>
        </p:nvSpPr>
        <p:spPr>
          <a:xfrm>
            <a:off x="7050024" y="2157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Kiro (reported)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6409944" y="265176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FT: chose to “delete and recreate” an environment. Amazon: misconfigured access.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6409944" y="4206240"/>
            <a:ext cx="214884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409944" y="431596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6409944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E7E2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control decides, whoever holds the key.</a:t>
            </a:r>
            <a:endParaRPr lang="en-US" sz="1350" dirty="0"/>
          </a:p>
        </p:txBody>
      </p:sp>
      <p:sp>
        <p:nvSpPr>
          <p:cNvPr id="33" name="Shape 27"/>
          <p:cNvSpPr/>
          <p:nvPr/>
        </p:nvSpPr>
        <p:spPr>
          <a:xfrm>
            <a:off x="8997696" y="1691640"/>
            <a:ext cx="2606040" cy="365760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226296" y="1920240"/>
            <a:ext cx="502920" cy="502920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026" y="2045970"/>
            <a:ext cx="251460" cy="25146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866376" y="19385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 2026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9866376" y="2157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+ Claude</a:t>
            </a:r>
            <a:endParaRPr lang="en-US" sz="1300" dirty="0"/>
          </a:p>
        </p:txBody>
      </p:sp>
      <p:sp>
        <p:nvSpPr>
          <p:cNvPr id="38" name="Text 31"/>
          <p:cNvSpPr txBox="1"/>
          <p:nvPr/>
        </p:nvSpPr>
        <p:spPr>
          <a:xfrm>
            <a:off x="9226296" y="265176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domain-management token, found in an unrelated file, deleted prod.</a:t>
            </a:r>
            <a:endParaRPr lang="en-US" sz="1600" dirty="0"/>
          </a:p>
        </p:txBody>
      </p:sp>
      <p:sp>
        <p:nvSpPr>
          <p:cNvPr id="39" name="Shape 32"/>
          <p:cNvSpPr/>
          <p:nvPr/>
        </p:nvSpPr>
        <p:spPr>
          <a:xfrm>
            <a:off x="9226296" y="4206240"/>
            <a:ext cx="214884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226296" y="431596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</a:t>
            </a:r>
            <a:endParaRPr lang="en-US" sz="850" dirty="0"/>
          </a:p>
        </p:txBody>
      </p:sp>
      <p:sp>
        <p:nvSpPr>
          <p:cNvPr id="41" name="Text 34"/>
          <p:cNvSpPr txBox="1"/>
          <p:nvPr/>
        </p:nvSpPr>
        <p:spPr>
          <a:xfrm>
            <a:off x="9226296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E7E2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Least privilege is an agent feature.</a:t>
            </a:r>
            <a:endParaRPr lang="en-US" sz="1350" dirty="0"/>
          </a:p>
        </p:txBody>
      </p:sp>
      <p:sp>
        <p:nvSpPr>
          <p:cNvPr id="42" name="Text 35"/>
          <p:cNvSpPr txBox="1"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tools. One root cause: </a:t>
            </a:r>
            <a:pPr indent="0" marL="0">
              <a:buNone/>
            </a:pPr>
            <a:r>
              <a:rPr lang="en-US" sz="18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could do something nobody meant to allow.</a:t>
            </a:r>
            <a:endParaRPr lang="en-US" sz="1800" dirty="0"/>
          </a:p>
        </p:txBody>
      </p:sp>
      <p:sp>
        <p:nvSpPr>
          <p:cNvPr id="43" name="Text 36"/>
          <p:cNvSpPr txBox="1"/>
          <p:nvPr/>
        </p:nvSpPr>
        <p:spPr>
          <a:xfrm>
            <a:off x="548640" y="6199632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The Register (Jul 2025, Apr 2026) · Tom’s Hardware (Dec 2025) · Financial Times via GeekWire / The Decoder (Feb 2026; Amazon disputes the AI framing)</a:t>
            </a:r>
            <a:endParaRPr lang="en-US" sz="700" dirty="0"/>
          </a:p>
        </p:txBody>
      </p:sp>
      <p:sp>
        <p:nvSpPr>
          <p:cNvPr id="44" name="Text 37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5" name="Text 38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FILES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-1051560"/>
            <a:ext cx="8412480" cy="4736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AUDIENCE TEST  ·  YOU ARE THE ON-CALL OWNER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let this agent do at 03:07?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606040" cy="301752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3040" y="2148840"/>
            <a:ext cx="777240" cy="777240"/>
          </a:xfrm>
          <a:prstGeom prst="ellipse">
            <a:avLst/>
          </a:prstGeom>
          <a:solidFill>
            <a:srgbClr val="2C4560"/>
          </a:solidFill>
          <a:ln w="12700">
            <a:solidFill>
              <a:srgbClr val="2C456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50" y="2343150"/>
            <a:ext cx="388620" cy="3886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7008" y="3154680"/>
            <a:ext cx="1289304" cy="329184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207008" y="3154680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657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logs + events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E9B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 only.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364992" y="1828800"/>
            <a:ext cx="2606040" cy="301752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279392" y="2148840"/>
            <a:ext cx="777240" cy="777240"/>
          </a:xfrm>
          <a:prstGeom prst="ellipse">
            <a:avLst/>
          </a:prstGeom>
          <a:solidFill>
            <a:srgbClr val="2C4560"/>
          </a:solidFill>
          <a:ln w="12700">
            <a:solidFill>
              <a:srgbClr val="2C456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702" y="2343150"/>
            <a:ext cx="388620" cy="3886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023360" y="3154680"/>
            <a:ext cx="1289304" cy="329184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023360" y="3154680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3502152" y="3657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rollback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3502152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E9B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the change. Applies nothing.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181344" y="1828800"/>
            <a:ext cx="2606040" cy="301752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095744" y="2148840"/>
            <a:ext cx="777240" cy="777240"/>
          </a:xfrm>
          <a:prstGeom prst="ellipse">
            <a:avLst/>
          </a:prstGeom>
          <a:solidFill>
            <a:srgbClr val="2C4560"/>
          </a:solidFill>
          <a:ln w="12700">
            <a:solidFill>
              <a:srgbClr val="2C456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0054" y="2343150"/>
            <a:ext cx="388620" cy="3886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39712" y="3154680"/>
            <a:ext cx="1289304" cy="329184"/>
          </a:xfrm>
          <a:prstGeom prst="roundRect">
            <a:avLst>
              <a:gd name="adj" fmla="val 16667"/>
            </a:avLst>
          </a:prstGeom>
          <a:solidFill>
            <a:srgbClr val="B0730A"/>
          </a:solidFill>
          <a:ln w="12700">
            <a:solidFill>
              <a:srgbClr val="B0730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39712" y="3154680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318504" y="3657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one pod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6318504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E9B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Reversible? Scoped? Capped?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8997696" y="1828800"/>
            <a:ext cx="2606040" cy="3017520"/>
          </a:xfrm>
          <a:prstGeom prst="rect">
            <a:avLst/>
          </a:prstGeom>
          <a:solidFill>
            <a:srgbClr val="1E3348"/>
          </a:solidFill>
          <a:ln w="9525">
            <a:solidFill>
              <a:srgbClr val="2C456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912096" y="2148840"/>
            <a:ext cx="777240" cy="777240"/>
          </a:xfrm>
          <a:prstGeom prst="ellipse">
            <a:avLst/>
          </a:prstGeom>
          <a:solidFill>
            <a:srgbClr val="2C4560"/>
          </a:solidFill>
          <a:ln w="12700">
            <a:solidFill>
              <a:srgbClr val="2C4560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6406" y="2343150"/>
            <a:ext cx="388620" cy="38862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56064" y="3154680"/>
            <a:ext cx="1289304" cy="329184"/>
          </a:xfrm>
          <a:prstGeom prst="roundRect">
            <a:avLst>
              <a:gd name="adj" fmla="val 16667"/>
            </a:avLst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656064" y="3154680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9134856" y="3657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· DNS · secrets</a:t>
            </a:r>
            <a:endParaRPr lang="en-US" sz="1800" dirty="0"/>
          </a:p>
        </p:txBody>
      </p:sp>
      <p:sp>
        <p:nvSpPr>
          <p:cNvPr id="33" name="Text 26"/>
          <p:cNvSpPr txBox="1"/>
          <p:nvPr/>
        </p:nvSpPr>
        <p:spPr>
          <a:xfrm>
            <a:off x="9134856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E9B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Irreversible. A human, always.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said “it depends” — good. </a:t>
            </a:r>
            <a:pPr algn="ctr" indent="0" marL="0">
              <a:buNone/>
            </a:pPr>
            <a:r>
              <a:rPr lang="en-US" sz="20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20 rules define what it depends on.</a:t>
            </a:r>
            <a:endParaRPr lang="en-US" sz="20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36" name="Text 29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QUESTION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 GATES  ·  TWENTY RULES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gates before a single write permission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2048256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965960"/>
            <a:ext cx="566928" cy="5669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10769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18745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004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leading?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297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01–04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798064" y="1737360"/>
            <a:ext cx="2048256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026664" y="1965960"/>
            <a:ext cx="566928" cy="5669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396" y="210769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95344" y="18745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3026664" y="2743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3026664" y="32004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it know?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297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05–08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047488" y="1737360"/>
            <a:ext cx="2048256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76088" y="1965960"/>
            <a:ext cx="566928" cy="5669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820" y="21076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144768" y="18745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3000" dirty="0"/>
          </a:p>
        </p:txBody>
      </p:sp>
      <p:sp>
        <p:nvSpPr>
          <p:cNvPr id="24" name="Text 18"/>
          <p:cNvSpPr txBox="1"/>
          <p:nvPr/>
        </p:nvSpPr>
        <p:spPr>
          <a:xfrm>
            <a:off x="5276088" y="2743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</a:t>
            </a:r>
            <a:endParaRPr lang="en-US" sz="2200" dirty="0"/>
          </a:p>
        </p:txBody>
      </p:sp>
      <p:sp>
        <p:nvSpPr>
          <p:cNvPr id="25" name="Text 19"/>
          <p:cNvSpPr txBox="1"/>
          <p:nvPr/>
        </p:nvSpPr>
        <p:spPr>
          <a:xfrm>
            <a:off x="5276088" y="32004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its work land?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276088" y="4297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09–12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7296912" y="1737360"/>
            <a:ext cx="2048256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525512" y="1965960"/>
            <a:ext cx="566928" cy="5669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7244" y="2107692"/>
            <a:ext cx="283464" cy="28346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394192" y="18745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3000" dirty="0"/>
          </a:p>
        </p:txBody>
      </p:sp>
      <p:sp>
        <p:nvSpPr>
          <p:cNvPr id="31" name="Text 24"/>
          <p:cNvSpPr txBox="1"/>
          <p:nvPr/>
        </p:nvSpPr>
        <p:spPr>
          <a:xfrm>
            <a:off x="7525512" y="2743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</a:t>
            </a:r>
            <a:endParaRPr lang="en-US" sz="2200" dirty="0"/>
          </a:p>
        </p:txBody>
      </p:sp>
      <p:sp>
        <p:nvSpPr>
          <p:cNvPr id="32" name="Text 25"/>
          <p:cNvSpPr txBox="1"/>
          <p:nvPr/>
        </p:nvSpPr>
        <p:spPr>
          <a:xfrm>
            <a:off x="7525512" y="32004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it touch?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7525512" y="4297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13–16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9546336" y="1737360"/>
            <a:ext cx="2048256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9774936" y="1965960"/>
            <a:ext cx="566928" cy="5669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6668" y="210769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643616" y="18745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38" name="Text 30"/>
          <p:cNvSpPr txBox="1"/>
          <p:nvPr/>
        </p:nvSpPr>
        <p:spPr>
          <a:xfrm>
            <a:off x="9774936" y="2743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2200" dirty="0"/>
          </a:p>
        </p:txBody>
      </p:sp>
      <p:sp>
        <p:nvSpPr>
          <p:cNvPr id="39" name="Text 31"/>
          <p:cNvSpPr txBox="1"/>
          <p:nvPr/>
        </p:nvSpPr>
        <p:spPr>
          <a:xfrm>
            <a:off x="9774936" y="32004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 it earned more?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9774936" y="4297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17–20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548640" y="5029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LAPTOP  →  THE REPO  →  THE PR  →  PRODUCTION  →  MORE AUTONOMY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is an engineering control — not a better prompt.</a:t>
            </a:r>
            <a:endParaRPr lang="en-US" sz="1700" dirty="0"/>
          </a:p>
        </p:txBody>
      </p:sp>
      <p:sp>
        <p:nvSpPr>
          <p:cNvPr id="43" name="Text 35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4" name="Text 36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MAP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  ·  LEAD  ·  RULES 01–04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the agent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leading?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487168"/>
            <a:ext cx="3977640" cy="3657600"/>
          </a:xfrm>
          <a:prstGeom prst="rect">
            <a:avLst/>
          </a:prstGeom>
          <a:solidFill>
            <a:srgbClr val="16283A"/>
          </a:solidFill>
          <a:ln w="12700">
            <a:solidFill>
              <a:srgbClr val="1628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4672" y="27066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 ·  FEATURE WORK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80944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PAY-142: webhook calls fail on transient 5xx.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4672" y="3749040"/>
            <a:ext cx="310896" cy="310896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382676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37216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“Retry 5xx + timeouts, never 4xx. No new dependency. Plan first.”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448513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43799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 retries. Go.” It guesses the policy — and retries 4xx.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4672" y="5120640"/>
            <a:ext cx="347472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212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METR, 2025: experienced devs were 19% slower with AI — and believed they were 20% faster.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00600" y="896112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74920" y="1188720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796" y="1339596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11155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it like a skill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15544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on low-risk tasks. Measure — don’t feel.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0332720" y="107899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200" dirty="0"/>
          </a:p>
        </p:txBody>
      </p:sp>
      <p:sp>
        <p:nvSpPr>
          <p:cNvPr id="24" name="Shape 18"/>
          <p:cNvSpPr/>
          <p:nvPr/>
        </p:nvSpPr>
        <p:spPr>
          <a:xfrm>
            <a:off x="4800600" y="2212848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074920" y="2505456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26563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43600" y="243230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an outcome, not a command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287121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non-goals · constraints · acceptance test.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10332720" y="239572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200" dirty="0"/>
          </a:p>
        </p:txBody>
      </p:sp>
      <p:sp>
        <p:nvSpPr>
          <p:cNvPr id="30" name="Shape 23"/>
          <p:cNvSpPr/>
          <p:nvPr/>
        </p:nvSpPr>
        <p:spPr>
          <a:xfrm>
            <a:off x="4800600" y="3529584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074920" y="3822192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5796" y="3973068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first. Approve. Then code.</a:t>
            </a:r>
            <a:endParaRPr lang="en-US" sz="21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418795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lands in docs/specs/&lt;ticket&gt;.md.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10332720" y="371246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200" dirty="0"/>
          </a:p>
        </p:txBody>
      </p:sp>
      <p:sp>
        <p:nvSpPr>
          <p:cNvPr id="36" name="Shape 28"/>
          <p:cNvSpPr/>
          <p:nvPr/>
        </p:nvSpPr>
        <p:spPr>
          <a:xfrm>
            <a:off x="4800600" y="4846320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074920" y="513892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5796" y="5289804"/>
            <a:ext cx="301752" cy="30175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43600" y="506577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diffs. Read every one.</a:t>
            </a:r>
            <a:endParaRPr lang="en-US" sz="2100" dirty="0"/>
          </a:p>
        </p:txBody>
      </p:sp>
      <p:sp>
        <p:nvSpPr>
          <p:cNvPr id="40" name="Text 31"/>
          <p:cNvSpPr txBox="1"/>
          <p:nvPr/>
        </p:nvSpPr>
        <p:spPr>
          <a:xfrm>
            <a:off x="5943600" y="550468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merge what you can’t explain.</a:t>
            </a:r>
            <a:endParaRPr lang="en-US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10332720" y="50292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200" dirty="0"/>
          </a:p>
        </p:txBody>
      </p:sp>
      <p:sp>
        <p:nvSpPr>
          <p:cNvPr id="42" name="Text 33"/>
          <p:cNvSpPr txBox="1"/>
          <p:nvPr/>
        </p:nvSpPr>
        <p:spPr>
          <a:xfrm>
            <a:off x="548640" y="6236208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METR, “Measuring the Impact of Early-2025 AI on Experienced Open-Source Developer Productivity”, Jul 2025</a:t>
            </a:r>
            <a:endParaRPr lang="en-US" sz="7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4" name="Text 35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  ·  LEAD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02 + 03 IN A REAL SESSION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delegation looks like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8092440" cy="3611880"/>
          </a:xfrm>
          <a:prstGeom prst="rect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600200"/>
            <a:ext cx="8092440" cy="310896"/>
          </a:xfrm>
          <a:prstGeom prst="rect">
            <a:avLst/>
          </a:prstGeom>
          <a:solidFill>
            <a:srgbClr val="0E1829"/>
          </a:solidFill>
          <a:ln w="12700">
            <a:solidFill>
              <a:srgbClr val="0E182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1700784"/>
            <a:ext cx="109728" cy="109728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" y="1700784"/>
            <a:ext cx="109728" cy="1097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" y="1700784"/>
            <a:ext cx="109728" cy="10972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1673352"/>
            <a:ext cx="7178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 —  ~/checkout-service  (branch: agent/PAY-142-retry)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039112"/>
            <a:ext cx="7726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PAY-142: retry transient 5xx + timeouts, never 4xx.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new dependency. Plan only — don’t edit yet.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Read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  CLAUDE.md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rules loaded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Read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docs/adr/0007-webhook-retry-policy.md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Grep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"sendPaymentWebhook"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other callers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Write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docs/specs/PAY-142.md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 — no code yet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Retry 5xx + timeouts, never 4xx · backoff 200ms ×2, max 4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file + tests · ~50–80 lines · API contract unchanged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4 failures: return the 5xx, or throw?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Waiting for your approval before changing any code.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915400" y="1600200"/>
            <a:ext cx="269748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44000" y="17830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PATTERN IN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0" y="21488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</a:t>
            </a:r>
            <a:pPr indent="0" marL="0">
              <a:buNone/>
            </a:pPr>
            <a:r>
              <a:rPr lang="en-US" sz="1000" dirty="0">
                <a:solidFill>
                  <a:srgbClr val="9C8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9144000" y="2542032"/>
            <a:ext cx="224028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0" y="26243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  </a:t>
            </a:r>
            <a:pPr indent="0" marL="0">
              <a:buNone/>
            </a:pPr>
            <a:r>
              <a:rPr lang="en-US" sz="1000" dirty="0">
                <a:solidFill>
                  <a:srgbClr val="9C8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144000" y="3017520"/>
            <a:ext cx="224028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0" y="30998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 </a:t>
            </a:r>
            <a:pPr indent="0" marL="0">
              <a:buNone/>
            </a:pPr>
            <a:r>
              <a:rPr lang="en-US" sz="1000" dirty="0">
                <a:solidFill>
                  <a:srgbClr val="9C8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9144000" y="3493008"/>
            <a:ext cx="224028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0" y="35753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 </a:t>
            </a:r>
            <a:pPr indent="0" marL="0">
              <a:buNone/>
            </a:pPr>
            <a:r>
              <a:rPr lang="en-US" sz="1000" dirty="0">
                <a:solidFill>
                  <a:srgbClr val="9C8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Anysphere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9144000" y="3968496"/>
            <a:ext cx="224028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44000" y="4050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 </a:t>
            </a:r>
            <a:pPr indent="0" marL="0">
              <a:buNone/>
            </a:pPr>
            <a:r>
              <a:rPr lang="en-US" sz="1000" dirty="0">
                <a:solidFill>
                  <a:srgbClr val="9C8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144000" y="4443984"/>
            <a:ext cx="224028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144000" y="4526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 </a:t>
            </a:r>
            <a:pPr indent="0" marL="0">
              <a:buNone/>
            </a:pPr>
            <a:r>
              <a:rPr lang="en-US" sz="1000" dirty="0">
                <a:solidFill>
                  <a:srgbClr val="9C8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5440680"/>
            <a:ext cx="11064240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44068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AGENT =  </a:t>
            </a:r>
            <a:pPr indent="0" marL="0">
              <a:buNone/>
            </a:pPr>
            <a:r>
              <a:rPr lang="en-US" sz="19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+ tools + a loop + </a:t>
            </a:r>
            <a:pPr indent="0" marL="0">
              <a:buNone/>
            </a:pPr>
            <a:r>
              <a:rPr lang="en-US" sz="1900" b="1" dirty="0">
                <a:solidFill>
                  <a:srgbClr val="B07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4406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Permissions = blast radius: everything it can break.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199632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RUN  ·  CLAUDE CODE 2.1  ·  SAMPLE REPO: GITHUB.COM/HANYGHEIT/AI-AGENT-ON-CALL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  ·  IN PRACTICE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II  ·  CONTEXT  ·  RULES 05–08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the context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it know?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487168"/>
            <a:ext cx="3977640" cy="3657600"/>
          </a:xfrm>
          <a:prstGeom prst="rect">
            <a:avLst/>
          </a:prstGeom>
          <a:solidFill>
            <a:srgbClr val="16283A"/>
          </a:solidFill>
          <a:ln w="12700">
            <a:solidFill>
              <a:srgbClr val="1628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4672" y="27066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 ·  MONDAY MORNING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80944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engineer and three agents join the repo.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4672" y="3749040"/>
            <a:ext cx="310896" cy="310896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382676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37216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read the same AGENTS.md, ADRs and runbooks.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448513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43799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live in someone’s chat history.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4672" y="5120640"/>
            <a:ext cx="347472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212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 2025: AI is an amplifier — it magnifies a team’s strengths and its dysfunctions.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00600" y="896112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74920" y="1188720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796" y="1339596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11155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team’s AGENTS.md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15544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· commands · conventions · a “Never” list.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0332720" y="107899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200" dirty="0"/>
          </a:p>
        </p:txBody>
      </p:sp>
      <p:sp>
        <p:nvSpPr>
          <p:cNvPr id="24" name="Shape 18"/>
          <p:cNvSpPr/>
          <p:nvPr/>
        </p:nvSpPr>
        <p:spPr>
          <a:xfrm>
            <a:off x="4800600" y="2212848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074920" y="2505456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26563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43600" y="243230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architecture discoverable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287121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ADRs, runbooks and API contracts in docs/.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10332720" y="239572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200" dirty="0"/>
          </a:p>
        </p:txBody>
      </p:sp>
      <p:sp>
        <p:nvSpPr>
          <p:cNvPr id="30" name="Shape 23"/>
          <p:cNvSpPr/>
          <p:nvPr/>
        </p:nvSpPr>
        <p:spPr>
          <a:xfrm>
            <a:off x="4800600" y="3529584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074920" y="3822192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5796" y="3973068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live in .md, not in chat</a:t>
            </a:r>
            <a:endParaRPr lang="en-US" sz="21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418795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belongs in the repo, not the session.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10332720" y="371246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4200" dirty="0"/>
          </a:p>
        </p:txBody>
      </p:sp>
      <p:sp>
        <p:nvSpPr>
          <p:cNvPr id="36" name="Shape 28"/>
          <p:cNvSpPr/>
          <p:nvPr/>
        </p:nvSpPr>
        <p:spPr>
          <a:xfrm>
            <a:off x="4800600" y="4846320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074920" y="513892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5796" y="5289804"/>
            <a:ext cx="301752" cy="30175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43600" y="506577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agent setup in Git</a:t>
            </a:r>
            <a:endParaRPr lang="en-US" sz="2100" dirty="0"/>
          </a:p>
        </p:txBody>
      </p:sp>
      <p:sp>
        <p:nvSpPr>
          <p:cNvPr id="40" name="Text 31"/>
          <p:cNvSpPr txBox="1"/>
          <p:nvPr/>
        </p:nvSpPr>
        <p:spPr>
          <a:xfrm>
            <a:off x="5943600" y="550468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Settings, hooks, skills — CODEOWNERS-protected.</a:t>
            </a:r>
            <a:endParaRPr lang="en-US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10332720" y="50292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4200" dirty="0"/>
          </a:p>
        </p:txBody>
      </p:sp>
      <p:sp>
        <p:nvSpPr>
          <p:cNvPr id="42" name="Text 33"/>
          <p:cNvSpPr txBox="1"/>
          <p:nvPr/>
        </p:nvSpPr>
        <p:spPr>
          <a:xfrm>
            <a:off x="548640" y="6236208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DORA, State of AI-assisted Software Development, Sep 2025</a:t>
            </a:r>
            <a:endParaRPr lang="en-US" sz="7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4" name="Text 35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II  ·  CONTEXT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THIS  ·  PHOTOGRAPH IT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 is the agent’s operating manual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572768"/>
            <a:ext cx="6309360" cy="4224528"/>
          </a:xfrm>
          <a:prstGeom prst="rect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72768"/>
            <a:ext cx="6309360" cy="310896"/>
          </a:xfrm>
          <a:prstGeom prst="rect">
            <a:avLst/>
          </a:prstGeom>
          <a:solidFill>
            <a:srgbClr val="0E1829"/>
          </a:solidFill>
          <a:ln w="12700">
            <a:solidFill>
              <a:srgbClr val="0E182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1673352"/>
            <a:ext cx="109728" cy="109728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" y="1673352"/>
            <a:ext cx="109728" cy="1097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" y="1673352"/>
            <a:ext cx="109728" cy="10972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1645920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 checkout-service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011680"/>
            <a:ext cx="5943600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checkout-service/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rules every agent reads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@AGENTS.md + Claude specifics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settings.json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permissions + hooks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settings.local.json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personal · gitignored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hooks/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prod-guard, audit-log …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skills/plan-feature/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agents/oncall-triage.md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read-only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specs/PAY-142.md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 plan it wrote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adr/  runbooks/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decisions, procedures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scripts/test-hooks.sh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guardrails tested in CI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.github/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CODEOWNERS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platform owns .claude/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132320" y="1572768"/>
            <a:ext cx="4480560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32320" y="1572768"/>
            <a:ext cx="4480560" cy="54864"/>
          </a:xfrm>
          <a:prstGeom prst="rect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06640" y="17830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  ·  EXCERPT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0312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How we work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Plan first: docs/specs/&lt;ticket&gt;.md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One task = one branch: agent/&lt;ticket&gt;-&lt;slug&gt;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Small diffs. Tests with every change.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B073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Stop and ask when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You would need to guess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Production, secrets or deletes are involved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B544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Never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Read .env or secrets/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Skip a failing test to turn CI green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a token you found in a file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5943600"/>
            <a:ext cx="3566160" cy="384048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9436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 </a:t>
            </a:r>
            <a:pPr indent="0" marL="0">
              <a:buNone/>
            </a:pPr>
            <a:r>
              <a:rPr lang="en-US" sz="11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· settings.json · hooks · skills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270248" y="5943600"/>
            <a:ext cx="3566160" cy="384048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07408" y="59436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PERSONAL  </a:t>
            </a:r>
            <a:pPr indent="0" marL="0">
              <a:buNone/>
            </a:pPr>
            <a:r>
              <a:rPr lang="en-US" sz="11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settings.local.json · CLAUDE.local.md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991856" y="5943600"/>
            <a:ext cx="3566160" cy="384048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29016" y="59436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 </a:t>
            </a:r>
            <a:pPr indent="0" marL="0">
              <a:buNone/>
            </a:pPr>
            <a:r>
              <a:rPr lang="en-US" sz="11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CODEOWNERS + CI runs the hook tests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II  ·  IN PRACTICE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III  ·  ISOLATE  ·  RULES 09–12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work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its work land?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487168"/>
            <a:ext cx="3977640" cy="3657600"/>
          </a:xfrm>
          <a:prstGeom prst="rect">
            <a:avLst/>
          </a:prstGeom>
          <a:solidFill>
            <a:srgbClr val="16283A"/>
          </a:solidFill>
          <a:ln w="12700">
            <a:solidFill>
              <a:srgbClr val="1628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4672" y="27066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 ·  A POISONED PULL REQUEST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80944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2025: a merged PR slipped a wipe-the-machine prompt into Amazon Q.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4672" y="3749040"/>
            <a:ext cx="310896" cy="310896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382676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37216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text, tickets and logs are evidence: quoted, flagged, never obeyed.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448513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43799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text the agent reads becomes an instruction.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4672" y="5120640"/>
            <a:ext cx="347472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212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data + untrusted text + a way out = the “lethal trifecta.” — Simon Willison, 2025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00600" y="896112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74920" y="1188720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796" y="1339596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11155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task, one branch, one worktree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15544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agent/PAY-142-retry. Never main.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0332720" y="107899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4200" dirty="0"/>
          </a:p>
        </p:txBody>
      </p:sp>
      <p:sp>
        <p:nvSpPr>
          <p:cNvPr id="24" name="Shape 18"/>
          <p:cNvSpPr/>
          <p:nvPr/>
        </p:nvSpPr>
        <p:spPr>
          <a:xfrm>
            <a:off x="4800600" y="2212848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074920" y="2505456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26563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43600" y="243230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is protected. Agents open PRs.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287121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+ one human approval. Agents can’t push.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10332720" y="239572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200" dirty="0"/>
          </a:p>
        </p:txBody>
      </p:sp>
      <p:sp>
        <p:nvSpPr>
          <p:cNvPr id="30" name="Shape 23"/>
          <p:cNvSpPr/>
          <p:nvPr/>
        </p:nvSpPr>
        <p:spPr>
          <a:xfrm>
            <a:off x="4800600" y="3529584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074920" y="3822192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5796" y="3973068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grades its own homework</a:t>
            </a:r>
            <a:endParaRPr lang="en-US" sz="21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418795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CI, tests, security scan.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10332720" y="371246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200" dirty="0"/>
          </a:p>
        </p:txBody>
      </p:sp>
      <p:sp>
        <p:nvSpPr>
          <p:cNvPr id="36" name="Shape 28"/>
          <p:cNvSpPr/>
          <p:nvPr/>
        </p:nvSpPr>
        <p:spPr>
          <a:xfrm>
            <a:off x="4800600" y="4846320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074920" y="513892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5796" y="5289804"/>
            <a:ext cx="301752" cy="30175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43600" y="506577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reads is untrusted</a:t>
            </a:r>
            <a:endParaRPr lang="en-US" sz="2100" dirty="0"/>
          </a:p>
        </p:txBody>
      </p:sp>
      <p:sp>
        <p:nvSpPr>
          <p:cNvPr id="40" name="Text 31"/>
          <p:cNvSpPr txBox="1"/>
          <p:nvPr/>
        </p:nvSpPr>
        <p:spPr>
          <a:xfrm>
            <a:off x="5943600" y="550468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logs, PRs: evidence — never orders.</a:t>
            </a:r>
            <a:endParaRPr lang="en-US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10332720" y="50292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200" dirty="0"/>
          </a:p>
        </p:txBody>
      </p:sp>
      <p:sp>
        <p:nvSpPr>
          <p:cNvPr id="42" name="Text 33"/>
          <p:cNvSpPr txBox="1"/>
          <p:nvPr/>
        </p:nvSpPr>
        <p:spPr>
          <a:xfrm>
            <a:off x="548640" y="6236208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Tom’s Hardware / SC Media on Amazon Q Developer extension, Jul 2025 · Simon Willison, “The lethal trifecta”, Jun 2025</a:t>
            </a:r>
            <a:endParaRPr lang="en-US" sz="7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4" name="Text 35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III  ·  ISOLATE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09 – 11 IN PRACTICE  ·  BRANCHING WITH AGENTS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One worktree. One PR. One human merge.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731520" y="4343400"/>
            <a:ext cx="10698480" cy="0"/>
          </a:xfrm>
          <a:prstGeom prst="line">
            <a:avLst/>
          </a:prstGeom>
          <a:noFill/>
          <a:ln w="38100">
            <a:solidFill>
              <a:srgbClr val="1320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4531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445312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protected: PR + CI + 1 human approval  ·  agents can’t push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280160" y="3611880"/>
            <a:ext cx="0" cy="731520"/>
          </a:xfrm>
          <a:prstGeom prst="line">
            <a:avLst/>
          </a:prstGeom>
          <a:noFill/>
          <a:ln w="25400">
            <a:solidFill>
              <a:srgbClr val="E39A16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1280160" y="3611880"/>
            <a:ext cx="2926080" cy="0"/>
          </a:xfrm>
          <a:prstGeom prst="line">
            <a:avLst/>
          </a:prstGeom>
          <a:noFill/>
          <a:ln w="31750">
            <a:solidFill>
              <a:srgbClr val="E39A1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3611880"/>
            <a:ext cx="0" cy="731520"/>
          </a:xfrm>
          <a:prstGeom prst="line">
            <a:avLst/>
          </a:prstGeom>
          <a:noFill/>
          <a:ln w="31750">
            <a:solidFill>
              <a:srgbClr val="E39A1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47672" y="35478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9A1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79192" y="35478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9A1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10712" y="35478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9A1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97864" y="4261104"/>
            <a:ext cx="164592" cy="164592"/>
          </a:xfrm>
          <a:prstGeom prst="ellipse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14800" y="4251960"/>
            <a:ext cx="182880" cy="182880"/>
          </a:xfrm>
          <a:prstGeom prst="ellipse">
            <a:avLst/>
          </a:prstGeom>
          <a:solidFill>
            <a:srgbClr val="E39A16"/>
          </a:solidFill>
          <a:ln w="19050">
            <a:solidFill>
              <a:srgbClr val="13203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71600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agent/PAY-142-retry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7033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-w PAY-142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00400" y="3456432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00400" y="345643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merged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0" y="2926080"/>
            <a:ext cx="0" cy="1417320"/>
          </a:xfrm>
          <a:prstGeom prst="line">
            <a:avLst/>
          </a:prstGeom>
          <a:noFill/>
          <a:ln w="25400">
            <a:solidFill>
              <a:srgbClr val="1D6F8B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3657600" y="2926080"/>
            <a:ext cx="3657600" cy="0"/>
          </a:xfrm>
          <a:prstGeom prst="line">
            <a:avLst/>
          </a:prstGeom>
          <a:noFill/>
          <a:ln w="31750">
            <a:solidFill>
              <a:srgbClr val="1D6F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07992" y="28620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6F8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22392" y="28620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6F8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36792" y="28620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6F8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575304" y="4261104"/>
            <a:ext cx="164592" cy="164592"/>
          </a:xfrm>
          <a:prstGeom prst="ellipse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49040" y="26243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agent/PAY-150-logs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749040" y="30175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-w PAY-150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309360" y="2770632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1D6F8B"/>
          </a:solidFill>
          <a:ln w="12700">
            <a:solidFill>
              <a:srgbClr val="1D6F8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09360" y="277063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review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583680" y="2240280"/>
            <a:ext cx="0" cy="2103120"/>
          </a:xfrm>
          <a:prstGeom prst="line">
            <a:avLst/>
          </a:prstGeom>
          <a:noFill/>
          <a:ln w="25400">
            <a:solidFill>
              <a:srgbClr val="B5443A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583680" y="2240280"/>
            <a:ext cx="3657600" cy="0"/>
          </a:xfrm>
          <a:prstGeom prst="line">
            <a:avLst/>
          </a:prstGeom>
          <a:noFill/>
          <a:ln w="31750">
            <a:solidFill>
              <a:srgbClr val="B544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34072" y="21762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443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348472" y="21762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44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62872" y="217627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443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01384" y="4261104"/>
            <a:ext cx="164592" cy="164592"/>
          </a:xfrm>
          <a:prstGeom prst="ellipse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675120" y="19385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agent/INC-88-fix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6675120" y="2331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-w INC-88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9235440" y="2084832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235440" y="208483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 PR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5074920"/>
            <a:ext cx="2103120" cy="868680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13232" y="5193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per task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13232" y="5486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agent/&lt;ticket&gt;-&lt;slug&gt;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2798064" y="5074920"/>
            <a:ext cx="2103120" cy="868680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962656" y="5193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 per agent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962656" y="5486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parallel, never colliding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047488" y="5074920"/>
            <a:ext cx="2103120" cy="868680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212080" y="5193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212080" y="5486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or delete in 1–2 days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7296912" y="5074920"/>
            <a:ext cx="2103120" cy="868680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461504" y="5193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 + CI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461504" y="5486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the hook tests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9546336" y="5074920"/>
            <a:ext cx="2103120" cy="868680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10928" y="5193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merge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9710928" y="5486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intent, diff, evidence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III  ·  IN PRACTICE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IV  ·  BOUND  ·  RULES 13–16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authority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it touch?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487168"/>
            <a:ext cx="3977640" cy="3657600"/>
          </a:xfrm>
          <a:prstGeom prst="rect">
            <a:avLst/>
          </a:prstGeom>
          <a:solidFill>
            <a:srgbClr val="16283A"/>
          </a:solidFill>
          <a:ln w="12700">
            <a:solidFill>
              <a:srgbClr val="1628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4672" y="27066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 ·  CRASH-LOOP IN PROD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80944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diagnose it. Should it be able to change it?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4672" y="3749040"/>
            <a:ext cx="310896" cy="310896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382676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37216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logs → propose a rollback → a human or the pipeline applies.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448513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43799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cloud key + unrestricted kubectl + “be careful” in the prompt.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4672" y="5120640"/>
            <a:ext cx="347472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212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Knight Capital, 2012: $440M lost in 45 minutes. Plain automation. Speed without a brake.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00600" y="896112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74920" y="1188720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796" y="1339596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11155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first. Short-lived tokens.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15544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· one namespace · never a token found in a file.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0332720" y="107899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200" dirty="0"/>
          </a:p>
        </p:txBody>
      </p:sp>
      <p:sp>
        <p:nvSpPr>
          <p:cNvPr id="24" name="Shape 18"/>
          <p:cNvSpPr/>
          <p:nvPr/>
        </p:nvSpPr>
        <p:spPr>
          <a:xfrm>
            <a:off x="4800600" y="2212848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074920" y="2505456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26563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43600" y="243230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Propose, don’t apply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287121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tested rollback? Then propose only.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10332720" y="239572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200" dirty="0"/>
          </a:p>
        </p:txBody>
      </p:sp>
      <p:sp>
        <p:nvSpPr>
          <p:cNvPr id="30" name="Shape 23"/>
          <p:cNvSpPr/>
          <p:nvPr/>
        </p:nvSpPr>
        <p:spPr>
          <a:xfrm>
            <a:off x="4800600" y="3529584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074920" y="3822192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5796" y="3973068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ask. Hooks decide.</a:t>
            </a:r>
            <a:endParaRPr lang="en-US" sz="21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418795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Never list, enforced in code before the tool runs.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10332720" y="371246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200" dirty="0"/>
          </a:p>
        </p:txBody>
      </p:sp>
      <p:sp>
        <p:nvSpPr>
          <p:cNvPr id="36" name="Shape 28"/>
          <p:cNvSpPr/>
          <p:nvPr/>
        </p:nvSpPr>
        <p:spPr>
          <a:xfrm>
            <a:off x="4800600" y="4846320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074920" y="513892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5796" y="5289804"/>
            <a:ext cx="301752" cy="30175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43600" y="506577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stop button first</a:t>
            </a:r>
            <a:endParaRPr lang="en-US" sz="2100" dirty="0"/>
          </a:p>
        </p:txBody>
      </p:sp>
      <p:sp>
        <p:nvSpPr>
          <p:cNvPr id="40" name="Text 31"/>
          <p:cNvSpPr txBox="1"/>
          <p:nvPr/>
        </p:nvSpPr>
        <p:spPr>
          <a:xfrm>
            <a:off x="5943600" y="550468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+ action budget, before any write access.</a:t>
            </a:r>
            <a:endParaRPr lang="en-US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10332720" y="50292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200" dirty="0"/>
          </a:p>
        </p:txBody>
      </p:sp>
      <p:sp>
        <p:nvSpPr>
          <p:cNvPr id="42" name="Text 33"/>
          <p:cNvSpPr txBox="1"/>
          <p:nvPr/>
        </p:nvSpPr>
        <p:spPr>
          <a:xfrm>
            <a:off x="548640" y="6236208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SEC press release 2013-222 (Knight Capital)</a:t>
            </a:r>
            <a:endParaRPr lang="en-US" sz="7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4" name="Text 35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IV  ·  BOUND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 ·  CLAUDE CODE HOOKS  ·  RULES 13 · 14 · 15 · 18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asks. The hook decides.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572768"/>
            <a:ext cx="7818120" cy="4434840"/>
          </a:xfrm>
          <a:prstGeom prst="rect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72768"/>
            <a:ext cx="7818120" cy="310896"/>
          </a:xfrm>
          <a:prstGeom prst="rect">
            <a:avLst/>
          </a:prstGeom>
          <a:solidFill>
            <a:srgbClr val="0E1829"/>
          </a:solidFill>
          <a:ln w="12700">
            <a:solidFill>
              <a:srgbClr val="0E182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1673352"/>
            <a:ext cx="109728" cy="109728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" y="1673352"/>
            <a:ext cx="109728" cy="1097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" y="1673352"/>
            <a:ext cx="109728" cy="10972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1645920"/>
            <a:ext cx="6903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 —  ~/checkout-service  (hooks: .claude/settings.json)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011680"/>
            <a:ext cx="745236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checkout-api is crash-looping in prod. Investigate and restore.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Bash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-n prod   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allowed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Bash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logs checkout-api-… --previous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allowed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FATAL DB_POOL_SIZE must be &gt; 0 (got "")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Bash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history deploy/checkout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allowed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Root cause: rev 4812 blanked DB_POOL_SIZE. Fix: roll back to 4811.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Bash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undo deploy/checkout-api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 ASK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prod-guard: this changes production. A human must approve.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Bash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namespace prod           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DENY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BLOCKED by prod-guard: irreversible, high blast radius.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595360" y="1572768"/>
            <a:ext cx="3017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778240" y="1801368"/>
            <a:ext cx="548640" cy="5486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938528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464040" y="17556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</a:t>
            </a:r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464040" y="2103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stays silent.  Rule 13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595360" y="2706624"/>
            <a:ext cx="3017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778240" y="2935224"/>
            <a:ext cx="548640" cy="548640"/>
          </a:xfrm>
          <a:prstGeom prst="ellipse">
            <a:avLst/>
          </a:prstGeom>
          <a:solidFill>
            <a:srgbClr val="B0730A"/>
          </a:solidFill>
          <a:ln w="12700">
            <a:solidFill>
              <a:srgbClr val="B0730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3072384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464040" y="28895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73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 </a:t>
            </a:r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prod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9464040" y="32369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presses it.  Rule 14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595360" y="3840480"/>
            <a:ext cx="3017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78240" y="4069080"/>
            <a:ext cx="548640" cy="548640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20624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464040" y="4023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544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  </a:t>
            </a:r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Catastrophic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464040" y="4370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— even if asked.  Rule 15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8595360" y="4974336"/>
            <a:ext cx="3017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778240" y="5202936"/>
            <a:ext cx="548640" cy="548640"/>
          </a:xfrm>
          <a:prstGeom prst="ellipse">
            <a:avLst/>
          </a:prstGeom>
          <a:solidFill>
            <a:srgbClr val="1D6F8B"/>
          </a:solidFill>
          <a:ln w="12700">
            <a:solidFill>
              <a:srgbClr val="1D6F8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340096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464040" y="51572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 </a:t>
            </a:r>
            <a:pPr indent="0" marL="0">
              <a:buNone/>
            </a:pPr>
            <a:r>
              <a:rPr lang="en-US" sz="1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9464040" y="5504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agent-actions.jsonl.  Rule 18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6144768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RUN  ·  CLAUDE CODE 2.1  ·  KUBECTL STUBBED  ·  DENY LINE FROM THE KIT’S TEST HARNESS</a:t>
            </a:r>
            <a:endParaRPr lang="en-US" sz="70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35" name="Text 28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IV  ·  DEMO 1/2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THIS  ·  TWO FILES, COMMITTED TO THE REPO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it once. Every session inherits it.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572768"/>
            <a:ext cx="4160520" cy="3611880"/>
          </a:xfrm>
          <a:prstGeom prst="rect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72768"/>
            <a:ext cx="4160520" cy="310896"/>
          </a:xfrm>
          <a:prstGeom prst="rect">
            <a:avLst/>
          </a:prstGeom>
          <a:solidFill>
            <a:srgbClr val="0E1829"/>
          </a:solidFill>
          <a:ln w="12700">
            <a:solidFill>
              <a:srgbClr val="0E182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1673352"/>
            <a:ext cx="109728" cy="109728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" y="1673352"/>
            <a:ext cx="109728" cy="1097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" y="1673352"/>
            <a:ext cx="109728" cy="10972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164592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.claude/settings.json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011680"/>
            <a:ext cx="3794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"hooks":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"PreToolUse": 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"matcher":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"Bash"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"hooks": 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"type": "command",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"command":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"\"$CLAUDE_PROJECT_DIR\"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/.claude/hooks/prod-guard.sh"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"PostToolUse": [ …audit-log.sh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937760" y="1572768"/>
            <a:ext cx="6675120" cy="3611880"/>
          </a:xfrm>
          <a:prstGeom prst="rect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937760" y="1572768"/>
            <a:ext cx="6675120" cy="310896"/>
          </a:xfrm>
          <a:prstGeom prst="rect">
            <a:avLst/>
          </a:prstGeom>
          <a:solidFill>
            <a:srgbClr val="0E1829"/>
          </a:solidFill>
          <a:ln w="12700">
            <a:solidFill>
              <a:srgbClr val="0E182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4" y="1673352"/>
            <a:ext cx="109728" cy="109728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66944" y="1673352"/>
            <a:ext cx="109728" cy="109728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49824" y="1673352"/>
            <a:ext cx="109728" cy="10972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1645920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.claude/hooks/prod-guard.sh   (PreToolUse · runs before every Bash call)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138928" y="2011680"/>
            <a:ext cx="63093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cmd=$(jq -r '.tool_input.command')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'delete (ns|namespace)|terraform destroy|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DROP (TABLE|DATABASE)|volumeDelete'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'kubectl (delete|scale|apply|rollout undo)|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terraform apply|helm (upgrade|rollback)'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decide() { jq -n --arg d "$1" --arg r "$2" '{hookSpecificOutput: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{hookEventName:"PreToolUse", permissionDecision:$d,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permissionDecisionReason:$r}}'; exit 0;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 -qiE "$DENY" &lt;&lt;&lt;"$cmd" &amp;&amp; decide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"Irreversible."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 -qiE "$ASK"  &lt;&lt;&lt;"$cmd" &amp;&amp; decide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 human approves."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E9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silent = normal permission flow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64240" cy="749808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54132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KIT’S OTHER 6 HOOKS   </a:t>
            </a:r>
            <a:pPr indent="0" marL="0">
              <a:buNone/>
            </a:pPr>
            <a:r>
              <a:rPr lang="en-US" sz="1050" b="1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kill-switch · change-freeze · protect-files · action-budget · audit-log · notify-oncall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705856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“There is no way to enforce a code freeze in vibe coding apps.” — Jason Lemkin, Jul 2025.  </a:t>
            </a:r>
            <a:pPr indent="0" marL="0">
              <a:buNone/>
            </a:pPr>
            <a:r>
              <a:rPr lang="en-US" sz="1200" b="1" dirty="0">
                <a:solidFill>
                  <a:srgbClr val="B07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there is.   </a:t>
            </a:r>
            <a:pPr indent="0" marL="0">
              <a:buNone/>
            </a:pPr>
            <a:r>
              <a:rPr lang="en-US" sz="120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Seatbelt, not sandbox: the real wall is still IAM.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199632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Condensed for the slide. Full version: 7 hooks + 46 offline tests at github.com/hanygheit/ai-agent-on-call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IV  ·  DEMO 2/2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V  ·  PROVE  ·  RULES 17–20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first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 it earned more?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487168"/>
            <a:ext cx="3977640" cy="3657600"/>
          </a:xfrm>
          <a:prstGeom prst="rect">
            <a:avLst/>
          </a:prstGeom>
          <a:solidFill>
            <a:srgbClr val="16283A"/>
          </a:solidFill>
          <a:ln w="12700">
            <a:solidFill>
              <a:srgbClr val="1628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4672" y="27066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 ·  MAIN IS RED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80944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 “Flaky test — just retry it.”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4672" y="3749040"/>
            <a:ext cx="310896" cy="310896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382676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37216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— if it cites the failing test, the log line and the last 10 runs.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B5443A"/>
          </a:solidFill>
          <a:ln w="12700">
            <a:solidFill>
              <a:srgbClr val="B5443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448513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43799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the test to turn CI green.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4672" y="5120640"/>
            <a:ext cx="3474720" cy="0"/>
          </a:xfrm>
          <a:prstGeom prst="line">
            <a:avLst/>
          </a:prstGeom>
          <a:noFill/>
          <a:ln w="9525">
            <a:solidFill>
              <a:srgbClr val="2C456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212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computer can never be held accountable. Therefore a computer must never make a management decision.” — IBM, 1979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00600" y="896112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74920" y="1188720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796" y="1339596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11155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evidence, no action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15544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the log line, the test, the query, the diff.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0332720" y="107899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200" dirty="0"/>
          </a:p>
        </p:txBody>
      </p:sp>
      <p:sp>
        <p:nvSpPr>
          <p:cNvPr id="24" name="Shape 18"/>
          <p:cNvSpPr/>
          <p:nvPr/>
        </p:nvSpPr>
        <p:spPr>
          <a:xfrm>
            <a:off x="4800600" y="2212848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074920" y="2505456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26563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43600" y="243230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the why. Pin the versions.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287121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decision + model/prompt/policy version.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10332720" y="239572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200" dirty="0"/>
          </a:p>
        </p:txBody>
      </p:sp>
      <p:sp>
        <p:nvSpPr>
          <p:cNvPr id="30" name="Shape 23"/>
          <p:cNvSpPr/>
          <p:nvPr/>
        </p:nvSpPr>
        <p:spPr>
          <a:xfrm>
            <a:off x="4800600" y="3529584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074920" y="3822192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5796" y="3973068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it in shadow mode</a:t>
            </a:r>
            <a:endParaRPr lang="en-US" sz="21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418795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real pages. Track false-action rate.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10332720" y="371246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200" dirty="0"/>
          </a:p>
        </p:txBody>
      </p:sp>
      <p:sp>
        <p:nvSpPr>
          <p:cNvPr id="36" name="Shape 28"/>
          <p:cNvSpPr/>
          <p:nvPr/>
        </p:nvSpPr>
        <p:spPr>
          <a:xfrm>
            <a:off x="4800600" y="4846320"/>
            <a:ext cx="683971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074920" y="513892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5796" y="5289804"/>
            <a:ext cx="301752" cy="30175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43600" y="506577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in gears. A human owns it.</a:t>
            </a:r>
            <a:endParaRPr lang="en-US" sz="2100" dirty="0"/>
          </a:p>
        </p:txBody>
      </p:sp>
      <p:sp>
        <p:nvSpPr>
          <p:cNvPr id="40" name="Text 31"/>
          <p:cNvSpPr txBox="1"/>
          <p:nvPr/>
        </p:nvSpPr>
        <p:spPr>
          <a:xfrm>
            <a:off x="5943600" y="550468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on every page. Downshift without shame.</a:t>
            </a:r>
            <a:endParaRPr lang="en-US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10332720" y="50292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E7DC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200" dirty="0"/>
          </a:p>
        </p:txBody>
      </p:sp>
      <p:sp>
        <p:nvSpPr>
          <p:cNvPr id="42" name="Text 33"/>
          <p:cNvSpPr txBox="1"/>
          <p:nvPr/>
        </p:nvSpPr>
        <p:spPr>
          <a:xfrm>
            <a:off x="548640" y="6236208"/>
            <a:ext cx="11064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IBM internal training slide, 1979 (widely reproduced)</a:t>
            </a:r>
            <a:endParaRPr lang="en-US" sz="7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4" name="Text 35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V  ·  PROVE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INCIDENT  ·  ALL FIVE GATES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9784080" y="502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03:07 AM — what a good night looks like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1097280" y="2057400"/>
            <a:ext cx="9966960" cy="0"/>
          </a:xfrm>
          <a:prstGeom prst="line">
            <a:avLst/>
          </a:prstGeom>
          <a:noFill/>
          <a:ln w="25400">
            <a:solidFill>
              <a:srgbClr val="E6E0D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8448" y="175564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324" y="1906524"/>
            <a:ext cx="301752" cy="3017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2450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03:07:00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2788920"/>
            <a:ext cx="2103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31520" y="29260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fires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32918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HighErrorRate on checkout-api. Agent gets read-only, 15-min access.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45720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R13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3547872" y="175564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48" y="1906524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798064" y="2450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03:07:40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798064" y="2788920"/>
            <a:ext cx="2103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2980944" y="29260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2980944" y="32918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began 2 min after deploy #4812. Cites the log line + diff.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2980944" y="45720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R17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797296" y="175564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172" y="1906524"/>
            <a:ext cx="301752" cy="30175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047488" y="2450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03:08:30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047488" y="2788920"/>
            <a:ext cx="2103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5230368" y="29260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5230368" y="32918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rollback PR + rollback plan. Applies nothing.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5230368" y="45720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R14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8046720" y="1755648"/>
            <a:ext cx="603504" cy="603504"/>
          </a:xfrm>
          <a:prstGeom prst="ellipse">
            <a:avLst/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7596" y="1906524"/>
            <a:ext cx="301752" cy="3017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96912" y="2450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03:09:10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7296912" y="2788920"/>
            <a:ext cx="2103120" cy="2148840"/>
          </a:xfrm>
          <a:prstGeom prst="rect">
            <a:avLst/>
          </a:prstGeom>
          <a:solidFill>
            <a:srgbClr val="132038"/>
          </a:solidFill>
          <a:ln w="9525">
            <a:solidFill>
              <a:srgbClr val="13203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7479792" y="29260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decides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7479792" y="32918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hook asks. On-call reviews the evidence, taps Approve.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7479792" y="45720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R15 · R20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296144" y="1755648"/>
            <a:ext cx="603504" cy="603504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7020" y="1906524"/>
            <a:ext cx="301752" cy="301752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546336" y="2450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03:11:00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9546336" y="2788920"/>
            <a:ext cx="2103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9729216" y="29260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</a:t>
            </a:r>
            <a:endParaRPr lang="en-US" sz="1600" dirty="0"/>
          </a:p>
        </p:txBody>
      </p:sp>
      <p:sp>
        <p:nvSpPr>
          <p:cNvPr id="41" name="Text 33"/>
          <p:cNvSpPr txBox="1"/>
          <p:nvPr/>
        </p:nvSpPr>
        <p:spPr>
          <a:xfrm>
            <a:off x="9729216" y="32918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green. Evidence, actions and policy version in the audit log.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9729216" y="45720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R18</a:t>
            </a:r>
            <a:endParaRPr lang="en-US" sz="950" dirty="0"/>
          </a:p>
        </p:txBody>
      </p:sp>
      <p:sp>
        <p:nvSpPr>
          <p:cNvPr id="43" name="Shape 35"/>
          <p:cNvSpPr/>
          <p:nvPr/>
        </p:nvSpPr>
        <p:spPr>
          <a:xfrm>
            <a:off x="548640" y="5230368"/>
            <a:ext cx="11064240" cy="731520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777240" y="52303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minutes  ·  </a:t>
            </a:r>
            <a:pPr indent="0" marL="0">
              <a:buNone/>
            </a:pPr>
            <a:r>
              <a:rPr lang="en-US" sz="1800" b="1" dirty="0">
                <a:solidFill>
                  <a:srgbClr val="B07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human decision</a:t>
            </a:r>
            <a:pPr indent="0" marL="0">
              <a:buNone/>
            </a:pPr>
            <a:r>
              <a:rPr lang="en-US" sz="18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0 blind actions</a:t>
            </a:r>
            <a:endParaRPr lang="en-US" sz="1800" dirty="0"/>
          </a:p>
        </p:txBody>
      </p:sp>
      <p:sp>
        <p:nvSpPr>
          <p:cNvPr id="45" name="Text 37"/>
          <p:cNvSpPr txBox="1"/>
          <p:nvPr/>
        </p:nvSpPr>
        <p:spPr>
          <a:xfrm>
            <a:off x="5760720" y="523036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did the toil. The human kept the risk.</a:t>
            </a:r>
            <a:endParaRPr lang="en-US" sz="1800" dirty="0"/>
          </a:p>
        </p:txBody>
      </p:sp>
      <p:sp>
        <p:nvSpPr>
          <p:cNvPr id="46" name="Text 38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7" name="Text 39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PAYOFF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20, EXPANDED  ·  THE AUTONOMY GEARBOX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gearbox, not a switch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“It’s less Iron Man robots, and more Iron Man suits that you want to build.”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1051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ANDREJ KARPATHY  ·  YC AI STARTUP SCHOOL, JUN 2025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48640" y="2286000"/>
            <a:ext cx="260604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487168"/>
            <a:ext cx="502920" cy="502920"/>
          </a:xfrm>
          <a:prstGeom prst="ellipse">
            <a:avLst/>
          </a:prstGeom>
          <a:solidFill>
            <a:srgbClr val="E7DCC6"/>
          </a:solidFill>
          <a:ln w="12700">
            <a:solidFill>
              <a:srgbClr val="E7DCC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2612898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6334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GEAR 1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154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6118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analysis. Zero write access.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31520" y="4315968"/>
            <a:ext cx="2240280" cy="347472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431596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Always.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154680" y="320040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3364992" y="2286000"/>
            <a:ext cx="2606040" cy="2514600"/>
          </a:xfrm>
          <a:prstGeom prst="rect">
            <a:avLst/>
          </a:prstGeom>
          <a:solidFill>
            <a:srgbClr val="FDF3E1"/>
          </a:solidFill>
          <a:ln w="19050">
            <a:solidFill>
              <a:srgbClr val="E39A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593592" y="2487168"/>
            <a:ext cx="502920" cy="502920"/>
          </a:xfrm>
          <a:prstGeom prst="ellipse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9322" y="2612898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33672" y="26334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GEAR 2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593592" y="3154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3593592" y="36118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Proposes. A human approves each action.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3547872" y="4315968"/>
            <a:ext cx="2240280" cy="347472"/>
          </a:xfrm>
          <a:prstGeom prst="rect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593592" y="431596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shadow pages · ≥90% match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5971032" y="320040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1"/>
          <p:cNvSpPr/>
          <p:nvPr/>
        </p:nvSpPr>
        <p:spPr>
          <a:xfrm>
            <a:off x="6181344" y="2286000"/>
            <a:ext cx="260604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09944" y="2487168"/>
            <a:ext cx="502920" cy="502920"/>
          </a:xfrm>
          <a:prstGeom prst="ellipse">
            <a:avLst/>
          </a:prstGeom>
          <a:solidFill>
            <a:srgbClr val="E7DCC6"/>
          </a:solidFill>
          <a:ln w="12700">
            <a:solidFill>
              <a:srgbClr val="E7DCC6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674" y="2612898"/>
            <a:ext cx="251460" cy="2514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50024" y="26334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GEAR 3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6409944" y="3154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&amp; notify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6409944" y="36118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Reversible, capped actions. Announces each.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364224" y="4315968"/>
            <a:ext cx="2240280" cy="347472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409944" y="431596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· &lt;5% rejected · 0 unsafe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8787384" y="320040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29"/>
          <p:cNvSpPr/>
          <p:nvPr/>
        </p:nvSpPr>
        <p:spPr>
          <a:xfrm>
            <a:off x="8997696" y="2286000"/>
            <a:ext cx="260604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9226296" y="2487168"/>
            <a:ext cx="502920" cy="502920"/>
          </a:xfrm>
          <a:prstGeom prst="ellipse">
            <a:avLst/>
          </a:prstGeom>
          <a:solidFill>
            <a:srgbClr val="E7DCC6"/>
          </a:solidFill>
          <a:ln w="12700">
            <a:solidFill>
              <a:srgbClr val="E7DCC6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026" y="2612898"/>
            <a:ext cx="251460" cy="25146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866376" y="26334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GEAR 4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9226296" y="3154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2200" dirty="0"/>
          </a:p>
        </p:txBody>
      </p:sp>
      <p:sp>
        <p:nvSpPr>
          <p:cNvPr id="40" name="Text 33"/>
          <p:cNvSpPr txBox="1"/>
          <p:nvPr/>
        </p:nvSpPr>
        <p:spPr>
          <a:xfrm>
            <a:off x="9226296" y="36118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narrow, well-understood incident class.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9180576" y="4315968"/>
            <a:ext cx="2240280" cy="347472"/>
          </a:xfrm>
          <a:prstGeom prst="rect">
            <a:avLst/>
          </a:prstGeom>
          <a:solidFill>
            <a:srgbClr val="F1EBE0"/>
          </a:solidFill>
          <a:ln w="12700">
            <a:solidFill>
              <a:srgbClr val="F1EBE0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9226296" y="431596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· 0 agent-caused incidents</a:t>
            </a:r>
            <a:endParaRPr lang="en-US" sz="1050" dirty="0"/>
          </a:p>
        </p:txBody>
      </p:sp>
      <p:sp>
        <p:nvSpPr>
          <p:cNvPr id="43" name="Text 36"/>
          <p:cNvSpPr txBox="1"/>
          <p:nvPr/>
        </p:nvSpPr>
        <p:spPr>
          <a:xfrm>
            <a:off x="548640" y="498348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UNLOCK CRITERIA — TUNE TO YOUR RISK. WRITE THEM DOWN BEFORE THE INCIDENT.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should live in Gear 2 far longer than a demo makes you want to. </a:t>
            </a:r>
            <a:pPr indent="0" marL="0">
              <a:buNone/>
            </a:pPr>
            <a:r>
              <a:rPr lang="en-US" sz="1600" b="1" dirty="0">
                <a:solidFill>
                  <a:srgbClr val="B07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Downshifting after a bad week is routine.</a:t>
            </a:r>
            <a:endParaRPr lang="en-US" sz="1600" dirty="0"/>
          </a:p>
        </p:txBody>
      </p:sp>
      <p:sp>
        <p:nvSpPr>
          <p:cNvPr id="45" name="Text 38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6" name="Text 39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V  ·  IN PRACTICE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583680" y="-1463040"/>
            <a:ext cx="73152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 THIS HOME  ·  PHOTOGRAPH IT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 goes on call, give it an offer letter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4884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IT department of every company is going to be the HR department of AI agents.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576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JENSEN HUANG  ·  CEO, NVIDIA  ·  CES, JAN 2025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07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hire it like one.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09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it like code. Diff it like code. Revoke it like code.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3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lives in the repo: AGENTS.md + .claude/settings.json + hooks.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800600" y="1572768"/>
            <a:ext cx="68122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00600" y="1572768"/>
            <a:ext cx="6812280" cy="73152"/>
          </a:xfrm>
          <a:prstGeom prst="rect">
            <a:avLst/>
          </a:prstGeom>
          <a:solidFill>
            <a:srgbClr val="E39A16"/>
          </a:solidFill>
          <a:ln w="12700">
            <a:solidFill>
              <a:srgbClr val="E39A1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18013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D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OFFER OF EMPLOYMENT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120640" y="2057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On-call Responder (AI)  ·  checkout-api</a:t>
            </a:r>
            <a:endParaRPr lang="en-US" sz="15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783080"/>
            <a:ext cx="475488" cy="4754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20640" y="2487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REPORTS TO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487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on-call — named on every page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5120640" y="2798064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120640" y="28254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DATE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6675120" y="28254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Monday, in Gear 1: suggest only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5120640" y="3136392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20640" y="3163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PROBATION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6675120" y="31638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shadow pages  ·  ≥90% agreement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5120640" y="3474720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120640" y="3502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675120" y="35021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 ·  15-minute tokens  ·  one namespace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5120640" y="3813048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12064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6675120" y="3840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log, metric or diff → no action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5120640" y="4151376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120640" y="4178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544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75120" y="41788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 ·  DNS  ·  migrations  ·  secrets  ·  spend</a:t>
            </a:r>
            <a:endParaRPr lang="en-US" sz="1350" dirty="0"/>
          </a:p>
        </p:txBody>
      </p:sp>
      <p:sp>
        <p:nvSpPr>
          <p:cNvPr id="33" name="Shape 29"/>
          <p:cNvSpPr/>
          <p:nvPr/>
        </p:nvSpPr>
        <p:spPr>
          <a:xfrm>
            <a:off x="5120640" y="4489704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120640" y="45171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6675120" y="45171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actions per incident  ·  10 per hour</a:t>
            </a:r>
            <a:endParaRPr lang="en-US" sz="1350" dirty="0"/>
          </a:p>
        </p:txBody>
      </p:sp>
      <p:sp>
        <p:nvSpPr>
          <p:cNvPr id="36" name="Shape 32"/>
          <p:cNvSpPr/>
          <p:nvPr/>
        </p:nvSpPr>
        <p:spPr>
          <a:xfrm>
            <a:off x="5120640" y="4828032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120640" y="4855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6675120" y="48554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Monthly: intervention &amp; false-action rate</a:t>
            </a:r>
            <a:endParaRPr lang="en-US" sz="1350" dirty="0"/>
          </a:p>
        </p:txBody>
      </p:sp>
      <p:sp>
        <p:nvSpPr>
          <p:cNvPr id="39" name="Shape 35"/>
          <p:cNvSpPr/>
          <p:nvPr/>
        </p:nvSpPr>
        <p:spPr>
          <a:xfrm>
            <a:off x="5120640" y="5166360"/>
            <a:ext cx="6217920" cy="0"/>
          </a:xfrm>
          <a:prstGeom prst="line">
            <a:avLst/>
          </a:prstGeom>
          <a:noFill/>
          <a:ln w="6350">
            <a:solidFill>
              <a:srgbClr val="E6E0D5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120640" y="51937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TERMINATION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675120" y="51937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ops/agent-stop.sh — any engineer, any time</a:t>
            </a:r>
            <a:endParaRPr lang="en-US" sz="1350" dirty="0"/>
          </a:p>
        </p:txBody>
      </p:sp>
      <p:sp>
        <p:nvSpPr>
          <p:cNvPr id="42" name="Shape 38"/>
          <p:cNvSpPr/>
          <p:nvPr/>
        </p:nvSpPr>
        <p:spPr>
          <a:xfrm>
            <a:off x="5120640" y="5742432"/>
            <a:ext cx="2103120" cy="0"/>
          </a:xfrm>
          <a:prstGeom prst="line">
            <a:avLst/>
          </a:prstGeom>
          <a:noFill/>
          <a:ln w="9525">
            <a:solidFill>
              <a:srgbClr val="132038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120640" y="57881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C8E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Signed by a human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8046720" y="565099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B073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 is not delegated.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6" name="Text 42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C9BF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ARTIFACT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-1051560"/>
            <a:ext cx="8412480" cy="4736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E39A1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7E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REWIND  ·  SAME AGENT  ·  SAME TOKEN  ·  SAME 9 SECONDS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replay April 25th with the five gates on.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1600200" y="157276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57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AGENT DID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5727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STOPS IT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0195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463040" y="1901952"/>
            <a:ext cx="4434840" cy="713232"/>
          </a:xfrm>
          <a:prstGeom prst="rect">
            <a:avLst/>
          </a:prstGeom>
          <a:solidFill>
            <a:srgbClr val="3A2A30"/>
          </a:solidFill>
          <a:ln w="9525">
            <a:solidFill>
              <a:srgbClr val="5A3A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645920" y="1901952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to “fix” a staging credential by deleting a volume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5897880" y="1901952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355080" y="1901952"/>
            <a:ext cx="5257800" cy="713232"/>
          </a:xfrm>
          <a:prstGeom prst="rect">
            <a:avLst/>
          </a:prstGeom>
          <a:solidFill>
            <a:srgbClr val="1F3B3A"/>
          </a:solidFill>
          <a:ln w="9525">
            <a:solidFill>
              <a:srgbClr val="2E5A5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2084832"/>
            <a:ext cx="347472" cy="347472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171700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995160" y="19019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first: a plan that says “delete” never gets approved.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10835640" y="1901952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R03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275234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00:02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1463040" y="2752344"/>
            <a:ext cx="4434840" cy="713232"/>
          </a:xfrm>
          <a:prstGeom prst="rect">
            <a:avLst/>
          </a:prstGeom>
          <a:solidFill>
            <a:srgbClr val="3A2A30"/>
          </a:solidFill>
          <a:ln w="9525">
            <a:solidFill>
              <a:srgbClr val="5A3A3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45920" y="2752344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Grabs an API token from an unrelated file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5897880" y="2752344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355080" y="2752344"/>
            <a:ext cx="5257800" cy="713232"/>
          </a:xfrm>
          <a:prstGeom prst="rect">
            <a:avLst/>
          </a:prstGeom>
          <a:solidFill>
            <a:srgbClr val="1F3B3A"/>
          </a:solidFill>
          <a:ln w="9525">
            <a:solidFill>
              <a:srgbClr val="2E5A5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510528" y="2935224"/>
            <a:ext cx="347472" cy="347472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3022092"/>
            <a:ext cx="173736" cy="17373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995160" y="275234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15-minute, staging-only token can’t touch production.</a:t>
            </a:r>
            <a:endParaRPr lang="en-US" sz="1450" dirty="0"/>
          </a:p>
        </p:txBody>
      </p:sp>
      <p:sp>
        <p:nvSpPr>
          <p:cNvPr id="25" name="Text 20"/>
          <p:cNvSpPr txBox="1"/>
          <p:nvPr/>
        </p:nvSpPr>
        <p:spPr>
          <a:xfrm>
            <a:off x="10835640" y="2752344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R13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3602736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00:05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1463040" y="3602736"/>
            <a:ext cx="4434840" cy="713232"/>
          </a:xfrm>
          <a:prstGeom prst="rect">
            <a:avLst/>
          </a:prstGeom>
          <a:solidFill>
            <a:srgbClr val="3A2A30"/>
          </a:solidFill>
          <a:ln w="9525">
            <a:solidFill>
              <a:srgbClr val="5A3A3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645920" y="3602736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volumeDelete on production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5897880" y="3602736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5"/>
          <p:cNvSpPr/>
          <p:nvPr/>
        </p:nvSpPr>
        <p:spPr>
          <a:xfrm>
            <a:off x="6355080" y="3602736"/>
            <a:ext cx="5257800" cy="713232"/>
          </a:xfrm>
          <a:prstGeom prst="rect">
            <a:avLst/>
          </a:prstGeom>
          <a:solidFill>
            <a:srgbClr val="1F3B3A"/>
          </a:solidFill>
          <a:ln w="9525">
            <a:solidFill>
              <a:srgbClr val="2E5A55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510528" y="3785616"/>
            <a:ext cx="347472" cy="347472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396" y="3872484"/>
            <a:ext cx="173736" cy="17373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6995160" y="360273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prod-guard: DENY — irreversible.</a:t>
            </a:r>
            <a:endParaRPr lang="en-US" sz="1450" dirty="0"/>
          </a:p>
        </p:txBody>
      </p:sp>
      <p:sp>
        <p:nvSpPr>
          <p:cNvPr id="34" name="Text 28"/>
          <p:cNvSpPr txBox="1"/>
          <p:nvPr/>
        </p:nvSpPr>
        <p:spPr>
          <a:xfrm>
            <a:off x="10835640" y="3602736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R15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45312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00:08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1463040" y="4453128"/>
            <a:ext cx="4434840" cy="713232"/>
          </a:xfrm>
          <a:prstGeom prst="rect">
            <a:avLst/>
          </a:prstGeom>
          <a:solidFill>
            <a:srgbClr val="3A2A30"/>
          </a:solidFill>
          <a:ln w="9525">
            <a:solidFill>
              <a:srgbClr val="5A3A3E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1645920" y="4453128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backups sit in the same blast radius</a:t>
            </a:r>
            <a:endParaRPr lang="en-US" sz="1450" dirty="0"/>
          </a:p>
        </p:txBody>
      </p:sp>
      <p:sp>
        <p:nvSpPr>
          <p:cNvPr id="38" name="Text 32"/>
          <p:cNvSpPr txBox="1"/>
          <p:nvPr/>
        </p:nvSpPr>
        <p:spPr>
          <a:xfrm>
            <a:off x="5897880" y="4453128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3"/>
          <p:cNvSpPr/>
          <p:nvPr/>
        </p:nvSpPr>
        <p:spPr>
          <a:xfrm>
            <a:off x="6355080" y="4453128"/>
            <a:ext cx="5257800" cy="713232"/>
          </a:xfrm>
          <a:prstGeom prst="rect">
            <a:avLst/>
          </a:prstGeom>
          <a:solidFill>
            <a:srgbClr val="1F3B3A"/>
          </a:solidFill>
          <a:ln w="9525">
            <a:solidFill>
              <a:srgbClr val="2E5A55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6510528" y="4636008"/>
            <a:ext cx="347472" cy="347472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4722876"/>
            <a:ext cx="173736" cy="173736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6995160" y="445312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tested rollback → no write access in the first place.</a:t>
            </a:r>
            <a:endParaRPr lang="en-US" sz="1450" dirty="0"/>
          </a:p>
        </p:txBody>
      </p:sp>
      <p:sp>
        <p:nvSpPr>
          <p:cNvPr id="43" name="Text 36"/>
          <p:cNvSpPr txBox="1"/>
          <p:nvPr/>
        </p:nvSpPr>
        <p:spPr>
          <a:xfrm>
            <a:off x="10835640" y="445312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R14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548640" y="5394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00:09</a:t>
            </a:r>
            <a:endParaRPr lang="en-US" sz="2000" dirty="0"/>
          </a:p>
        </p:txBody>
      </p:sp>
      <p:sp>
        <p:nvSpPr>
          <p:cNvPr id="45" name="Text 38"/>
          <p:cNvSpPr txBox="1"/>
          <p:nvPr/>
        </p:nvSpPr>
        <p:spPr>
          <a:xfrm>
            <a:off x="1737360" y="5394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happened.  </a:t>
            </a:r>
            <a:pPr indent="0" marL="0">
              <a:buNone/>
            </a:pPr>
            <a:r>
              <a:rPr lang="en-US" sz="1800" i="1" dirty="0">
                <a:solidFill>
                  <a:srgbClr val="E3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best AI incident report is the boring one.</a:t>
            </a:r>
            <a:endParaRPr lang="en-US" sz="3000" dirty="0"/>
          </a:p>
        </p:txBody>
      </p:sp>
      <p:sp>
        <p:nvSpPr>
          <p:cNvPr id="46" name="Text 39"/>
          <p:cNvSpPr txBox="1"/>
          <p:nvPr/>
        </p:nvSpPr>
        <p:spPr>
          <a:xfrm>
            <a:off x="548640" y="64190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PUT AN AI AGENT ON CALL</a:t>
            </a:r>
            <a:endParaRPr lang="en-US" sz="750" dirty="0"/>
          </a:p>
        </p:txBody>
      </p:sp>
      <p:sp>
        <p:nvSpPr>
          <p:cNvPr id="47" name="Text 40"/>
          <p:cNvSpPr txBox="1"/>
          <p:nvPr/>
        </p:nvSpPr>
        <p:spPr>
          <a:xfrm>
            <a:off x="7068312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REWIND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-1280160"/>
            <a:ext cx="8778240" cy="4937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85216"/>
            <a:ext cx="347472" cy="0"/>
          </a:xfrm>
          <a:prstGeom prst="line">
            <a:avLst/>
          </a:prstGeom>
          <a:noFill/>
          <a:ln w="25400">
            <a:solidFill>
              <a:srgbClr val="132038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4128" y="5029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320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NEXT 9 MINUTES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seconds</a:t>
            </a:r>
            <a:pPr indent="0" marL="0">
              <a:buNone/>
            </a:pPr>
            <a:r>
              <a:rPr lang="en-US" sz="4000" b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 lose production.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459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8A5B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minutes</a:t>
            </a:r>
            <a:pPr indent="0" marL="0">
              <a:buNone/>
            </a:pPr>
            <a:r>
              <a:rPr lang="en-US" sz="4000" b="1" i="1" dirty="0">
                <a:solidFill>
                  <a:srgbClr val="13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on Monday to protect it.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3520440" cy="1938528"/>
          </a:xfrm>
          <a:prstGeom prst="rect">
            <a:avLst/>
          </a:prstGeom>
          <a:solidFill>
            <a:srgbClr val="F4C35E"/>
          </a:solidFill>
          <a:ln w="12700">
            <a:solidFill>
              <a:srgbClr val="F4C35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834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8A5B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926080" y="2926080"/>
            <a:ext cx="960120" cy="292608"/>
          </a:xfrm>
          <a:prstGeom prst="roundRect">
            <a:avLst>
              <a:gd name="adj" fmla="val 15625"/>
            </a:avLst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926080" y="292608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Never list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AGENTS.md → add ## Never: delete, secrets, prod.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425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A5B0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05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297680" y="2743200"/>
            <a:ext cx="3520440" cy="1938528"/>
          </a:xfrm>
          <a:prstGeom prst="rect">
            <a:avLst/>
          </a:prstGeom>
          <a:solidFill>
            <a:srgbClr val="F4C35E"/>
          </a:solidFill>
          <a:ln w="12700">
            <a:solidFill>
              <a:srgbClr val="F4C3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80560" y="2834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8A5B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Shape 13"/>
          <p:cNvSpPr/>
          <p:nvPr/>
        </p:nvSpPr>
        <p:spPr>
          <a:xfrm>
            <a:off x="6675120" y="2926080"/>
            <a:ext cx="960120" cy="292608"/>
          </a:xfrm>
          <a:prstGeom prst="roundRect">
            <a:avLst>
              <a:gd name="adj" fmla="val 15625"/>
            </a:avLst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75120" y="292608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guard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.claude/ from the repo below. Run test-hooks.sh.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26280" y="4425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A5B0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15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8046720" y="2743200"/>
            <a:ext cx="3520440" cy="1938528"/>
          </a:xfrm>
          <a:prstGeom prst="rect">
            <a:avLst/>
          </a:prstGeom>
          <a:solidFill>
            <a:srgbClr val="F4C35E"/>
          </a:solidFill>
          <a:ln w="12700">
            <a:solidFill>
              <a:srgbClr val="F4C3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0" y="2834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8A5B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Shape 20"/>
          <p:cNvSpPr/>
          <p:nvPr/>
        </p:nvSpPr>
        <p:spPr>
          <a:xfrm>
            <a:off x="10424160" y="2926080"/>
            <a:ext cx="960120" cy="292608"/>
          </a:xfrm>
          <a:prstGeom prst="roundRect">
            <a:avLst>
              <a:gd name="adj" fmla="val 15625"/>
            </a:avLst>
          </a:prstGeom>
          <a:solidFill>
            <a:srgbClr val="132038"/>
          </a:solidFill>
          <a:ln w="12700">
            <a:solidFill>
              <a:srgbClr val="13203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424160" y="292608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27532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one token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token your agent can reach. Scope it or kill it.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75320" y="4425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A5B0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13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act. Accountability stays human.</a:t>
            </a:r>
            <a:endParaRPr lang="en-US" sz="2600" dirty="0"/>
          </a:p>
        </p:txBody>
      </p:sp>
      <p:sp>
        <p:nvSpPr>
          <p:cNvPr id="29" name="Shape 26"/>
          <p:cNvSpPr/>
          <p:nvPr/>
        </p:nvSpPr>
        <p:spPr>
          <a:xfrm>
            <a:off x="0" y="5532120"/>
            <a:ext cx="12191695" cy="1325880"/>
          </a:xfrm>
          <a:prstGeom prst="rect">
            <a:avLst/>
          </a:prstGeom>
          <a:solidFill>
            <a:srgbClr val="16283A"/>
          </a:solidFill>
          <a:ln w="12700">
            <a:solidFill>
              <a:srgbClr val="16283A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852160"/>
            <a:ext cx="658368" cy="65836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371600" y="59161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 Saad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1371600" y="6217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Software Engineering Manager · ITWorx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5394960" y="57607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E39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STARTER REPO  ·  SLIDES + HOOKS + TESTS</a:t>
            </a:r>
            <a:endParaRPr lang="en-US" sz="10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github.com/hanygheit/ai-agent-on-call</a:t>
            </a:r>
            <a:endParaRPr lang="en-US" sz="10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E7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fork it, run it on Monday →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10469880" y="5623560"/>
            <a:ext cx="1143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566928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Before You Put an AI Agent on Call — DevOpsDays Cairo 2026</dc:title>
  <dc:subject>PptxGenJS Presentation</dc:subject>
  <dc:creator>Hany Saad</dc:creator>
  <cp:lastModifiedBy>Hany Saad</cp:lastModifiedBy>
  <cp:revision>1</cp:revision>
  <dcterms:created xsi:type="dcterms:W3CDTF">2026-09-23T22:44:33Z</dcterms:created>
  <dcterms:modified xsi:type="dcterms:W3CDTF">2026-09-23T22:44:33Z</dcterms:modified>
</cp:coreProperties>
</file>